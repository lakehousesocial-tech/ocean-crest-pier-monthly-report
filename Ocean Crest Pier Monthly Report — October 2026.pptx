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Period</c:v>
                </c:pt>
              </c:strCache>
            </c:strRef>
          </c:tx>
          <c:spPr>
            <a:ln w="25400">
              <a:solidFill>
                <a:srgbClr val="2D55C9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Day 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Day 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Day 15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Day 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Day 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Day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217</c:v>
                </c:pt>
                <c:pt idx="1">
                  <c:v>0</c:v>
                </c:pt>
                <c:pt idx="2">
                  <c:v>0</c:v>
                </c:pt>
                <c:pt idx="3">
                  <c:v>2506</c:v>
                </c:pt>
                <c:pt idx="4">
                  <c:v>0</c:v>
                </c:pt>
                <c:pt idx="5">
                  <c:v>0</c:v>
                </c:pt>
                <c:pt idx="6">
                  <c:v>164</c:v>
                </c:pt>
                <c:pt idx="7">
                  <c:v>0</c:v>
                </c:pt>
                <c:pt idx="8">
                  <c:v>156</c:v>
                </c:pt>
                <c:pt idx="9">
                  <c:v>184</c:v>
                </c:pt>
                <c:pt idx="10">
                  <c:v>222</c:v>
                </c:pt>
                <c:pt idx="11">
                  <c:v>0</c:v>
                </c:pt>
                <c:pt idx="12">
                  <c:v>987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377</c:v>
                </c:pt>
                <c:pt idx="17">
                  <c:v>86</c:v>
                </c:pt>
                <c:pt idx="18">
                  <c:v>522</c:v>
                </c:pt>
                <c:pt idx="19">
                  <c:v>911</c:v>
                </c:pt>
                <c:pt idx="20">
                  <c:v>52</c:v>
                </c:pt>
                <c:pt idx="21">
                  <c:v>62</c:v>
                </c:pt>
                <c:pt idx="22">
                  <c:v>55</c:v>
                </c:pt>
                <c:pt idx="23">
                  <c:v>72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Period</c:v>
                </c:pt>
              </c:strCache>
            </c:strRef>
          </c:tx>
          <c:spPr>
            <a:ln w="25400">
              <a:solidFill>
                <a:srgbClr val="7A7889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Day 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Day 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Day 15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Day 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Day 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Day 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442</c:v>
                </c:pt>
                <c:pt idx="2">
                  <c:v>65</c:v>
                </c:pt>
                <c:pt idx="3">
                  <c:v>1207</c:v>
                </c:pt>
                <c:pt idx="4">
                  <c:v>0</c:v>
                </c:pt>
                <c:pt idx="5">
                  <c:v>0</c:v>
                </c:pt>
                <c:pt idx="6">
                  <c:v>363</c:v>
                </c:pt>
                <c:pt idx="7">
                  <c:v>0</c:v>
                </c:pt>
                <c:pt idx="8">
                  <c:v>763</c:v>
                </c:pt>
                <c:pt idx="9">
                  <c:v>0</c:v>
                </c:pt>
                <c:pt idx="10">
                  <c:v>0</c:v>
                </c:pt>
                <c:pt idx="11">
                  <c:v>207</c:v>
                </c:pt>
                <c:pt idx="12">
                  <c:v>0</c:v>
                </c:pt>
                <c:pt idx="13">
                  <c:v>98</c:v>
                </c:pt>
                <c:pt idx="14">
                  <c:v>0</c:v>
                </c:pt>
                <c:pt idx="15">
                  <c:v>2087</c:v>
                </c:pt>
                <c:pt idx="16">
                  <c:v>0</c:v>
                </c:pt>
                <c:pt idx="17">
                  <c:v>617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93</c:v>
                </c:pt>
                <c:pt idx="22">
                  <c:v>63</c:v>
                </c:pt>
                <c:pt idx="23">
                  <c:v>268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260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3C8"/>
            </a:solidFill>
          </a:ln>
        </c:spPr>
        <c:txPr>
          <a:bodyPr/>
          <a:lstStyle/>
          <a:p>
            <a:pPr>
              <a:defRPr sz="900">
                <a:solidFill>
                  <a:srgbClr val="3A3845"/>
                </a:solidFill>
                <a:latin typeface="Jos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8D3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3A3845"/>
                </a:solidFill>
                <a:latin typeface="Jost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3A3845"/>
              </a:solidFill>
              <a:latin typeface="Jos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Period</c:v>
                </c:pt>
              </c:strCache>
            </c:strRef>
          </c:tx>
          <c:spPr>
            <a:ln w="25400">
              <a:solidFill>
                <a:srgbClr val="2D55C9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Day 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Day 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Day 15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Day 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Day 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Day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24451</c:v>
                </c:pt>
                <c:pt idx="4">
                  <c:v>0</c:v>
                </c:pt>
                <c:pt idx="5">
                  <c:v>2429</c:v>
                </c:pt>
                <c:pt idx="6">
                  <c:v>0</c:v>
                </c:pt>
                <c:pt idx="7">
                  <c:v>0</c:v>
                </c:pt>
                <c:pt idx="8">
                  <c:v>19908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13927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1667</c:v>
                </c:pt>
                <c:pt idx="17">
                  <c:v>0</c:v>
                </c:pt>
                <c:pt idx="18">
                  <c:v>14621</c:v>
                </c:pt>
                <c:pt idx="19">
                  <c:v>5610</c:v>
                </c:pt>
                <c:pt idx="20">
                  <c:v>0</c:v>
                </c:pt>
                <c:pt idx="21">
                  <c:v>0</c:v>
                </c:pt>
                <c:pt idx="22">
                  <c:v>3216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Period</c:v>
                </c:pt>
              </c:strCache>
            </c:strRef>
          </c:tx>
          <c:spPr>
            <a:ln w="25400">
              <a:solidFill>
                <a:srgbClr val="7A7889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Day 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Day 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Day 15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Day 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Day 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Day 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2481</c:v>
                </c:pt>
                <c:pt idx="1">
                  <c:v>2078</c:v>
                </c:pt>
                <c:pt idx="2">
                  <c:v>0</c:v>
                </c:pt>
                <c:pt idx="3">
                  <c:v>10380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9293</c:v>
                </c:pt>
                <c:pt idx="9">
                  <c:v>0</c:v>
                </c:pt>
                <c:pt idx="10">
                  <c:v>0</c:v>
                </c:pt>
                <c:pt idx="11">
                  <c:v>1728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8456</c:v>
                </c:pt>
                <c:pt idx="23">
                  <c:v>5707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4078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3C8"/>
            </a:solidFill>
          </a:ln>
        </c:spPr>
        <c:txPr>
          <a:bodyPr/>
          <a:lstStyle/>
          <a:p>
            <a:pPr>
              <a:defRPr sz="900">
                <a:solidFill>
                  <a:srgbClr val="3A3845"/>
                </a:solidFill>
                <a:latin typeface="Jos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8D3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3A3845"/>
                </a:solidFill>
                <a:latin typeface="Jost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3A3845"/>
              </a:solidFill>
              <a:latin typeface="Jos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Period</c:v>
                </c:pt>
              </c:strCache>
            </c:strRef>
          </c:tx>
          <c:spPr>
            <a:ln w="25400">
              <a:solidFill>
                <a:srgbClr val="2D55C9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Day 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Day 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Day 15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Day 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Day 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Day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2398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465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1130</c:v>
                </c:pt>
                <c:pt idx="19">
                  <c:v>1433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Period</c:v>
                </c:pt>
              </c:strCache>
            </c:strRef>
          </c:tx>
          <c:spPr>
            <a:ln w="25400">
              <a:solidFill>
                <a:srgbClr val="7A7889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Day 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Day 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Day 15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Day 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Day 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Day 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594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5050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593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613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3C8"/>
            </a:solidFill>
          </a:ln>
        </c:spPr>
        <c:txPr>
          <a:bodyPr/>
          <a:lstStyle/>
          <a:p>
            <a:pPr>
              <a:defRPr sz="900">
                <a:solidFill>
                  <a:srgbClr val="3A3845"/>
                </a:solidFill>
                <a:latin typeface="Jos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8D3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3A3845"/>
                </a:solidFill>
                <a:latin typeface="Jost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3A3845"/>
              </a:solidFill>
              <a:latin typeface="Jos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1463040"/>
            <a:ext cx="69860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A3A8F"/>
                </a:solidFill>
                <a:latin typeface="Cormorant Garamond"/>
              </a:rPr>
              <a:t>Monthly Marketing Report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200400"/>
            <a:ext cx="1828800" cy="0"/>
          </a:xfrm>
          <a:prstGeom prst="line">
            <a:avLst/>
          </a:prstGeom>
          <a:ln w="9525">
            <a:solidFill>
              <a:srgbClr val="C8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465576" y="1207008"/>
            <a:ext cx="22128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A3845"/>
                </a:solidFill>
                <a:latin typeface="Jost"/>
              </a:rPr>
              <a:t>Ocean Crest Pier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0208" y="32918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8A84B"/>
                </a:solidFill>
                <a:latin typeface="Jost"/>
              </a:rPr>
              <a:t>October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" y="3922776"/>
            <a:ext cx="22128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A3845"/>
                </a:solidFill>
                <a:latin typeface="Jost"/>
              </a:rPr>
              <a:t>Content Link: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34840"/>
            <a:ext cx="5184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E0E12"/>
                </a:solidFill>
                <a:latin typeface="Jost"/>
              </a:rPr>
              <a:t>[Add content link]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Instagram Insights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12064" y="1133856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Views</a:t>
            </a:r>
          </a:p>
          <a:p>
            <a:pPr algn="ctr"/>
            <a:r>
              <a:rPr sz="2200" b="1">
                <a:solidFill>
                  <a:srgbClr val="C8A84B"/>
                </a:solidFill>
                <a:latin typeface="Jost"/>
              </a:rPr>
              <a:t>6.6K</a:t>
            </a:r>
          </a:p>
          <a:p>
            <a:pPr algn="ctr"/>
            <a:r>
              <a:rPr sz="900" b="1">
                <a:solidFill>
                  <a:srgbClr val="2D55C9"/>
                </a:solidFill>
                <a:latin typeface="Jost"/>
              </a:rPr>
              <a:t>↑ +0.6%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9168" y="1133856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Reach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4.8K</a:t>
            </a:r>
          </a:p>
          <a:p>
            <a:pPr algn="ctr"/>
            <a:r>
              <a:rPr sz="900" b="1">
                <a:solidFill>
                  <a:srgbClr val="2D55C9"/>
                </a:solidFill>
                <a:latin typeface="Jost"/>
              </a:rPr>
              <a:t>↑ +18.4%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6272" y="1133856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Weighted Eng. Rate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4.08%</a:t>
            </a:r>
          </a:p>
          <a:p>
            <a:pPr algn="ctr"/>
            <a:r>
              <a:rPr sz="900" b="1">
                <a:solidFill>
                  <a:srgbClr val="7A7889"/>
                </a:solidFill>
                <a:latin typeface="Jost"/>
              </a:rPr>
              <a:t>↓ -41.2%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" y="1801368"/>
          <a:ext cx="811987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  <a:gridCol w="2633472"/>
              </a:tblGrid>
              <a:tr h="1645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Metric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Current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Prior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Change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Posts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24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17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+41.2%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Views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6.6K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6.5K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+0.6%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Reach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4.8K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4.0K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+18.4%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Reactions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170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223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-23.8%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Comments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-54.5%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Shares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-46.4%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Saves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-100.0%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Weighted Eng. Rate (reach)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4.08%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6.93%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-41.2%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3310128"/>
            <a:ext cx="8119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A7889"/>
                </a:solidFill>
                <a:latin typeface="Jost"/>
              </a:rPr>
              <a:t>Reactions, Comments, Shares, Saves, Engagement Rate softened despite posting volume increasing (24 vs. 17 posts).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3520440"/>
            <a:ext cx="8119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3845"/>
                </a:solidFill>
                <a:latin typeface="Jost"/>
              </a:rPr>
              <a:t>Daily Views — Current vs. Prior Period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12064" y="3739896"/>
          <a:ext cx="8119872" cy="11521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Instagram — Top Posts This Period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E0E12"/>
                </a:solidFill>
                <a:latin typeface="Jost"/>
              </a:rPr>
              <a:t>“You never know what’s on the other end of th…” drove </a:t>
            </a:r>
            <a:r>
              <a:rPr sz="1400" b="1">
                <a:solidFill>
                  <a:srgbClr val="C8A84B"/>
                </a:solidFill>
                <a:latin typeface="Jost"/>
              </a:rPr>
              <a:t>38%</a:t>
            </a:r>
            <a:r>
              <a:rPr sz="1400" b="0">
                <a:solidFill>
                  <a:srgbClr val="0E0E12"/>
                </a:solidFill>
                <a:latin typeface="Jost"/>
              </a:rPr>
              <a:t> of this period's total views.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709928"/>
          <a:ext cx="81198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7992"/>
                <a:gridCol w="640080"/>
                <a:gridCol w="685800"/>
                <a:gridCol w="777240"/>
                <a:gridCol w="777240"/>
                <a:gridCol w="731520"/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Post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Date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Views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Reactions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Comments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Shares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You never know what’s on the other end of the line. 🎣 This one started like any other bite on the pier. Then the line got heavy, the fight got real, and a crowd started to gather.…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05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2.5K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Tag the person you’d watch this one with 🌅 #OakIslandNC #OceanCrestPier #NCcoast #BrunswickCounty #SunsetLovers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14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987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@side_piece_band is back at the Seahorse Friday! Come jam with us! #OakIslandNC #OceanCrestPier #NCcoast #BrunswickCounty #LiveMusic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21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806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14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Miss Nancy's hobby isn’t what you’d guess #OakIsland #OakIslandNC #OceanCrestPier #PierLife #NorthCarolinaCoast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20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522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Come join us for Halloween at OCP on Saturday, October 31, 6–9 PM, a movie character themed costume party! 🎬👻 Dress as your favorite character from the big screen and compete for…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18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285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Facebook Insights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12064" y="1133856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Impressions</a:t>
            </a:r>
          </a:p>
          <a:p>
            <a:pPr algn="ctr"/>
            <a:r>
              <a:rPr sz="2200" b="1">
                <a:solidFill>
                  <a:srgbClr val="C8A84B"/>
                </a:solidFill>
                <a:latin typeface="Jost"/>
              </a:rPr>
              <a:t>85.8K</a:t>
            </a:r>
          </a:p>
          <a:p>
            <a:pPr algn="ctr"/>
            <a:r>
              <a:rPr sz="900" b="1">
                <a:solidFill>
                  <a:srgbClr val="2D55C9"/>
                </a:solidFill>
                <a:latin typeface="Jost"/>
              </a:rPr>
              <a:t>↑ +94.2%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9168" y="1133856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Weighted Eng. Rate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1.04%</a:t>
            </a:r>
          </a:p>
          <a:p>
            <a:pPr algn="ctr"/>
            <a:r>
              <a:rPr sz="900" b="1">
                <a:solidFill>
                  <a:srgbClr val="7A7889"/>
                </a:solidFill>
                <a:latin typeface="Jost"/>
              </a:rPr>
              <a:t>↓ -19.1%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6272" y="1133856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Current Followers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18.4K</a:t>
            </a:r>
          </a:p>
          <a:p>
            <a:pPr algn="ctr"/>
            <a:r>
              <a:rPr sz="900" b="1">
                <a:solidFill>
                  <a:srgbClr val="2D55C9"/>
                </a:solidFill>
                <a:latin typeface="Jost"/>
              </a:rPr>
              <a:t>↑ +0.6%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" y="1801368"/>
          <a:ext cx="8119872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  <a:gridCol w="2633472"/>
              </a:tblGrid>
              <a:tr h="1645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Metric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Current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Prior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Change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Posts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26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+18.2%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Impressions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85.8K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44.2K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+94.2%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Reactions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809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514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+57.4%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Comments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+77.8%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Shares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+28.0%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Clicks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2.0K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1.9K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+1.6%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Weighted Eng. Rate (impressions)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1.04%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1.28%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-19.1%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3145536"/>
            <a:ext cx="8119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A7889"/>
                </a:solidFill>
                <a:latin typeface="Jost"/>
              </a:rPr>
              <a:t>Engagement Rate softened despite posting volume increasing (26 vs. 22 posts).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3355848"/>
            <a:ext cx="8119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3845"/>
                </a:solidFill>
                <a:latin typeface="Jost"/>
              </a:rPr>
              <a:t>Daily Impressions — Current vs. Prior Period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12064" y="3575304"/>
          <a:ext cx="8119872" cy="13167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Facebook — Top Posts This Period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E0E12"/>
                </a:solidFill>
                <a:latin typeface="Jost"/>
              </a:rPr>
              <a:t>“Not every bite is what you expect. 👀 This an…” drove </a:t>
            </a:r>
            <a:r>
              <a:rPr sz="1400" b="1">
                <a:solidFill>
                  <a:srgbClr val="C8A84B"/>
                </a:solidFill>
                <a:latin typeface="Jost"/>
              </a:rPr>
              <a:t>24%</a:t>
            </a:r>
            <a:r>
              <a:rPr sz="1400" b="0">
                <a:solidFill>
                  <a:srgbClr val="0E0E12"/>
                </a:solidFill>
                <a:latin typeface="Jost"/>
              </a:rPr>
              <a:t> of this period's total impressions.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709928"/>
          <a:ext cx="81198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7992"/>
                <a:gridCol w="640080"/>
                <a:gridCol w="685800"/>
                <a:gridCol w="777240"/>
                <a:gridCol w="777240"/>
                <a:gridCol w="731520"/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Post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Date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Impressions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Reactions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Comments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Shares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Not every bite is what you expect. 👀 This angler hooked a stingray off the pier and we got to watch the whole thing, from the fight to the net coming up over the side. Big respect…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05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20.4K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96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Ava caught a 39” red drum the other night! Congrats on your catch!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10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19.9K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326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Some folks come to Ocean Crest Pier for the fishing. Some come for the sunset. And a whole lot of them come to say hi to Miss Nancy. 💙 We caught up with her on the deck and asked…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20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14.6K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86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Tag the person you'd watch this one with 🌅 #OakIslandNC #OceanCrestPier #NCcoast #BrunswickCounty #SunsetLovers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14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13.9K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132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@side_piece_band is back at the Seahorse Friday! Come jam with us! #OakIslandNC #OceanCrestPier #NCcoast #BrunswickCounty #LiveMusic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21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5.6K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TikTok Insights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12064" y="1133856"/>
            <a:ext cx="196138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Views</a:t>
            </a:r>
          </a:p>
          <a:p>
            <a:pPr algn="ctr"/>
            <a:r>
              <a:rPr sz="2200" b="1">
                <a:solidFill>
                  <a:srgbClr val="C8A84B"/>
                </a:solidFill>
                <a:latin typeface="Jost"/>
              </a:rPr>
              <a:t>5.4K</a:t>
            </a:r>
          </a:p>
          <a:p>
            <a:pPr algn="ctr"/>
            <a:r>
              <a:rPr sz="900" b="1">
                <a:solidFill>
                  <a:srgbClr val="7A7889"/>
                </a:solidFill>
                <a:latin typeface="Jost"/>
              </a:rPr>
              <a:t>↓ -20.8%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4892" y="1133856"/>
            <a:ext cx="196138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Reach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4.7K</a:t>
            </a:r>
          </a:p>
          <a:p>
            <a:pPr algn="ctr"/>
            <a:r>
              <a:rPr sz="900" b="1">
                <a:solidFill>
                  <a:srgbClr val="7A7889"/>
                </a:solidFill>
                <a:latin typeface="Jost"/>
              </a:rPr>
              <a:t>↓ -15.4%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133856"/>
            <a:ext cx="196138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Weighted Eng. Rate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4.92%</a:t>
            </a:r>
          </a:p>
          <a:p>
            <a:pPr algn="ctr"/>
            <a:r>
              <a:rPr sz="900" b="1">
                <a:solidFill>
                  <a:srgbClr val="7A7889"/>
                </a:solidFill>
                <a:latin typeface="Jost"/>
              </a:rPr>
              <a:t>↓ -25.0%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0548" y="1133856"/>
            <a:ext cx="196138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00">
                <a:solidFill>
                  <a:srgbClr val="3A3845"/>
                </a:solidFill>
                <a:latin typeface="Jost"/>
              </a:rPr>
              <a:t>Current Followers</a:t>
            </a:r>
          </a:p>
          <a:p>
            <a:pPr algn="ctr"/>
            <a:r>
              <a:rPr sz="2200" b="1">
                <a:solidFill>
                  <a:srgbClr val="1A3A8F"/>
                </a:solidFill>
                <a:latin typeface="Jost"/>
              </a:rPr>
              <a:t>[Count]</a:t>
            </a:r>
          </a:p>
          <a:p>
            <a:pPr algn="ctr"/>
            <a:r>
              <a:rPr sz="900" b="1">
                <a:solidFill>
                  <a:srgbClr val="3A3845"/>
                </a:solidFill>
                <a:latin typeface="Jost"/>
              </a:rPr>
              <a:t>Manual entry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12064" y="1801368"/>
          <a:ext cx="8119872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  <a:gridCol w="2633472"/>
              </a:tblGrid>
              <a:tr h="1645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Metric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Current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Prior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Change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Posts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55C9"/>
                          </a:solidFill>
                          <a:latin typeface="Jost"/>
                        </a:defRPr>
                      </a:pPr>
                      <a:r>
                        <a:t>↑ +0.0%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Views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5.4K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6.8K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-20.8%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Reach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4.7K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5.5K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-15.4%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Reactions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197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326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-39.6%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Comments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12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-20.0%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Shares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-4.3%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Weighted Eng. Rate (reach)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4.92%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6.57%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7A7889"/>
                          </a:solidFill>
                          <a:latin typeface="Jost"/>
                        </a:defRPr>
                      </a:pPr>
                      <a:r>
                        <a:t>↓ -25.0%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064" y="3145536"/>
            <a:ext cx="8119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A7889"/>
                </a:solidFill>
                <a:latin typeface="Jost"/>
              </a:rPr>
              <a:t>Views, Reach, Reactions, Comments, Shares, Engagement Rate declined versus the prior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355848"/>
            <a:ext cx="81198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3845"/>
                </a:solidFill>
                <a:latin typeface="Jost"/>
              </a:rPr>
              <a:t>Daily Views — Current vs. Prior Period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2064" y="3575304"/>
          <a:ext cx="8119872" cy="13167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TikTok — Top Posts This Period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E0E12"/>
                </a:solidFill>
                <a:latin typeface="Jost"/>
              </a:rPr>
              <a:t>“POV: you're expecting a fish and the ocean s…” drove </a:t>
            </a:r>
            <a:r>
              <a:rPr sz="1400" b="1">
                <a:solidFill>
                  <a:srgbClr val="C8A84B"/>
                </a:solidFill>
                <a:latin typeface="Jost"/>
              </a:rPr>
              <a:t>44%</a:t>
            </a:r>
            <a:r>
              <a:rPr sz="1400" b="0">
                <a:solidFill>
                  <a:srgbClr val="0E0E12"/>
                </a:solidFill>
                <a:latin typeface="Jost"/>
              </a:rPr>
              <a:t> of this period's total views.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709928"/>
          <a:ext cx="81198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7992"/>
                <a:gridCol w="640080"/>
                <a:gridCol w="685800"/>
                <a:gridCol w="777240"/>
                <a:gridCol w="777240"/>
                <a:gridCol w="731520"/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Post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Date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Views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Reactions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Comments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Jost"/>
                        </a:defRPr>
                      </a:pPr>
                      <a:r>
                        <a:t>Shares</a:t>
                      </a:r>
                    </a:p>
                  </a:txBody>
                  <a:tcPr marT="25400" marB="25400">
                    <a:solidFill>
                      <a:srgbClr val="1A3A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POV: you're expecting a fish and the ocean sends up a stingray 😳 Netted, admired, and released right back in. #OakIslandNC #PierFishing #Stingray #CatchAndRelease #FishingTok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05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2.4K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77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Side Piece is back at the Seahorse Friday! Come jam with us! #OakIslandNC #OceanCrestPier #NCcoast #BrunswickCounty #LiveMusic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21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1.4K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Miss Nancy's hobby isn’t what you’d guess #OakIsland #OakIslandNC #OceanCrestPier #PierLife #NorthCarolinaCoast #SmallTownLocals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20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1.1K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61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10</a:t>
                      </a:r>
                    </a:p>
                  </a:txBody>
                  <a:tcPr marT="25400" marB="25400">
                    <a:solidFill>
                      <a:srgbClr val="F7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Got absolutely cooked at Skip-Bo by two of our guests 😅 Game night on the pier, yes or no? #SkipBo #GameNight #OakIslandNC #SeahorseBar #BeachBar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Oct 12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465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10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0E12"/>
                          </a:solidFill>
                          <a:latin typeface="Jost"/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Miscellaneous Marketing Items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Marketing WINS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[Add item]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Last Month - Goals for September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Restore Instagram posting cadence — down 37% this period (17 vs. 27 posts). Aim for 27+ posts next period.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Restore TikTok posting cadence — down 33% this period (4 vs. 6 posts). Aim for 6+ posts next period.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Restore Facebook posting cadence — down 31% this period (22 vs. 32 posts). Aim for 32+ posts next period.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Close the engagement gap on Facebook — trailing Instagram by 5.7 points (1.28% vs. 6.93%). Borrow whatever content approach is working on Instagram.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76672" y="25877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3A3845"/>
                </a:solidFill>
                <a:latin typeface="Jost"/>
              </a:rPr>
              <a:t>What else? Goals for Month?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530352"/>
            <a:ext cx="8119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8F"/>
                </a:solidFill>
                <a:latin typeface="Cormorant Garamond"/>
              </a:rPr>
              <a:t>Next Month - Goals for November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2064" y="1060704"/>
            <a:ext cx="81198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2064" y="1133856"/>
            <a:ext cx="81198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Improve Instagram engagement quality — rate fell from 6.93% to 4.08% this period.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Diversify TikTok content — one post drove 44% of this period's total; publish more posts capable of carrying reach on their own rather than relying on a single standout.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Improve Facebook engagement quality — rate fell from 1.28% to 1.04% this period.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0E0E12"/>
                </a:solidFill>
                <a:latin typeface="Jost"/>
              </a:rPr>
              <a:t>Close the engagement gap on Facebook — trailing TikTok by 3.9 points (1.04% vs. 4.92%). Borrow whatever content approach is working on TikTok.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76672" y="25877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3A3845"/>
                </a:solidFill>
                <a:latin typeface="Jost"/>
              </a:rPr>
              <a:t>What else? Goals for Month?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
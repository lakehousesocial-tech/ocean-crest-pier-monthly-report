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428</c:v>
                </c:pt>
                <c:pt idx="2">
                  <c:v>65</c:v>
                </c:pt>
                <c:pt idx="3">
                  <c:v>1201</c:v>
                </c:pt>
                <c:pt idx="4">
                  <c:v>0</c:v>
                </c:pt>
                <c:pt idx="5">
                  <c:v>0</c:v>
                </c:pt>
                <c:pt idx="6">
                  <c:v>360</c:v>
                </c:pt>
                <c:pt idx="7">
                  <c:v>0</c:v>
                </c:pt>
                <c:pt idx="8">
                  <c:v>760</c:v>
                </c:pt>
                <c:pt idx="9">
                  <c:v>0</c:v>
                </c:pt>
                <c:pt idx="10">
                  <c:v>0</c:v>
                </c:pt>
                <c:pt idx="11">
                  <c:v>202</c:v>
                </c:pt>
                <c:pt idx="12">
                  <c:v>0</c:v>
                </c:pt>
                <c:pt idx="13">
                  <c:v>98</c:v>
                </c:pt>
                <c:pt idx="14">
                  <c:v>0</c:v>
                </c:pt>
                <c:pt idx="15">
                  <c:v>2053</c:v>
                </c:pt>
                <c:pt idx="16">
                  <c:v>0</c:v>
                </c:pt>
                <c:pt idx="17">
                  <c:v>588</c:v>
                </c:pt>
                <c:pt idx="18">
                  <c:v>0</c:v>
                </c:pt>
                <c:pt idx="19">
                  <c:v>0</c:v>
                </c:pt>
                <c:pt idx="20">
                  <c:v>0</c:v>
                </c:pt>
                <c:pt idx="21">
                  <c:v>93</c:v>
                </c:pt>
                <c:pt idx="22">
                  <c:v>63</c:v>
                </c:pt>
                <c:pt idx="23">
                  <c:v>240</c:v>
                </c:pt>
                <c:pt idx="24">
                  <c:v>0</c:v>
                </c:pt>
                <c:pt idx="25">
                  <c:v>0</c:v>
                </c:pt>
                <c:pt idx="26">
                  <c:v>0</c:v>
                </c:pt>
                <c:pt idx="27">
                  <c:v>0</c:v>
                </c:pt>
                <c:pt idx="28">
                  <c:v>0</c:v>
                </c:pt>
                <c:pt idx="29">
                  <c:v>6</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740</c:v>
                </c:pt>
                <c:pt idx="1">
                  <c:v>0</c:v>
                </c:pt>
                <c:pt idx="2">
                  <c:v>745</c:v>
                </c:pt>
                <c:pt idx="3">
                  <c:v>1637</c:v>
                </c:pt>
                <c:pt idx="4">
                  <c:v>840</c:v>
                </c:pt>
                <c:pt idx="5">
                  <c:v>438</c:v>
                </c:pt>
                <c:pt idx="6">
                  <c:v>281</c:v>
                </c:pt>
                <c:pt idx="7">
                  <c:v>0</c:v>
                </c:pt>
                <c:pt idx="8">
                  <c:v>0</c:v>
                </c:pt>
                <c:pt idx="9">
                  <c:v>449</c:v>
                </c:pt>
                <c:pt idx="10">
                  <c:v>308</c:v>
                </c:pt>
                <c:pt idx="11">
                  <c:v>227</c:v>
                </c:pt>
                <c:pt idx="12">
                  <c:v>0</c:v>
                </c:pt>
                <c:pt idx="13">
                  <c:v>657</c:v>
                </c:pt>
                <c:pt idx="14">
                  <c:v>0</c:v>
                </c:pt>
                <c:pt idx="15">
                  <c:v>0</c:v>
                </c:pt>
                <c:pt idx="16">
                  <c:v>504</c:v>
                </c:pt>
                <c:pt idx="17">
                  <c:v>178</c:v>
                </c:pt>
                <c:pt idx="18">
                  <c:v>378</c:v>
                </c:pt>
                <c:pt idx="19">
                  <c:v>56</c:v>
                </c:pt>
                <c:pt idx="20">
                  <c:v>202</c:v>
                </c:pt>
                <c:pt idx="21">
                  <c:v>583</c:v>
                </c:pt>
                <c:pt idx="22">
                  <c:v>193</c:v>
                </c:pt>
                <c:pt idx="23">
                  <c:v>347</c:v>
                </c:pt>
                <c:pt idx="24">
                  <c:v>307</c:v>
                </c:pt>
                <c:pt idx="25">
                  <c:v>422</c:v>
                </c:pt>
                <c:pt idx="26">
                  <c:v>720</c:v>
                </c:pt>
                <c:pt idx="27">
                  <c:v>550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2481</c:v>
                </c:pt>
                <c:pt idx="1">
                  <c:v>2078</c:v>
                </c:pt>
                <c:pt idx="2">
                  <c:v>0</c:v>
                </c:pt>
                <c:pt idx="3">
                  <c:v>32241</c:v>
                </c:pt>
                <c:pt idx="4">
                  <c:v>0</c:v>
                </c:pt>
                <c:pt idx="5">
                  <c:v>0</c:v>
                </c:pt>
                <c:pt idx="6">
                  <c:v>0</c:v>
                </c:pt>
                <c:pt idx="7">
                  <c:v>0</c:v>
                </c:pt>
                <c:pt idx="8">
                  <c:v>9293</c:v>
                </c:pt>
                <c:pt idx="9">
                  <c:v>0</c:v>
                </c:pt>
                <c:pt idx="10">
                  <c:v>0</c:v>
                </c:pt>
                <c:pt idx="11">
                  <c:v>1728</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9047</c:v>
                </c:pt>
                <c:pt idx="4">
                  <c:v>0</c:v>
                </c:pt>
                <c:pt idx="5">
                  <c:v>0</c:v>
                </c:pt>
                <c:pt idx="6">
                  <c:v>2470</c:v>
                </c:pt>
                <c:pt idx="7">
                  <c:v>0</c:v>
                </c:pt>
                <c:pt idx="8">
                  <c:v>0</c:v>
                </c:pt>
                <c:pt idx="9">
                  <c:v>0</c:v>
                </c:pt>
                <c:pt idx="10">
                  <c:v>0</c:v>
                </c:pt>
                <c:pt idx="11">
                  <c:v>0</c:v>
                </c:pt>
                <c:pt idx="12">
                  <c:v>0</c:v>
                </c:pt>
                <c:pt idx="13">
                  <c:v>1936</c:v>
                </c:pt>
                <c:pt idx="14">
                  <c:v>0</c:v>
                </c:pt>
                <c:pt idx="15">
                  <c:v>0</c:v>
                </c:pt>
                <c:pt idx="16">
                  <c:v>0</c:v>
                </c:pt>
                <c:pt idx="17">
                  <c:v>4181</c:v>
                </c:pt>
                <c:pt idx="18">
                  <c:v>0</c:v>
                </c:pt>
                <c:pt idx="19">
                  <c:v>0</c:v>
                </c:pt>
                <c:pt idx="20">
                  <c:v>0</c:v>
                </c:pt>
                <c:pt idx="21">
                  <c:v>15368</c:v>
                </c:pt>
                <c:pt idx="22">
                  <c:v>0</c:v>
                </c:pt>
                <c:pt idx="23">
                  <c:v>2622</c:v>
                </c:pt>
                <c:pt idx="24">
                  <c:v>0</c:v>
                </c:pt>
                <c:pt idx="25">
                  <c:v>7649</c:v>
                </c:pt>
                <c:pt idx="26">
                  <c:v>6344</c:v>
                </c:pt>
                <c:pt idx="27">
                  <c:v>3438</c:v>
                </c:pt>
                <c:pt idx="28">
                  <c:v>4136</c:v>
                </c:pt>
                <c:pt idx="29">
                  <c:v>2992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544</c:v>
                </c:pt>
                <c:pt idx="2">
                  <c:v>0</c:v>
                </c:pt>
                <c:pt idx="3">
                  <c:v>0</c:v>
                </c:pt>
                <c:pt idx="4">
                  <c:v>0</c:v>
                </c:pt>
                <c:pt idx="5">
                  <c:v>0</c:v>
                </c:pt>
                <c:pt idx="6">
                  <c:v>0</c:v>
                </c:pt>
                <c:pt idx="7">
                  <c:v>0</c:v>
                </c:pt>
                <c:pt idx="8">
                  <c:v>0</c:v>
                </c:pt>
                <c:pt idx="9">
                  <c:v>0</c:v>
                </c:pt>
                <c:pt idx="10">
                  <c:v>0</c:v>
                </c:pt>
                <c:pt idx="11">
                  <c:v>0</c:v>
                </c:pt>
                <c:pt idx="12">
                  <c:v>0</c:v>
                </c:pt>
                <c:pt idx="13">
                  <c:v>0</c:v>
                </c:pt>
                <c:pt idx="14">
                  <c:v>0</c:v>
                </c:pt>
                <c:pt idx="15">
                  <c:v>3913</c:v>
                </c:pt>
                <c:pt idx="16">
                  <c:v>0</c:v>
                </c:pt>
                <c:pt idx="17">
                  <c:v>0</c:v>
                </c:pt>
                <c:pt idx="18">
                  <c:v>0</c:v>
                </c:pt>
                <c:pt idx="19">
                  <c:v>0</c:v>
                </c:pt>
                <c:pt idx="20">
                  <c:v>0</c:v>
                </c:pt>
                <c:pt idx="21">
                  <c:v>0</c:v>
                </c:pt>
                <c:pt idx="22">
                  <c:v>491</c:v>
                </c:pt>
                <c:pt idx="23">
                  <c:v>0</c:v>
                </c:pt>
                <c:pt idx="24">
                  <c:v>0</c:v>
                </c:pt>
                <c:pt idx="25">
                  <c:v>0</c:v>
                </c:pt>
                <c:pt idx="26">
                  <c:v>0</c:v>
                </c:pt>
                <c:pt idx="27">
                  <c:v>0</c:v>
                </c:pt>
                <c:pt idx="28">
                  <c:v>0</c:v>
                </c:pt>
                <c:pt idx="29">
                  <c:v>298</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352</c:v>
                </c:pt>
                <c:pt idx="14">
                  <c:v>0</c:v>
                </c:pt>
                <c:pt idx="15">
                  <c:v>0</c:v>
                </c:pt>
                <c:pt idx="16">
                  <c:v>0</c:v>
                </c:pt>
                <c:pt idx="17">
                  <c:v>604</c:v>
                </c:pt>
                <c:pt idx="18">
                  <c:v>0</c:v>
                </c:pt>
                <c:pt idx="19">
                  <c:v>335</c:v>
                </c:pt>
                <c:pt idx="20">
                  <c:v>0</c:v>
                </c:pt>
                <c:pt idx="21">
                  <c:v>742</c:v>
                </c:pt>
                <c:pt idx="22">
                  <c:v>0</c:v>
                </c:pt>
                <c:pt idx="23">
                  <c:v>698</c:v>
                </c:pt>
                <c:pt idx="24">
                  <c:v>0</c:v>
                </c:pt>
                <c:pt idx="25">
                  <c:v>825</c:v>
                </c:pt>
                <c:pt idx="26">
                  <c:v>0</c:v>
                </c:pt>
                <c:pt idx="27">
                  <c:v>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1078992" y="1463040"/>
            <a:ext cx="6986016" cy="1691640"/>
          </a:xfrm>
          <a:prstGeom prst="rect">
            <a:avLst/>
          </a:prstGeom>
          <a:noFill/>
        </p:spPr>
        <p:txBody>
          <a:bodyPr wrap="square">
            <a:spAutoFit/>
          </a:bodyPr>
          <a:lstStyle/>
          <a:p>
            <a:pPr algn="ctr"/>
            <a:r>
              <a:rPr sz="4800" b="1">
                <a:solidFill>
                  <a:srgbClr val="1A3A8F"/>
                </a:solidFill>
                <a:latin typeface="Cormorant Garamond"/>
              </a:rPr>
              <a:t>Monthly Marketing Report</a:t>
            </a:r>
          </a:p>
        </p:txBody>
      </p:sp>
      <p:cxnSp>
        <p:nvCxnSpPr>
          <p:cNvPr id="3" name="Connector 2"/>
          <p:cNvCxnSpPr/>
          <p:nvPr/>
        </p:nvCxnSpPr>
        <p:spPr>
          <a:xfrm>
            <a:off x="3657600" y="3200400"/>
            <a:ext cx="1828800" cy="0"/>
          </a:xfrm>
          <a:prstGeom prst="line">
            <a:avLst/>
          </a:prstGeom>
          <a:ln w="9525">
            <a:solidFill>
              <a:srgbClr val="C8A8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465576" y="1207008"/>
            <a:ext cx="2212848" cy="438912"/>
          </a:xfrm>
          <a:prstGeom prst="rect">
            <a:avLst/>
          </a:prstGeom>
          <a:noFill/>
        </p:spPr>
        <p:txBody>
          <a:bodyPr wrap="none">
            <a:spAutoFit/>
          </a:bodyPr>
          <a:lstStyle/>
          <a:p>
            <a:pPr algn="ctr"/>
            <a:r>
              <a:rPr sz="1300">
                <a:solidFill>
                  <a:srgbClr val="3A3845"/>
                </a:solidFill>
                <a:latin typeface="Jost"/>
              </a:rPr>
              <a:t>Ocean Crest Pier</a:t>
            </a:r>
          </a:p>
        </p:txBody>
      </p:sp>
      <p:sp>
        <p:nvSpPr>
          <p:cNvPr id="5" name="TextBox 4"/>
          <p:cNvSpPr txBox="1"/>
          <p:nvPr/>
        </p:nvSpPr>
        <p:spPr>
          <a:xfrm>
            <a:off x="3950208" y="3291840"/>
            <a:ext cx="1234440" cy="457200"/>
          </a:xfrm>
          <a:prstGeom prst="rect">
            <a:avLst/>
          </a:prstGeom>
          <a:noFill/>
        </p:spPr>
        <p:txBody>
          <a:bodyPr wrap="none">
            <a:spAutoFit/>
          </a:bodyPr>
          <a:lstStyle/>
          <a:p>
            <a:pPr algn="ctr"/>
            <a:r>
              <a:rPr sz="1800" b="1">
                <a:solidFill>
                  <a:srgbClr val="C8A84B"/>
                </a:solidFill>
                <a:latin typeface="Jost"/>
              </a:rPr>
              <a:t>September</a:t>
            </a:r>
          </a:p>
        </p:txBody>
      </p:sp>
      <p:sp>
        <p:nvSpPr>
          <p:cNvPr id="6" name="TextBox 5"/>
          <p:cNvSpPr txBox="1"/>
          <p:nvPr/>
        </p:nvSpPr>
        <p:spPr>
          <a:xfrm>
            <a:off x="246888" y="3922776"/>
            <a:ext cx="2212848" cy="438912"/>
          </a:xfrm>
          <a:prstGeom prst="rect">
            <a:avLst/>
          </a:prstGeom>
          <a:noFill/>
        </p:spPr>
        <p:txBody>
          <a:bodyPr wrap="none">
            <a:spAutoFit/>
          </a:bodyPr>
          <a:lstStyle/>
          <a:p>
            <a:pPr algn="ctr"/>
            <a:r>
              <a:rPr sz="1300" b="1">
                <a:solidFill>
                  <a:srgbClr val="3A3845"/>
                </a:solidFill>
                <a:latin typeface="Jost"/>
              </a:rPr>
              <a:t>Content Link:</a:t>
            </a:r>
          </a:p>
        </p:txBody>
      </p:sp>
      <p:sp>
        <p:nvSpPr>
          <p:cNvPr id="7" name="TextBox 6"/>
          <p:cNvSpPr txBox="1"/>
          <p:nvPr/>
        </p:nvSpPr>
        <p:spPr>
          <a:xfrm>
            <a:off x="1143000" y="4434840"/>
            <a:ext cx="5184648" cy="365760"/>
          </a:xfrm>
          <a:prstGeom prst="rect">
            <a:avLst/>
          </a:prstGeom>
          <a:noFill/>
        </p:spPr>
        <p:txBody>
          <a:bodyPr wrap="none">
            <a:spAutoFit/>
          </a:bodyPr>
          <a:lstStyle/>
          <a:p>
            <a:pPr algn="l"/>
            <a:r>
              <a:rPr sz="1200">
                <a:solidFill>
                  <a:srgbClr val="0E0E12"/>
                </a:solidFill>
                <a:latin typeface="Jost"/>
              </a:rPr>
              <a:t>[Add content link]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Instagram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Views</a:t>
            </a:r>
          </a:p>
          <a:p>
            <a:pPr algn="ctr"/>
            <a:r>
              <a:rPr sz="2200" b="1">
                <a:solidFill>
                  <a:srgbClr val="C8A84B"/>
                </a:solidFill>
                <a:latin typeface="Jost"/>
              </a:rPr>
              <a:t>6.2K</a:t>
            </a:r>
          </a:p>
          <a:p>
            <a:pPr algn="ctr"/>
            <a:r>
              <a:rPr sz="900" b="1">
                <a:solidFill>
                  <a:srgbClr val="7A7889"/>
                </a:solidFill>
                <a:latin typeface="Jost"/>
              </a:rPr>
              <a:t>↓ -42.8%</a:t>
            </a:r>
          </a:p>
        </p:txBody>
      </p:sp>
      <p:sp>
        <p:nvSpPr>
          <p:cNvPr id="5" name="Rounded Rectangle 4"/>
          <p:cNvSpPr/>
          <p:nvPr/>
        </p:nvSpPr>
        <p:spPr>
          <a:xfrm>
            <a:off x="3249168"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Reach</a:t>
            </a:r>
          </a:p>
          <a:p>
            <a:pPr algn="ctr"/>
            <a:r>
              <a:rPr sz="2200" b="1">
                <a:solidFill>
                  <a:srgbClr val="1A3A8F"/>
                </a:solidFill>
                <a:latin typeface="Jost"/>
              </a:rPr>
              <a:t>3.8K</a:t>
            </a:r>
          </a:p>
          <a:p>
            <a:pPr algn="ctr"/>
            <a:r>
              <a:rPr sz="900" b="1">
                <a:solidFill>
                  <a:srgbClr val="7A7889"/>
                </a:solidFill>
                <a:latin typeface="Jost"/>
              </a:rPr>
              <a:t>↓ -47.6%</a:t>
            </a:r>
          </a:p>
        </p:txBody>
      </p:sp>
      <p:sp>
        <p:nvSpPr>
          <p:cNvPr id="6" name="Rounded Rectangle 5"/>
          <p:cNvSpPr/>
          <p:nvPr/>
        </p:nvSpPr>
        <p:spPr>
          <a:xfrm>
            <a:off x="5986272"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6.85%</a:t>
            </a:r>
          </a:p>
          <a:p>
            <a:pPr algn="ctr"/>
            <a:r>
              <a:rPr sz="900" b="1">
                <a:solidFill>
                  <a:srgbClr val="2D55C9"/>
                </a:solidFill>
                <a:latin typeface="Jost"/>
              </a:rPr>
              <a:t>↑ +49.0%</a:t>
            </a:r>
          </a:p>
        </p:txBody>
      </p:sp>
      <p:graphicFrame>
        <p:nvGraphicFramePr>
          <p:cNvPr id="7" name="Table 6"/>
          <p:cNvGraphicFramePr>
            <a:graphicFrameLocks noGrp="1"/>
          </p:cNvGraphicFramePr>
          <p:nvPr/>
        </p:nvGraphicFramePr>
        <p:xfrm>
          <a:off x="512064" y="1801368"/>
          <a:ext cx="8119872" cy="1481328"/>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17</a:t>
                      </a:r>
                    </a:p>
                  </a:txBody>
                  <a:tcPr marT="25400" marB="25400">
                    <a:solidFill>
                      <a:srgbClr val="F7F5F0"/>
                    </a:solidFill>
                  </a:tcPr>
                </a:tc>
                <a:tc>
                  <a:txBody>
                    <a:bodyPr/>
                    <a:lstStyle/>
                    <a:p>
                      <a:pPr>
                        <a:defRPr sz="800">
                          <a:solidFill>
                            <a:srgbClr val="0E0E12"/>
                          </a:solidFill>
                          <a:latin typeface="Jost"/>
                        </a:defRPr>
                      </a:pPr>
                      <a:r>
                        <a:t>47</a:t>
                      </a:r>
                    </a:p>
                  </a:txBody>
                  <a:tcPr marT="25400" marB="25400">
                    <a:solidFill>
                      <a:srgbClr val="F7F5F0"/>
                    </a:solidFill>
                  </a:tcPr>
                </a:tc>
                <a:tc>
                  <a:txBody>
                    <a:bodyPr/>
                    <a:lstStyle/>
                    <a:p>
                      <a:pPr>
                        <a:defRPr sz="800">
                          <a:solidFill>
                            <a:srgbClr val="7A7889"/>
                          </a:solidFill>
                          <a:latin typeface="Jost"/>
                        </a:defRPr>
                      </a:pPr>
                      <a:r>
                        <a:t>↓ -63.8%</a:t>
                      </a:r>
                    </a:p>
                  </a:txBody>
                  <a:tcPr marT="25400" marB="25400">
                    <a:solidFill>
                      <a:srgbClr val="F7F5F0"/>
                    </a:solidFill>
                  </a:tcPr>
                </a:tc>
              </a:tr>
              <a:tr h="164592">
                <a:tc>
                  <a:txBody>
                    <a:bodyPr/>
                    <a:lstStyle/>
                    <a:p>
                      <a:pPr>
                        <a:defRPr sz="800">
                          <a:solidFill>
                            <a:srgbClr val="0E0E12"/>
                          </a:solidFill>
                          <a:latin typeface="Jost"/>
                        </a:defRPr>
                      </a:pPr>
                      <a:r>
                        <a:t>Views</a:t>
                      </a:r>
                    </a:p>
                  </a:txBody>
                  <a:tcPr marT="25400" marB="25400">
                    <a:solidFill>
                      <a:srgbClr val="FFFFFF"/>
                    </a:solidFill>
                  </a:tcPr>
                </a:tc>
                <a:tc>
                  <a:txBody>
                    <a:bodyPr/>
                    <a:lstStyle/>
                    <a:p>
                      <a:pPr>
                        <a:defRPr sz="800">
                          <a:solidFill>
                            <a:srgbClr val="0E0E12"/>
                          </a:solidFill>
                          <a:latin typeface="Jost"/>
                        </a:defRPr>
                      </a:pPr>
                      <a:r>
                        <a:t>6.2K</a:t>
                      </a:r>
                    </a:p>
                  </a:txBody>
                  <a:tcPr marT="25400" marB="25400">
                    <a:solidFill>
                      <a:srgbClr val="FFFFFF"/>
                    </a:solidFill>
                  </a:tcPr>
                </a:tc>
                <a:tc>
                  <a:txBody>
                    <a:bodyPr/>
                    <a:lstStyle/>
                    <a:p>
                      <a:pPr>
                        <a:defRPr sz="800">
                          <a:solidFill>
                            <a:srgbClr val="0E0E12"/>
                          </a:solidFill>
                          <a:latin typeface="Jost"/>
                        </a:defRPr>
                      </a:pPr>
                      <a:r>
                        <a:t>10.8K</a:t>
                      </a:r>
                    </a:p>
                  </a:txBody>
                  <a:tcPr marT="25400" marB="25400">
                    <a:solidFill>
                      <a:srgbClr val="FFFFFF"/>
                    </a:solidFill>
                  </a:tcPr>
                </a:tc>
                <a:tc>
                  <a:txBody>
                    <a:bodyPr/>
                    <a:lstStyle/>
                    <a:p>
                      <a:pPr>
                        <a:defRPr sz="800">
                          <a:solidFill>
                            <a:srgbClr val="7A7889"/>
                          </a:solidFill>
                          <a:latin typeface="Jost"/>
                        </a:defRPr>
                      </a:pPr>
                      <a:r>
                        <a:t>↓ -42.8%</a:t>
                      </a:r>
                    </a:p>
                  </a:txBody>
                  <a:tcPr marT="25400" marB="25400">
                    <a:solidFill>
                      <a:srgbClr val="FFFFFF"/>
                    </a:solidFill>
                  </a:tcPr>
                </a:tc>
              </a:tr>
              <a:tr h="164592">
                <a:tc>
                  <a:txBody>
                    <a:bodyPr/>
                    <a:lstStyle/>
                    <a:p>
                      <a:pPr>
                        <a:defRPr sz="800">
                          <a:solidFill>
                            <a:srgbClr val="0E0E12"/>
                          </a:solidFill>
                          <a:latin typeface="Jost"/>
                        </a:defRPr>
                      </a:pPr>
                      <a:r>
                        <a:t>Reach</a:t>
                      </a:r>
                    </a:p>
                  </a:txBody>
                  <a:tcPr marT="25400" marB="25400">
                    <a:solidFill>
                      <a:srgbClr val="F7F5F0"/>
                    </a:solidFill>
                  </a:tcPr>
                </a:tc>
                <a:tc>
                  <a:txBody>
                    <a:bodyPr/>
                    <a:lstStyle/>
                    <a:p>
                      <a:pPr>
                        <a:defRPr sz="800">
                          <a:solidFill>
                            <a:srgbClr val="0E0E12"/>
                          </a:solidFill>
                          <a:latin typeface="Jost"/>
                        </a:defRPr>
                      </a:pPr>
                      <a:r>
                        <a:t>3.8K</a:t>
                      </a:r>
                    </a:p>
                  </a:txBody>
                  <a:tcPr marT="25400" marB="25400">
                    <a:solidFill>
                      <a:srgbClr val="F7F5F0"/>
                    </a:solidFill>
                  </a:tcPr>
                </a:tc>
                <a:tc>
                  <a:txBody>
                    <a:bodyPr/>
                    <a:lstStyle/>
                    <a:p>
                      <a:pPr>
                        <a:defRPr sz="800">
                          <a:solidFill>
                            <a:srgbClr val="0E0E12"/>
                          </a:solidFill>
                          <a:latin typeface="Jost"/>
                        </a:defRPr>
                      </a:pPr>
                      <a:r>
                        <a:t>7.2K</a:t>
                      </a:r>
                    </a:p>
                  </a:txBody>
                  <a:tcPr marT="25400" marB="25400">
                    <a:solidFill>
                      <a:srgbClr val="F7F5F0"/>
                    </a:solidFill>
                  </a:tcPr>
                </a:tc>
                <a:tc>
                  <a:txBody>
                    <a:bodyPr/>
                    <a:lstStyle/>
                    <a:p>
                      <a:pPr>
                        <a:defRPr sz="800">
                          <a:solidFill>
                            <a:srgbClr val="7A7889"/>
                          </a:solidFill>
                          <a:latin typeface="Jost"/>
                        </a:defRPr>
                      </a:pPr>
                      <a:r>
                        <a:t>↓ -47.6%</a:t>
                      </a:r>
                    </a:p>
                  </a:txBody>
                  <a:tcPr marT="25400" marB="25400">
                    <a:solidFill>
                      <a:srgbClr val="F7F5F0"/>
                    </a:solidFill>
                  </a:tcPr>
                </a:tc>
              </a:tr>
              <a:tr h="164592">
                <a:tc>
                  <a:txBody>
                    <a:bodyPr/>
                    <a:lstStyle/>
                    <a:p>
                      <a:pPr>
                        <a:defRPr sz="800">
                          <a:solidFill>
                            <a:srgbClr val="0E0E12"/>
                          </a:solidFill>
                          <a:latin typeface="Jost"/>
                        </a:defRPr>
                      </a:pPr>
                      <a:r>
                        <a:t>Reactions</a:t>
                      </a:r>
                    </a:p>
                  </a:txBody>
                  <a:tcPr marT="25400" marB="25400">
                    <a:solidFill>
                      <a:srgbClr val="FFFFFF"/>
                    </a:solidFill>
                  </a:tcPr>
                </a:tc>
                <a:tc>
                  <a:txBody>
                    <a:bodyPr/>
                    <a:lstStyle/>
                    <a:p>
                      <a:pPr>
                        <a:defRPr sz="800">
                          <a:solidFill>
                            <a:srgbClr val="0E0E12"/>
                          </a:solidFill>
                          <a:latin typeface="Jost"/>
                        </a:defRPr>
                      </a:pPr>
                      <a:r>
                        <a:t>203</a:t>
                      </a:r>
                    </a:p>
                  </a:txBody>
                  <a:tcPr marT="25400" marB="25400">
                    <a:solidFill>
                      <a:srgbClr val="FFFFFF"/>
                    </a:solidFill>
                  </a:tcPr>
                </a:tc>
                <a:tc>
                  <a:txBody>
                    <a:bodyPr/>
                    <a:lstStyle/>
                    <a:p>
                      <a:pPr>
                        <a:defRPr sz="800">
                          <a:solidFill>
                            <a:srgbClr val="0E0E12"/>
                          </a:solidFill>
                          <a:latin typeface="Jost"/>
                        </a:defRPr>
                      </a:pPr>
                      <a:r>
                        <a:t>273</a:t>
                      </a:r>
                    </a:p>
                  </a:txBody>
                  <a:tcPr marT="25400" marB="25400">
                    <a:solidFill>
                      <a:srgbClr val="FFFFFF"/>
                    </a:solidFill>
                  </a:tcPr>
                </a:tc>
                <a:tc>
                  <a:txBody>
                    <a:bodyPr/>
                    <a:lstStyle/>
                    <a:p>
                      <a:pPr>
                        <a:defRPr sz="800">
                          <a:solidFill>
                            <a:srgbClr val="7A7889"/>
                          </a:solidFill>
                          <a:latin typeface="Jost"/>
                        </a:defRPr>
                      </a:pPr>
                      <a:r>
                        <a:t>↓ -25.6%</a:t>
                      </a:r>
                    </a:p>
                  </a:txBody>
                  <a:tcPr marT="25400" marB="25400">
                    <a:solidFill>
                      <a:srgbClr val="FFFFFF"/>
                    </a:solidFill>
                  </a:tcPr>
                </a:tc>
              </a:tr>
              <a:tr h="164592">
                <a:tc>
                  <a:txBody>
                    <a:bodyPr/>
                    <a:lstStyle/>
                    <a:p>
                      <a:pPr>
                        <a:defRPr sz="800">
                          <a:solidFill>
                            <a:srgbClr val="0E0E12"/>
                          </a:solidFill>
                          <a:latin typeface="Jost"/>
                        </a:defRPr>
                      </a:pPr>
                      <a:r>
                        <a:t>Comments</a:t>
                      </a:r>
                    </a:p>
                  </a:txBody>
                  <a:tcPr marT="25400" marB="25400">
                    <a:solidFill>
                      <a:srgbClr val="F7F5F0"/>
                    </a:solidFill>
                  </a:tcPr>
                </a:tc>
                <a:tc>
                  <a:txBody>
                    <a:bodyPr/>
                    <a:lstStyle/>
                    <a:p>
                      <a:pPr>
                        <a:defRPr sz="800">
                          <a:solidFill>
                            <a:srgbClr val="0E0E12"/>
                          </a:solidFill>
                          <a:latin typeface="Jost"/>
                        </a:defRPr>
                      </a:pPr>
                      <a:r>
                        <a:t>21</a:t>
                      </a:r>
                    </a:p>
                  </a:txBody>
                  <a:tcPr marT="25400" marB="25400">
                    <a:solidFill>
                      <a:srgbClr val="F7F5F0"/>
                    </a:solidFill>
                  </a:tcPr>
                </a:tc>
                <a:tc>
                  <a:txBody>
                    <a:bodyPr/>
                    <a:lstStyle/>
                    <a:p>
                      <a:pPr>
                        <a:defRPr sz="800">
                          <a:solidFill>
                            <a:srgbClr val="0E0E12"/>
                          </a:solidFill>
                          <a:latin typeface="Jost"/>
                        </a:defRPr>
                      </a:pPr>
                      <a:r>
                        <a:t>29</a:t>
                      </a:r>
                    </a:p>
                  </a:txBody>
                  <a:tcPr marT="25400" marB="25400">
                    <a:solidFill>
                      <a:srgbClr val="F7F5F0"/>
                    </a:solidFill>
                  </a:tcPr>
                </a:tc>
                <a:tc>
                  <a:txBody>
                    <a:bodyPr/>
                    <a:lstStyle/>
                    <a:p>
                      <a:pPr>
                        <a:defRPr sz="800">
                          <a:solidFill>
                            <a:srgbClr val="7A7889"/>
                          </a:solidFill>
                          <a:latin typeface="Jost"/>
                        </a:defRPr>
                      </a:pPr>
                      <a:r>
                        <a:t>↓ -27.6%</a:t>
                      </a:r>
                    </a:p>
                  </a:txBody>
                  <a:tcPr marT="25400" marB="25400">
                    <a:solidFill>
                      <a:srgbClr val="F7F5F0"/>
                    </a:solidFill>
                  </a:tcPr>
                </a:tc>
              </a:tr>
              <a:tr h="164592">
                <a:tc>
                  <a:txBody>
                    <a:bodyPr/>
                    <a:lstStyle/>
                    <a:p>
                      <a:pPr>
                        <a:defRPr sz="800">
                          <a:solidFill>
                            <a:srgbClr val="0E0E12"/>
                          </a:solidFill>
                          <a:latin typeface="Jost"/>
                        </a:defRPr>
                      </a:pPr>
                      <a:r>
                        <a:t>Shares</a:t>
                      </a:r>
                    </a:p>
                  </a:txBody>
                  <a:tcPr marT="25400" marB="25400">
                    <a:solidFill>
                      <a:srgbClr val="FFFFFF"/>
                    </a:solidFill>
                  </a:tcPr>
                </a:tc>
                <a:tc>
                  <a:txBody>
                    <a:bodyPr/>
                    <a:lstStyle/>
                    <a:p>
                      <a:pPr>
                        <a:defRPr sz="800">
                          <a:solidFill>
                            <a:srgbClr val="0E0E12"/>
                          </a:solidFill>
                          <a:latin typeface="Jost"/>
                        </a:defRPr>
                      </a:pPr>
                      <a:r>
                        <a:t>28</a:t>
                      </a:r>
                    </a:p>
                  </a:txBody>
                  <a:tcPr marT="25400" marB="25400">
                    <a:solidFill>
                      <a:srgbClr val="FFFFFF"/>
                    </a:solidFill>
                  </a:tcPr>
                </a:tc>
                <a:tc>
                  <a:txBody>
                    <a:bodyPr/>
                    <a:lstStyle/>
                    <a:p>
                      <a:pPr>
                        <a:defRPr sz="800">
                          <a:solidFill>
                            <a:srgbClr val="0E0E12"/>
                          </a:solidFill>
                          <a:latin typeface="Jost"/>
                        </a:defRPr>
                      </a:pPr>
                      <a:r>
                        <a:t>29</a:t>
                      </a:r>
                    </a:p>
                  </a:txBody>
                  <a:tcPr marT="25400" marB="25400">
                    <a:solidFill>
                      <a:srgbClr val="FFFFFF"/>
                    </a:solidFill>
                  </a:tcPr>
                </a:tc>
                <a:tc>
                  <a:txBody>
                    <a:bodyPr/>
                    <a:lstStyle/>
                    <a:p>
                      <a:pPr>
                        <a:defRPr sz="800">
                          <a:solidFill>
                            <a:srgbClr val="7A7889"/>
                          </a:solidFill>
                          <a:latin typeface="Jost"/>
                        </a:defRPr>
                      </a:pPr>
                      <a:r>
                        <a:t>↓ -3.4%</a:t>
                      </a:r>
                    </a:p>
                  </a:txBody>
                  <a:tcPr marT="25400" marB="25400">
                    <a:solidFill>
                      <a:srgbClr val="FFFFFF"/>
                    </a:solidFill>
                  </a:tcPr>
                </a:tc>
              </a:tr>
              <a:tr h="164592">
                <a:tc>
                  <a:txBody>
                    <a:bodyPr/>
                    <a:lstStyle/>
                    <a:p>
                      <a:pPr>
                        <a:defRPr sz="800">
                          <a:solidFill>
                            <a:srgbClr val="0E0E12"/>
                          </a:solidFill>
                          <a:latin typeface="Jost"/>
                        </a:defRPr>
                      </a:pPr>
                      <a:r>
                        <a:t>Saves</a:t>
                      </a:r>
                    </a:p>
                  </a:txBody>
                  <a:tcPr marT="25400" marB="25400">
                    <a:solidFill>
                      <a:srgbClr val="F7F5F0"/>
                    </a:solidFill>
                  </a:tcPr>
                </a:tc>
                <a:tc>
                  <a:txBody>
                    <a:bodyPr/>
                    <a:lstStyle/>
                    <a:p>
                      <a:pPr>
                        <a:defRPr sz="800">
                          <a:solidFill>
                            <a:srgbClr val="0E0E12"/>
                          </a:solidFill>
                          <a:latin typeface="Jost"/>
                        </a:defRPr>
                      </a:pPr>
                      <a:r>
                        <a:t>7</a:t>
                      </a:r>
                    </a:p>
                  </a:txBody>
                  <a:tcPr marT="25400" marB="25400">
                    <a:solidFill>
                      <a:srgbClr val="F7F5F0"/>
                    </a:solidFill>
                  </a:tcPr>
                </a:tc>
                <a:tc>
                  <a:txBody>
                    <a:bodyPr/>
                    <a:lstStyle/>
                    <a:p>
                      <a:pPr>
                        <a:defRPr sz="800">
                          <a:solidFill>
                            <a:srgbClr val="0E0E12"/>
                          </a:solidFill>
                          <a:latin typeface="Jost"/>
                        </a:defRPr>
                      </a:pPr>
                      <a:r>
                        <a:t>1</a:t>
                      </a:r>
                    </a:p>
                  </a:txBody>
                  <a:tcPr marT="25400" marB="25400">
                    <a:solidFill>
                      <a:srgbClr val="F7F5F0"/>
                    </a:solidFill>
                  </a:tcPr>
                </a:tc>
                <a:tc>
                  <a:txBody>
                    <a:bodyPr/>
                    <a:lstStyle/>
                    <a:p>
                      <a:pPr>
                        <a:defRPr sz="800">
                          <a:solidFill>
                            <a:srgbClr val="2D55C9"/>
                          </a:solidFill>
                          <a:latin typeface="Jost"/>
                        </a:defRPr>
                      </a:pPr>
                      <a:r>
                        <a:t>↑ new activity (low base: 1→7)</a:t>
                      </a:r>
                    </a:p>
                  </a:txBody>
                  <a:tcPr marT="25400" marB="25400">
                    <a:solidFill>
                      <a:srgbClr val="F7F5F0"/>
                    </a:solidFill>
                  </a:tcPr>
                </a:tc>
              </a:tr>
              <a:tr h="164592">
                <a:tc>
                  <a:txBody>
                    <a:bodyPr/>
                    <a:lstStyle/>
                    <a:p>
                      <a:pPr>
                        <a:defRPr sz="800">
                          <a:solidFill>
                            <a:srgbClr val="0E0E12"/>
                          </a:solidFill>
                          <a:latin typeface="Jost"/>
                        </a:defRPr>
                      </a:pPr>
                      <a:r>
                        <a:t>Weighted Eng. Rate (reach)</a:t>
                      </a:r>
                    </a:p>
                  </a:txBody>
                  <a:tcPr marT="25400" marB="25400">
                    <a:solidFill>
                      <a:srgbClr val="FFFFFF"/>
                    </a:solidFill>
                  </a:tcPr>
                </a:tc>
                <a:tc>
                  <a:txBody>
                    <a:bodyPr/>
                    <a:lstStyle/>
                    <a:p>
                      <a:pPr>
                        <a:defRPr sz="800">
                          <a:solidFill>
                            <a:srgbClr val="0E0E12"/>
                          </a:solidFill>
                          <a:latin typeface="Jost"/>
                        </a:defRPr>
                      </a:pPr>
                      <a:r>
                        <a:t>6.85%</a:t>
                      </a:r>
                    </a:p>
                  </a:txBody>
                  <a:tcPr marT="25400" marB="25400">
                    <a:solidFill>
                      <a:srgbClr val="FFFFFF"/>
                    </a:solidFill>
                  </a:tcPr>
                </a:tc>
                <a:tc>
                  <a:txBody>
                    <a:bodyPr/>
                    <a:lstStyle/>
                    <a:p>
                      <a:pPr>
                        <a:defRPr sz="800">
                          <a:solidFill>
                            <a:srgbClr val="0E0E12"/>
                          </a:solidFill>
                          <a:latin typeface="Jost"/>
                        </a:defRPr>
                      </a:pPr>
                      <a:r>
                        <a:t>4.60%</a:t>
                      </a:r>
                    </a:p>
                  </a:txBody>
                  <a:tcPr marT="25400" marB="25400">
                    <a:solidFill>
                      <a:srgbClr val="FFFFFF"/>
                    </a:solidFill>
                  </a:tcPr>
                </a:tc>
                <a:tc>
                  <a:txBody>
                    <a:bodyPr/>
                    <a:lstStyle/>
                    <a:p>
                      <a:pPr>
                        <a:defRPr sz="800">
                          <a:solidFill>
                            <a:srgbClr val="2D55C9"/>
                          </a:solidFill>
                          <a:latin typeface="Jost"/>
                        </a:defRPr>
                      </a:pPr>
                      <a:r>
                        <a:t>↑ +49.0%</a:t>
                      </a:r>
                    </a:p>
                  </a:txBody>
                  <a:tcPr marT="25400" marB="25400">
                    <a:solidFill>
                      <a:srgbClr val="FFFFFF"/>
                    </a:solidFill>
                  </a:tcPr>
                </a:tc>
              </a:tr>
            </a:tbl>
          </a:graphicData>
        </a:graphic>
      </p:graphicFrame>
      <p:sp>
        <p:nvSpPr>
          <p:cNvPr id="8" name="TextBox 7"/>
          <p:cNvSpPr txBox="1"/>
          <p:nvPr/>
        </p:nvSpPr>
        <p:spPr>
          <a:xfrm>
            <a:off x="512064" y="3310128"/>
            <a:ext cx="8119872" cy="182880"/>
          </a:xfrm>
          <a:prstGeom prst="rect">
            <a:avLst/>
          </a:prstGeom>
          <a:noFill/>
        </p:spPr>
        <p:txBody>
          <a:bodyPr wrap="square">
            <a:spAutoFit/>
          </a:bodyPr>
          <a:lstStyle/>
          <a:p>
            <a:r>
              <a:rPr sz="1000" i="1">
                <a:solidFill>
                  <a:srgbClr val="7A7889"/>
                </a:solidFill>
                <a:latin typeface="Jost"/>
              </a:rPr>
              <a:t>Most metrics are down this period alongside a 64% drop in posting frequency (17 vs. 47 posts).</a:t>
            </a:r>
          </a:p>
        </p:txBody>
      </p:sp>
      <p:sp>
        <p:nvSpPr>
          <p:cNvPr id="9" name="TextBox 8"/>
          <p:cNvSpPr txBox="1"/>
          <p:nvPr/>
        </p:nvSpPr>
        <p:spPr>
          <a:xfrm>
            <a:off x="512064" y="3520440"/>
            <a:ext cx="8119872" cy="219456"/>
          </a:xfrm>
          <a:prstGeom prst="rect">
            <a:avLst/>
          </a:prstGeom>
          <a:noFill/>
        </p:spPr>
        <p:txBody>
          <a:bodyPr wrap="none">
            <a:spAutoFit/>
          </a:bodyPr>
          <a:lstStyle/>
          <a:p>
            <a:r>
              <a:rPr sz="1200" b="1">
                <a:solidFill>
                  <a:srgbClr val="3A3845"/>
                </a:solidFill>
                <a:latin typeface="Jost"/>
              </a:rPr>
              <a:t>Daily Views — Current vs. Prior Period</a:t>
            </a:r>
          </a:p>
        </p:txBody>
      </p:sp>
      <p:graphicFrame>
        <p:nvGraphicFramePr>
          <p:cNvPr id="10" name="Chart 9"/>
          <p:cNvGraphicFramePr>
            <a:graphicFrameLocks noGrp="1"/>
          </p:cNvGraphicFramePr>
          <p:nvPr/>
        </p:nvGraphicFramePr>
        <p:xfrm>
          <a:off x="512064" y="3739896"/>
          <a:ext cx="8119872" cy="1152144"/>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Instagram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“You found it. Oceanfront pier, cold drinks,…” drove </a:t>
            </a:r>
            <a:r>
              <a:rPr sz="1400" b="1">
                <a:solidFill>
                  <a:srgbClr val="C8A84B"/>
                </a:solidFill>
                <a:latin typeface="Jost"/>
              </a:rPr>
              <a:t>30%</a:t>
            </a:r>
            <a:r>
              <a:rPr sz="1400" b="0">
                <a:solidFill>
                  <a:srgbClr val="0E0E12"/>
                </a:solidFill>
                <a:latin typeface="Jost"/>
              </a:rPr>
              <a:t> of this period's total views.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Views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You found it. Oceanfront pier, cold drinks, and live music starting soon at the Seahorse Bar. Come on in and pull up a seat! #OakIslandNC #BrunswickCounty #SouthportNC #NCBrunswic…</a:t>
                      </a:r>
                    </a:p>
                  </a:txBody>
                  <a:tcPr marT="25400" marB="25400">
                    <a:solidFill>
                      <a:srgbClr val="F7F5F0"/>
                    </a:solidFill>
                  </a:tcPr>
                </a:tc>
                <a:tc>
                  <a:txBody>
                    <a:bodyPr/>
                    <a:lstStyle/>
                    <a:p>
                      <a:pPr>
                        <a:defRPr sz="900">
                          <a:solidFill>
                            <a:srgbClr val="0E0E12"/>
                          </a:solidFill>
                          <a:latin typeface="Jost"/>
                        </a:defRPr>
                      </a:pPr>
                      <a:r>
                        <a:t>Sep 16</a:t>
                      </a:r>
                    </a:p>
                  </a:txBody>
                  <a:tcPr marT="25400" marB="25400">
                    <a:solidFill>
                      <a:srgbClr val="F7F5F0"/>
                    </a:solidFill>
                  </a:tcPr>
                </a:tc>
                <a:tc>
                  <a:txBody>
                    <a:bodyPr/>
                    <a:lstStyle/>
                    <a:p>
                      <a:pPr>
                        <a:defRPr sz="900">
                          <a:solidFill>
                            <a:srgbClr val="0E0E12"/>
                          </a:solidFill>
                          <a:latin typeface="Jost"/>
                        </a:defRPr>
                      </a:pPr>
                      <a:r>
                        <a:t>1.9K</a:t>
                      </a:r>
                    </a:p>
                  </a:txBody>
                  <a:tcPr marT="25400" marB="25400">
                    <a:solidFill>
                      <a:srgbClr val="F7F5F0"/>
                    </a:solidFill>
                  </a:tcPr>
                </a:tc>
                <a:tc>
                  <a:txBody>
                    <a:bodyPr/>
                    <a:lstStyle/>
                    <a:p>
                      <a:pPr>
                        <a:defRPr sz="900">
                          <a:solidFill>
                            <a:srgbClr val="0E0E12"/>
                          </a:solidFill>
                          <a:latin typeface="Jost"/>
                        </a:defRPr>
                      </a:pPr>
                      <a:r>
                        <a:t>68</a:t>
                      </a:r>
                    </a:p>
                  </a:txBody>
                  <a:tcPr marT="25400" marB="25400">
                    <a:solidFill>
                      <a:srgbClr val="F7F5F0"/>
                    </a:solidFill>
                  </a:tcPr>
                </a:tc>
                <a:tc>
                  <a:txBody>
                    <a:bodyPr/>
                    <a:lstStyle/>
                    <a:p>
                      <a:pPr>
                        <a:defRPr sz="900">
                          <a:solidFill>
                            <a:srgbClr val="0E0E12"/>
                          </a:solidFill>
                          <a:latin typeface="Jost"/>
                        </a:defRPr>
                      </a:pPr>
                      <a:r>
                        <a:t>4</a:t>
                      </a:r>
                    </a:p>
                  </a:txBody>
                  <a:tcPr marT="25400" marB="25400">
                    <a:solidFill>
                      <a:srgbClr val="F7F5F0"/>
                    </a:solidFill>
                  </a:tcPr>
                </a:tc>
                <a:tc>
                  <a:txBody>
                    <a:bodyPr/>
                    <a:lstStyle/>
                    <a:p>
                      <a:pPr>
                        <a:defRPr sz="900">
                          <a:solidFill>
                            <a:srgbClr val="0E0E12"/>
                          </a:solidFill>
                          <a:latin typeface="Jost"/>
                        </a:defRPr>
                      </a:pPr>
                      <a:r>
                        <a:t>18</a:t>
                      </a:r>
                    </a:p>
                  </a:txBody>
                  <a:tcPr marT="25400" marB="25400">
                    <a:solidFill>
                      <a:srgbClr val="F7F5F0"/>
                    </a:solidFill>
                  </a:tcPr>
                </a:tc>
              </a:tr>
              <a:tr h="502920">
                <a:tc>
                  <a:txBody>
                    <a:bodyPr/>
                    <a:lstStyle/>
                    <a:p>
                      <a:pPr>
                        <a:defRPr sz="900">
                          <a:solidFill>
                            <a:srgbClr val="0E0E12"/>
                          </a:solidFill>
                          <a:latin typeface="Jost"/>
                        </a:defRPr>
                      </a:pPr>
                      <a:r>
                        <a:t>Summer on the pier, gone as fast as it came. As we head into Labor Day Weekend, we’re so thankful for everyone who made memories with us this season, from sunrise casts and full d…</a:t>
                      </a:r>
                    </a:p>
                  </a:txBody>
                  <a:tcPr marT="25400" marB="25400">
                    <a:solidFill>
                      <a:srgbClr val="FFFFFF"/>
                    </a:solidFill>
                  </a:tcPr>
                </a:tc>
                <a:tc>
                  <a:txBody>
                    <a:bodyPr/>
                    <a:lstStyle/>
                    <a:p>
                      <a:pPr>
                        <a:defRPr sz="900">
                          <a:solidFill>
                            <a:srgbClr val="0E0E12"/>
                          </a:solidFill>
                          <a:latin typeface="Jost"/>
                        </a:defRPr>
                      </a:pPr>
                      <a:r>
                        <a:t>Sep 04</a:t>
                      </a:r>
                    </a:p>
                  </a:txBody>
                  <a:tcPr marT="25400" marB="25400">
                    <a:solidFill>
                      <a:srgbClr val="FFFFFF"/>
                    </a:solidFill>
                  </a:tcPr>
                </a:tc>
                <a:tc>
                  <a:txBody>
                    <a:bodyPr/>
                    <a:lstStyle/>
                    <a:p>
                      <a:pPr>
                        <a:defRPr sz="900">
                          <a:solidFill>
                            <a:srgbClr val="0E0E12"/>
                          </a:solidFill>
                          <a:latin typeface="Jost"/>
                        </a:defRPr>
                      </a:pPr>
                      <a:r>
                        <a:t>1.2K</a:t>
                      </a:r>
                    </a:p>
                  </a:txBody>
                  <a:tcPr marT="25400" marB="25400">
                    <a:solidFill>
                      <a:srgbClr val="FFFFFF"/>
                    </a:solidFill>
                  </a:tcPr>
                </a:tc>
                <a:tc>
                  <a:txBody>
                    <a:bodyPr/>
                    <a:lstStyle/>
                    <a:p>
                      <a:pPr>
                        <a:defRPr sz="900">
                          <a:solidFill>
                            <a:srgbClr val="0E0E12"/>
                          </a:solidFill>
                          <a:latin typeface="Jost"/>
                        </a:defRPr>
                      </a:pPr>
                      <a:r>
                        <a:t>36</a:t>
                      </a:r>
                    </a:p>
                  </a:txBody>
                  <a:tcPr marT="25400" marB="25400">
                    <a:solidFill>
                      <a:srgbClr val="FFFFFF"/>
                    </a:solidFill>
                  </a:tcPr>
                </a:tc>
                <a:tc>
                  <a:txBody>
                    <a:bodyPr/>
                    <a:lstStyle/>
                    <a:p>
                      <a:pPr>
                        <a:defRPr sz="900">
                          <a:solidFill>
                            <a:srgbClr val="0E0E12"/>
                          </a:solidFill>
                          <a:latin typeface="Jost"/>
                        </a:defRPr>
                      </a:pPr>
                      <a:r>
                        <a:t>6</a:t>
                      </a:r>
                    </a:p>
                  </a:txBody>
                  <a:tcPr marT="25400" marB="25400">
                    <a:solidFill>
                      <a:srgbClr val="FFFFFF"/>
                    </a:solidFill>
                  </a:tcPr>
                </a:tc>
                <a:tc>
                  <a:txBody>
                    <a:bodyPr/>
                    <a:lstStyle/>
                    <a:p>
                      <a:pPr>
                        <a:defRPr sz="900">
                          <a:solidFill>
                            <a:srgbClr val="0E0E12"/>
                          </a:solidFill>
                          <a:latin typeface="Jost"/>
                        </a:defRPr>
                      </a:pPr>
                      <a:r>
                        <a:t>10</a:t>
                      </a:r>
                    </a:p>
                  </a:txBody>
                  <a:tcPr marT="25400" marB="25400">
                    <a:solidFill>
                      <a:srgbClr val="FFFFFF"/>
                    </a:solidFill>
                  </a:tcPr>
                </a:tc>
              </a:tr>
              <a:tr h="502920">
                <a:tc>
                  <a:txBody>
                    <a:bodyPr/>
                    <a:lstStyle/>
                    <a:p>
                      <a:pPr>
                        <a:defRPr sz="900">
                          <a:solidFill>
                            <a:srgbClr val="0E0E12"/>
                          </a:solidFill>
                          <a:latin typeface="Jost"/>
                        </a:defRPr>
                      </a:pPr>
                      <a:r>
                        <a:t>Last time King &amp; Co. played the deck, the crowd turned into a full sing-along crew, flip-flops came off, and the string lights caught every second of it. They're back this Sunday…</a:t>
                      </a:r>
                    </a:p>
                  </a:txBody>
                  <a:tcPr marT="25400" marB="25400">
                    <a:solidFill>
                      <a:srgbClr val="F7F5F0"/>
                    </a:solidFill>
                  </a:tcPr>
                </a:tc>
                <a:tc>
                  <a:txBody>
                    <a:bodyPr/>
                    <a:lstStyle/>
                    <a:p>
                      <a:pPr>
                        <a:defRPr sz="900">
                          <a:solidFill>
                            <a:srgbClr val="0E0E12"/>
                          </a:solidFill>
                          <a:latin typeface="Jost"/>
                        </a:defRPr>
                      </a:pPr>
                      <a:r>
                        <a:t>Sep 09</a:t>
                      </a:r>
                    </a:p>
                  </a:txBody>
                  <a:tcPr marT="25400" marB="25400">
                    <a:solidFill>
                      <a:srgbClr val="F7F5F0"/>
                    </a:solidFill>
                  </a:tcPr>
                </a:tc>
                <a:tc>
                  <a:txBody>
                    <a:bodyPr/>
                    <a:lstStyle/>
                    <a:p>
                      <a:pPr>
                        <a:defRPr sz="900">
                          <a:solidFill>
                            <a:srgbClr val="0E0E12"/>
                          </a:solidFill>
                          <a:latin typeface="Jost"/>
                        </a:defRPr>
                      </a:pPr>
                      <a:r>
                        <a:t>710</a:t>
                      </a:r>
                    </a:p>
                  </a:txBody>
                  <a:tcPr marT="25400" marB="25400">
                    <a:solidFill>
                      <a:srgbClr val="F7F5F0"/>
                    </a:solidFill>
                  </a:tcPr>
                </a:tc>
                <a:tc>
                  <a:txBody>
                    <a:bodyPr/>
                    <a:lstStyle/>
                    <a:p>
                      <a:pPr>
                        <a:defRPr sz="900">
                          <a:solidFill>
                            <a:srgbClr val="0E0E12"/>
                          </a:solidFill>
                          <a:latin typeface="Jost"/>
                        </a:defRPr>
                      </a:pPr>
                      <a:r>
                        <a:t>14</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r h="502920">
                <a:tc>
                  <a:txBody>
                    <a:bodyPr/>
                    <a:lstStyle/>
                    <a:p>
                      <a:pPr>
                        <a:defRPr sz="900">
                          <a:solidFill>
                            <a:srgbClr val="0E0E12"/>
                          </a:solidFill>
                          <a:latin typeface="Jost"/>
                        </a:defRPr>
                      </a:pPr>
                      <a:r>
                        <a:t>Went in for a fishing interview, got a comedian instead. What are you catching? Rays. Can’t argue with that logic. #OakIslandNC #BrunswickCounty #SouthportNC #SeahorseBar #OceanCr…</a:t>
                      </a:r>
                    </a:p>
                  </a:txBody>
                  <a:tcPr marT="25400" marB="25400">
                    <a:solidFill>
                      <a:srgbClr val="FFFFFF"/>
                    </a:solidFill>
                  </a:tcPr>
                </a:tc>
                <a:tc>
                  <a:txBody>
                    <a:bodyPr/>
                    <a:lstStyle/>
                    <a:p>
                      <a:pPr>
                        <a:defRPr sz="900">
                          <a:solidFill>
                            <a:srgbClr val="0E0E12"/>
                          </a:solidFill>
                          <a:latin typeface="Jost"/>
                        </a:defRPr>
                      </a:pPr>
                      <a:r>
                        <a:t>Sep 18</a:t>
                      </a:r>
                    </a:p>
                  </a:txBody>
                  <a:tcPr marT="25400" marB="25400">
                    <a:solidFill>
                      <a:srgbClr val="FFFFFF"/>
                    </a:solidFill>
                  </a:tcPr>
                </a:tc>
                <a:tc>
                  <a:txBody>
                    <a:bodyPr/>
                    <a:lstStyle/>
                    <a:p>
                      <a:pPr>
                        <a:defRPr sz="900">
                          <a:solidFill>
                            <a:srgbClr val="0E0E12"/>
                          </a:solidFill>
                          <a:latin typeface="Jost"/>
                        </a:defRPr>
                      </a:pPr>
                      <a:r>
                        <a:t>588</a:t>
                      </a:r>
                    </a:p>
                  </a:txBody>
                  <a:tcPr marT="25400" marB="25400">
                    <a:solidFill>
                      <a:srgbClr val="FFFFFF"/>
                    </a:solidFill>
                  </a:tcPr>
                </a:tc>
                <a:tc>
                  <a:txBody>
                    <a:bodyPr/>
                    <a:lstStyle/>
                    <a:p>
                      <a:pPr>
                        <a:defRPr sz="900">
                          <a:solidFill>
                            <a:srgbClr val="0E0E12"/>
                          </a:solidFill>
                          <a:latin typeface="Jost"/>
                        </a:defRPr>
                      </a:pPr>
                      <a:r>
                        <a:t>11</a:t>
                      </a:r>
                    </a:p>
                  </a:txBody>
                  <a:tcPr marT="25400" marB="25400">
                    <a:solidFill>
                      <a:srgbClr val="FFFFFF"/>
                    </a:solidFill>
                  </a:tcPr>
                </a:tc>
                <a:tc>
                  <a:txBody>
                    <a:bodyPr/>
                    <a:lstStyle/>
                    <a:p>
                      <a:pPr>
                        <a:defRPr sz="900">
                          <a:solidFill>
                            <a:srgbClr val="0E0E12"/>
                          </a:solidFill>
                          <a:latin typeface="Jost"/>
                        </a:defRPr>
                      </a:pPr>
                      <a:r>
                        <a:t>5</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This Tiki Bar Lime Lager from Tarboro Brewing is REALLY tasty! Our friends on the beach liked it, you probably will too. Grab one at The Seahorse #SeahorseBar #TarboroBrewing #Oak…</a:t>
                      </a:r>
                    </a:p>
                  </a:txBody>
                  <a:tcPr marT="25400" marB="25400">
                    <a:solidFill>
                      <a:srgbClr val="F7F5F0"/>
                    </a:solidFill>
                  </a:tcPr>
                </a:tc>
                <a:tc>
                  <a:txBody>
                    <a:bodyPr/>
                    <a:lstStyle/>
                    <a:p>
                      <a:pPr>
                        <a:defRPr sz="900">
                          <a:solidFill>
                            <a:srgbClr val="0E0E12"/>
                          </a:solidFill>
                          <a:latin typeface="Jost"/>
                        </a:defRPr>
                      </a:pPr>
                      <a:r>
                        <a:t>Sep 02</a:t>
                      </a:r>
                    </a:p>
                  </a:txBody>
                  <a:tcPr marT="25400" marB="25400">
                    <a:solidFill>
                      <a:srgbClr val="F7F5F0"/>
                    </a:solidFill>
                  </a:tcPr>
                </a:tc>
                <a:tc>
                  <a:txBody>
                    <a:bodyPr/>
                    <a:lstStyle/>
                    <a:p>
                      <a:pPr>
                        <a:defRPr sz="900">
                          <a:solidFill>
                            <a:srgbClr val="0E0E12"/>
                          </a:solidFill>
                          <a:latin typeface="Jost"/>
                        </a:defRPr>
                      </a:pPr>
                      <a:r>
                        <a:t>428</a:t>
                      </a:r>
                    </a:p>
                  </a:txBody>
                  <a:tcPr marT="25400" marB="25400">
                    <a:solidFill>
                      <a:srgbClr val="F7F5F0"/>
                    </a:solidFill>
                  </a:tcPr>
                </a:tc>
                <a:tc>
                  <a:txBody>
                    <a:bodyPr/>
                    <a:lstStyle/>
                    <a:p>
                      <a:pPr>
                        <a:defRPr sz="900">
                          <a:solidFill>
                            <a:srgbClr val="0E0E12"/>
                          </a:solidFill>
                          <a:latin typeface="Jost"/>
                        </a:defRPr>
                      </a:pPr>
                      <a:r>
                        <a:t>16</a:t>
                      </a:r>
                    </a:p>
                  </a:txBody>
                  <a:tcPr marT="25400" marB="25400">
                    <a:solidFill>
                      <a:srgbClr val="F7F5F0"/>
                    </a:solidFill>
                  </a:tcPr>
                </a:tc>
                <a:tc>
                  <a:txBody>
                    <a:bodyPr/>
                    <a:lstStyle/>
                    <a:p>
                      <a:pPr>
                        <a:defRPr sz="900">
                          <a:solidFill>
                            <a:srgbClr val="0E0E12"/>
                          </a:solidFill>
                          <a:latin typeface="Jost"/>
                        </a:defRPr>
                      </a:pPr>
                      <a:r>
                        <a:t>4</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Facebook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Impressions</a:t>
            </a:r>
          </a:p>
          <a:p>
            <a:pPr algn="ctr"/>
            <a:r>
              <a:rPr sz="2200" b="1">
                <a:solidFill>
                  <a:srgbClr val="C8A84B"/>
                </a:solidFill>
                <a:latin typeface="Jost"/>
              </a:rPr>
              <a:t>47.8K</a:t>
            </a:r>
          </a:p>
          <a:p>
            <a:pPr algn="ctr"/>
            <a:r>
              <a:rPr sz="900" b="1">
                <a:solidFill>
                  <a:srgbClr val="7A7889"/>
                </a:solidFill>
                <a:latin typeface="Jost"/>
              </a:rPr>
              <a:t>↓ -20.5%</a:t>
            </a:r>
          </a:p>
        </p:txBody>
      </p:sp>
      <p:sp>
        <p:nvSpPr>
          <p:cNvPr id="5" name="Rounded Rectangle 4"/>
          <p:cNvSpPr/>
          <p:nvPr/>
        </p:nvSpPr>
        <p:spPr>
          <a:xfrm>
            <a:off x="3249168"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0.00%</a:t>
            </a:r>
          </a:p>
          <a:p>
            <a:pPr algn="ctr"/>
            <a:r>
              <a:rPr sz="900" b="1">
                <a:solidFill>
                  <a:srgbClr val="3A3845"/>
                </a:solidFill>
                <a:latin typeface="Jost"/>
              </a:rPr>
              <a:t>flat (0/0)</a:t>
            </a:r>
          </a:p>
        </p:txBody>
      </p:sp>
      <p:sp>
        <p:nvSpPr>
          <p:cNvPr id="6" name="Rounded Rectangle 5"/>
          <p:cNvSpPr/>
          <p:nvPr/>
        </p:nvSpPr>
        <p:spPr>
          <a:xfrm>
            <a:off x="5986272"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Current Followers</a:t>
            </a:r>
          </a:p>
          <a:p>
            <a:pPr algn="ctr"/>
            <a:r>
              <a:rPr sz="2200" b="1">
                <a:solidFill>
                  <a:srgbClr val="1A3A8F"/>
                </a:solidFill>
                <a:latin typeface="Jost"/>
              </a:rPr>
              <a:t>18.3K</a:t>
            </a:r>
          </a:p>
          <a:p>
            <a:pPr algn="ctr"/>
            <a:r>
              <a:rPr sz="900" b="1">
                <a:solidFill>
                  <a:srgbClr val="3A3845"/>
                </a:solidFill>
                <a:latin typeface="Jost"/>
              </a:rPr>
              <a:t>First snapshot</a:t>
            </a:r>
          </a:p>
        </p:txBody>
      </p:sp>
      <p:graphicFrame>
        <p:nvGraphicFramePr>
          <p:cNvPr id="7" name="Table 6"/>
          <p:cNvGraphicFramePr>
            <a:graphicFrameLocks noGrp="1"/>
          </p:cNvGraphicFramePr>
          <p:nvPr/>
        </p:nvGraphicFramePr>
        <p:xfrm>
          <a:off x="512064" y="1801368"/>
          <a:ext cx="8119872" cy="1316736"/>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25</a:t>
                      </a:r>
                    </a:p>
                  </a:txBody>
                  <a:tcPr marT="25400" marB="25400">
                    <a:solidFill>
                      <a:srgbClr val="F7F5F0"/>
                    </a:solidFill>
                  </a:tcPr>
                </a:tc>
                <a:tc>
                  <a:txBody>
                    <a:bodyPr/>
                    <a:lstStyle/>
                    <a:p>
                      <a:pPr>
                        <a:defRPr sz="800">
                          <a:solidFill>
                            <a:srgbClr val="0E0E12"/>
                          </a:solidFill>
                          <a:latin typeface="Jost"/>
                        </a:defRPr>
                      </a:pPr>
                      <a:r>
                        <a:t>32</a:t>
                      </a:r>
                    </a:p>
                  </a:txBody>
                  <a:tcPr marT="25400" marB="25400">
                    <a:solidFill>
                      <a:srgbClr val="F7F5F0"/>
                    </a:solidFill>
                  </a:tcPr>
                </a:tc>
                <a:tc>
                  <a:txBody>
                    <a:bodyPr/>
                    <a:lstStyle/>
                    <a:p>
                      <a:pPr>
                        <a:defRPr sz="800">
                          <a:solidFill>
                            <a:srgbClr val="7A7889"/>
                          </a:solidFill>
                          <a:latin typeface="Jost"/>
                        </a:defRPr>
                      </a:pPr>
                      <a:r>
                        <a:t>↓ -21.9%</a:t>
                      </a:r>
                    </a:p>
                  </a:txBody>
                  <a:tcPr marT="25400" marB="25400">
                    <a:solidFill>
                      <a:srgbClr val="F7F5F0"/>
                    </a:solidFill>
                  </a:tcPr>
                </a:tc>
              </a:tr>
              <a:tr h="164592">
                <a:tc>
                  <a:txBody>
                    <a:bodyPr/>
                    <a:lstStyle/>
                    <a:p>
                      <a:pPr>
                        <a:defRPr sz="800">
                          <a:solidFill>
                            <a:srgbClr val="0E0E12"/>
                          </a:solidFill>
                          <a:latin typeface="Jost"/>
                        </a:defRPr>
                      </a:pPr>
                      <a:r>
                        <a:t>Impressions</a:t>
                      </a:r>
                    </a:p>
                  </a:txBody>
                  <a:tcPr marT="25400" marB="25400">
                    <a:solidFill>
                      <a:srgbClr val="FFFFFF"/>
                    </a:solidFill>
                  </a:tcPr>
                </a:tc>
                <a:tc>
                  <a:txBody>
                    <a:bodyPr/>
                    <a:lstStyle/>
                    <a:p>
                      <a:pPr>
                        <a:defRPr sz="800">
                          <a:solidFill>
                            <a:srgbClr val="0E0E12"/>
                          </a:solidFill>
                          <a:latin typeface="Jost"/>
                        </a:defRPr>
                      </a:pPr>
                      <a:r>
                        <a:t>47.8K</a:t>
                      </a:r>
                    </a:p>
                  </a:txBody>
                  <a:tcPr marT="25400" marB="25400">
                    <a:solidFill>
                      <a:srgbClr val="FFFFFF"/>
                    </a:solidFill>
                  </a:tcPr>
                </a:tc>
                <a:tc>
                  <a:txBody>
                    <a:bodyPr/>
                    <a:lstStyle/>
                    <a:p>
                      <a:pPr>
                        <a:defRPr sz="800">
                          <a:solidFill>
                            <a:srgbClr val="0E0E12"/>
                          </a:solidFill>
                          <a:latin typeface="Jost"/>
                        </a:defRPr>
                      </a:pPr>
                      <a:r>
                        <a:t>60.2K</a:t>
                      </a:r>
                    </a:p>
                  </a:txBody>
                  <a:tcPr marT="25400" marB="25400">
                    <a:solidFill>
                      <a:srgbClr val="FFFFFF"/>
                    </a:solidFill>
                  </a:tcPr>
                </a:tc>
                <a:tc>
                  <a:txBody>
                    <a:bodyPr/>
                    <a:lstStyle/>
                    <a:p>
                      <a:pPr>
                        <a:defRPr sz="800">
                          <a:solidFill>
                            <a:srgbClr val="7A7889"/>
                          </a:solidFill>
                          <a:latin typeface="Jost"/>
                        </a:defRPr>
                      </a:pPr>
                      <a:r>
                        <a:t>↓ -20.5%</a:t>
                      </a:r>
                    </a:p>
                  </a:txBody>
                  <a:tcPr marT="25400" marB="25400">
                    <a:solidFill>
                      <a:srgbClr val="FFFFFF"/>
                    </a:solidFill>
                  </a:tcPr>
                </a:tc>
              </a:tr>
              <a:tr h="164592">
                <a:tc>
                  <a:txBody>
                    <a:bodyPr/>
                    <a:lstStyle/>
                    <a:p>
                      <a:pPr>
                        <a:defRPr sz="800">
                          <a:solidFill>
                            <a:srgbClr val="0E0E12"/>
                          </a:solidFill>
                          <a:latin typeface="Jost"/>
                        </a:defRPr>
                      </a:pPr>
                      <a:r>
                        <a:t>Reactions</a:t>
                      </a:r>
                    </a:p>
                  </a:txBody>
                  <a:tcPr marT="25400" marB="25400">
                    <a:solidFill>
                      <a:srgbClr val="F7F5F0"/>
                    </a:solidFill>
                  </a:tcPr>
                </a:tc>
                <a:tc>
                  <a:txBody>
                    <a:bodyPr/>
                    <a:lstStyle/>
                    <a:p>
                      <a:pPr>
                        <a:defRPr sz="800">
                          <a:solidFill>
                            <a:srgbClr val="0E0E12"/>
                          </a:solidFill>
                          <a:latin typeface="Jost"/>
                        </a:defRPr>
                      </a:pPr>
                      <a:r>
                        <a:t>313</a:t>
                      </a:r>
                    </a:p>
                  </a:txBody>
                  <a:tcPr marT="25400" marB="25400">
                    <a:solidFill>
                      <a:srgbClr val="F7F5F0"/>
                    </a:solidFill>
                  </a:tcPr>
                </a:tc>
                <a:tc>
                  <a:txBody>
                    <a:bodyPr/>
                    <a:lstStyle/>
                    <a:p>
                      <a:pPr>
                        <a:defRPr sz="800">
                          <a:solidFill>
                            <a:srgbClr val="0E0E12"/>
                          </a:solidFill>
                          <a:latin typeface="Jost"/>
                        </a:defRPr>
                      </a:pPr>
                      <a:r>
                        <a:t>660</a:t>
                      </a:r>
                    </a:p>
                  </a:txBody>
                  <a:tcPr marT="25400" marB="25400">
                    <a:solidFill>
                      <a:srgbClr val="F7F5F0"/>
                    </a:solidFill>
                  </a:tcPr>
                </a:tc>
                <a:tc>
                  <a:txBody>
                    <a:bodyPr/>
                    <a:lstStyle/>
                    <a:p>
                      <a:pPr>
                        <a:defRPr sz="800">
                          <a:solidFill>
                            <a:srgbClr val="7A7889"/>
                          </a:solidFill>
                          <a:latin typeface="Jost"/>
                        </a:defRPr>
                      </a:pPr>
                      <a:r>
                        <a:t>↓ -52.6%</a:t>
                      </a:r>
                    </a:p>
                  </a:txBody>
                  <a:tcPr marT="25400" marB="25400">
                    <a:solidFill>
                      <a:srgbClr val="F7F5F0"/>
                    </a:solidFill>
                  </a:tcPr>
                </a:tc>
              </a:tr>
              <a:tr h="164592">
                <a:tc>
                  <a:txBody>
                    <a:bodyPr/>
                    <a:lstStyle/>
                    <a:p>
                      <a:pPr>
                        <a:defRPr sz="800">
                          <a:solidFill>
                            <a:srgbClr val="0E0E12"/>
                          </a:solidFill>
                          <a:latin typeface="Jost"/>
                        </a:defRPr>
                      </a:pPr>
                      <a:r>
                        <a:t>Comments</a:t>
                      </a:r>
                    </a:p>
                  </a:txBody>
                  <a:tcPr marT="25400" marB="25400">
                    <a:solidFill>
                      <a:srgbClr val="FFFFFF"/>
                    </a:solidFill>
                  </a:tcPr>
                </a:tc>
                <a:tc>
                  <a:txBody>
                    <a:bodyPr/>
                    <a:lstStyle/>
                    <a:p>
                      <a:pPr>
                        <a:defRPr sz="800">
                          <a:solidFill>
                            <a:srgbClr val="0E0E12"/>
                          </a:solidFill>
                          <a:latin typeface="Jost"/>
                        </a:defRPr>
                      </a:pPr>
                      <a:r>
                        <a:t>23</a:t>
                      </a:r>
                    </a:p>
                  </a:txBody>
                  <a:tcPr marT="25400" marB="25400">
                    <a:solidFill>
                      <a:srgbClr val="FFFFFF"/>
                    </a:solidFill>
                  </a:tcPr>
                </a:tc>
                <a:tc>
                  <a:txBody>
                    <a:bodyPr/>
                    <a:lstStyle/>
                    <a:p>
                      <a:pPr>
                        <a:defRPr sz="800">
                          <a:solidFill>
                            <a:srgbClr val="0E0E12"/>
                          </a:solidFill>
                          <a:latin typeface="Jost"/>
                        </a:defRPr>
                      </a:pPr>
                      <a:r>
                        <a:t>83</a:t>
                      </a:r>
                    </a:p>
                  </a:txBody>
                  <a:tcPr marT="25400" marB="25400">
                    <a:solidFill>
                      <a:srgbClr val="FFFFFF"/>
                    </a:solidFill>
                  </a:tcPr>
                </a:tc>
                <a:tc>
                  <a:txBody>
                    <a:bodyPr/>
                    <a:lstStyle/>
                    <a:p>
                      <a:pPr>
                        <a:defRPr sz="800">
                          <a:solidFill>
                            <a:srgbClr val="7A7889"/>
                          </a:solidFill>
                          <a:latin typeface="Jost"/>
                        </a:defRPr>
                      </a:pPr>
                      <a:r>
                        <a:t>↓ -72.3%</a:t>
                      </a:r>
                    </a:p>
                  </a:txBody>
                  <a:tcPr marT="25400" marB="25400">
                    <a:solidFill>
                      <a:srgbClr val="FFFFFF"/>
                    </a:solidFill>
                  </a:tcPr>
                </a:tc>
              </a:tr>
              <a:tr h="164592">
                <a:tc>
                  <a:txBody>
                    <a:bodyPr/>
                    <a:lstStyle/>
                    <a:p>
                      <a:pPr>
                        <a:defRPr sz="800">
                          <a:solidFill>
                            <a:srgbClr val="0E0E12"/>
                          </a:solidFill>
                          <a:latin typeface="Jost"/>
                        </a:defRPr>
                      </a:pPr>
                      <a:r>
                        <a:t>Shares</a:t>
                      </a:r>
                    </a:p>
                  </a:txBody>
                  <a:tcPr marT="25400" marB="25400">
                    <a:solidFill>
                      <a:srgbClr val="F7F5F0"/>
                    </a:solidFill>
                  </a:tcPr>
                </a:tc>
                <a:tc>
                  <a:txBody>
                    <a:bodyPr/>
                    <a:lstStyle/>
                    <a:p>
                      <a:pPr>
                        <a:defRPr sz="800">
                          <a:solidFill>
                            <a:srgbClr val="0E0E12"/>
                          </a:solidFill>
                          <a:latin typeface="Jost"/>
                        </a:defRPr>
                      </a:pPr>
                      <a:r>
                        <a:t>19</a:t>
                      </a:r>
                    </a:p>
                  </a:txBody>
                  <a:tcPr marT="25400" marB="25400">
                    <a:solidFill>
                      <a:srgbClr val="F7F5F0"/>
                    </a:solidFill>
                  </a:tcPr>
                </a:tc>
                <a:tc>
                  <a:txBody>
                    <a:bodyPr/>
                    <a:lstStyle/>
                    <a:p>
                      <a:pPr>
                        <a:defRPr sz="800">
                          <a:solidFill>
                            <a:srgbClr val="0E0E12"/>
                          </a:solidFill>
                          <a:latin typeface="Jost"/>
                        </a:defRPr>
                      </a:pPr>
                      <a:r>
                        <a:t>29</a:t>
                      </a:r>
                    </a:p>
                  </a:txBody>
                  <a:tcPr marT="25400" marB="25400">
                    <a:solidFill>
                      <a:srgbClr val="F7F5F0"/>
                    </a:solidFill>
                  </a:tcPr>
                </a:tc>
                <a:tc>
                  <a:txBody>
                    <a:bodyPr/>
                    <a:lstStyle/>
                    <a:p>
                      <a:pPr>
                        <a:defRPr sz="800">
                          <a:solidFill>
                            <a:srgbClr val="7A7889"/>
                          </a:solidFill>
                          <a:latin typeface="Jost"/>
                        </a:defRPr>
                      </a:pPr>
                      <a:r>
                        <a:t>↓ -34.5%</a:t>
                      </a:r>
                    </a:p>
                  </a:txBody>
                  <a:tcPr marT="25400" marB="25400">
                    <a:solidFill>
                      <a:srgbClr val="F7F5F0"/>
                    </a:solidFill>
                  </a:tcPr>
                </a:tc>
              </a:tr>
              <a:tr h="164592">
                <a:tc>
                  <a:txBody>
                    <a:bodyPr/>
                    <a:lstStyle/>
                    <a:p>
                      <a:pPr>
                        <a:defRPr sz="800">
                          <a:solidFill>
                            <a:srgbClr val="0E0E12"/>
                          </a:solidFill>
                          <a:latin typeface="Jost"/>
                        </a:defRPr>
                      </a:pPr>
                      <a:r>
                        <a:t>Clicks</a:t>
                      </a:r>
                    </a:p>
                  </a:txBody>
                  <a:tcPr marT="25400" marB="25400">
                    <a:solidFill>
                      <a:srgbClr val="FFFFFF"/>
                    </a:solidFill>
                  </a:tcPr>
                </a:tc>
                <a:tc>
                  <a:txBody>
                    <a:bodyPr/>
                    <a:lstStyle/>
                    <a:p>
                      <a:pPr>
                        <a:defRPr sz="800">
                          <a:solidFill>
                            <a:srgbClr val="0E0E12"/>
                          </a:solidFill>
                          <a:latin typeface="Jost"/>
                        </a:defRPr>
                      </a:pPr>
                      <a:r>
                        <a:t>3.2K</a:t>
                      </a:r>
                    </a:p>
                  </a:txBody>
                  <a:tcPr marT="25400" marB="25400">
                    <a:solidFill>
                      <a:srgbClr val="FFFFFF"/>
                    </a:solidFill>
                  </a:tcPr>
                </a:tc>
                <a:tc>
                  <a:txBody>
                    <a:bodyPr/>
                    <a:lstStyle/>
                    <a:p>
                      <a:pPr>
                        <a:defRPr sz="800">
                          <a:solidFill>
                            <a:srgbClr val="0E0E12"/>
                          </a:solidFill>
                          <a:latin typeface="Jost"/>
                        </a:defRPr>
                      </a:pPr>
                      <a:r>
                        <a:t>3.1K</a:t>
                      </a:r>
                    </a:p>
                  </a:txBody>
                  <a:tcPr marT="25400" marB="25400">
                    <a:solidFill>
                      <a:srgbClr val="FFFFFF"/>
                    </a:solidFill>
                  </a:tcPr>
                </a:tc>
                <a:tc>
                  <a:txBody>
                    <a:bodyPr/>
                    <a:lstStyle/>
                    <a:p>
                      <a:pPr>
                        <a:defRPr sz="800">
                          <a:solidFill>
                            <a:srgbClr val="2D55C9"/>
                          </a:solidFill>
                          <a:latin typeface="Jost"/>
                        </a:defRPr>
                      </a:pPr>
                      <a:r>
                        <a:t>↑ +4.3%</a:t>
                      </a:r>
                    </a:p>
                  </a:txBody>
                  <a:tcPr marT="25400" marB="25400">
                    <a:solidFill>
                      <a:srgbClr val="FFFFFF"/>
                    </a:solidFill>
                  </a:tcPr>
                </a:tc>
              </a:tr>
              <a:tr h="164592">
                <a:tc>
                  <a:txBody>
                    <a:bodyPr/>
                    <a:lstStyle/>
                    <a:p>
                      <a:pPr>
                        <a:defRPr sz="800">
                          <a:solidFill>
                            <a:srgbClr val="0E0E12"/>
                          </a:solidFill>
                          <a:latin typeface="Jost"/>
                        </a:defRPr>
                      </a:pPr>
                      <a:r>
                        <a:t>Weighted Eng. Rate (reach)</a:t>
                      </a:r>
                    </a:p>
                  </a:txBody>
                  <a:tcPr marT="25400" marB="25400">
                    <a:solidFill>
                      <a:srgbClr val="F7F5F0"/>
                    </a:solidFill>
                  </a:tcPr>
                </a:tc>
                <a:tc>
                  <a:txBody>
                    <a:bodyPr/>
                    <a:lstStyle/>
                    <a:p>
                      <a:pPr>
                        <a:defRPr sz="800">
                          <a:solidFill>
                            <a:srgbClr val="0E0E12"/>
                          </a:solidFill>
                          <a:latin typeface="Jost"/>
                        </a:defRPr>
                      </a:pPr>
                      <a:r>
                        <a:t>0.00%</a:t>
                      </a:r>
                    </a:p>
                  </a:txBody>
                  <a:tcPr marT="25400" marB="25400">
                    <a:solidFill>
                      <a:srgbClr val="F7F5F0"/>
                    </a:solidFill>
                  </a:tcPr>
                </a:tc>
                <a:tc>
                  <a:txBody>
                    <a:bodyPr/>
                    <a:lstStyle/>
                    <a:p>
                      <a:pPr>
                        <a:defRPr sz="800">
                          <a:solidFill>
                            <a:srgbClr val="0E0E12"/>
                          </a:solidFill>
                          <a:latin typeface="Jost"/>
                        </a:defRPr>
                      </a:pPr>
                      <a:r>
                        <a:t>0.00%</a:t>
                      </a:r>
                    </a:p>
                  </a:txBody>
                  <a:tcPr marT="25400" marB="25400">
                    <a:solidFill>
                      <a:srgbClr val="F7F5F0"/>
                    </a:solidFill>
                  </a:tcPr>
                </a:tc>
                <a:tc>
                  <a:txBody>
                    <a:bodyPr/>
                    <a:lstStyle/>
                    <a:p>
                      <a:pPr>
                        <a:defRPr sz="800">
                          <a:solidFill>
                            <a:srgbClr val="3A3845"/>
                          </a:solidFill>
                          <a:latin typeface="Jost"/>
                        </a:defRPr>
                      </a:pPr>
                      <a:r>
                        <a:t>flat (0/0)</a:t>
                      </a:r>
                    </a:p>
                  </a:txBody>
                  <a:tcPr marT="25400" marB="25400">
                    <a:solidFill>
                      <a:srgbClr val="F7F5F0"/>
                    </a:solidFill>
                  </a:tcPr>
                </a:tc>
              </a:tr>
            </a:tbl>
          </a:graphicData>
        </a:graphic>
      </p:graphicFrame>
      <p:sp>
        <p:nvSpPr>
          <p:cNvPr id="8" name="TextBox 7"/>
          <p:cNvSpPr txBox="1"/>
          <p:nvPr/>
        </p:nvSpPr>
        <p:spPr>
          <a:xfrm>
            <a:off x="512064" y="3145536"/>
            <a:ext cx="8119872" cy="182880"/>
          </a:xfrm>
          <a:prstGeom prst="rect">
            <a:avLst/>
          </a:prstGeom>
          <a:noFill/>
        </p:spPr>
        <p:txBody>
          <a:bodyPr wrap="square">
            <a:spAutoFit/>
          </a:bodyPr>
          <a:lstStyle/>
          <a:p>
            <a:r>
              <a:rPr sz="1000" i="1">
                <a:solidFill>
                  <a:srgbClr val="7A7889"/>
                </a:solidFill>
                <a:latin typeface="Jost"/>
              </a:rPr>
              <a:t>Most metrics are down this period alongside a 22% drop in posting frequency (25 vs. 32 posts).</a:t>
            </a:r>
          </a:p>
        </p:txBody>
      </p:sp>
      <p:sp>
        <p:nvSpPr>
          <p:cNvPr id="9" name="TextBox 8"/>
          <p:cNvSpPr txBox="1"/>
          <p:nvPr/>
        </p:nvSpPr>
        <p:spPr>
          <a:xfrm>
            <a:off x="512064" y="3355848"/>
            <a:ext cx="8119872" cy="219456"/>
          </a:xfrm>
          <a:prstGeom prst="rect">
            <a:avLst/>
          </a:prstGeom>
          <a:noFill/>
        </p:spPr>
        <p:txBody>
          <a:bodyPr wrap="none">
            <a:spAutoFit/>
          </a:bodyPr>
          <a:lstStyle/>
          <a:p>
            <a:r>
              <a:rPr sz="1200" b="1">
                <a:solidFill>
                  <a:srgbClr val="3A3845"/>
                </a:solidFill>
                <a:latin typeface="Jost"/>
              </a:rPr>
              <a:t>Daily Impressions — Current vs. Prior Period</a:t>
            </a:r>
          </a:p>
        </p:txBody>
      </p:sp>
      <p:graphicFrame>
        <p:nvGraphicFramePr>
          <p:cNvPr id="10" name="Chart 9"/>
          <p:cNvGraphicFramePr>
            <a:graphicFrameLocks noGrp="1"/>
          </p:cNvGraphicFramePr>
          <p:nvPr/>
        </p:nvGraphicFramePr>
        <p:xfrm>
          <a:off x="512064" y="3575304"/>
          <a:ext cx="8119872" cy="1316736"/>
        </p:xfrm>
        <a:graphic>
          <a:graphicData uri="http://schemas.openxmlformats.org/drawingml/2006/chart">
            <c:chart xmlns:c="http://schemas.openxmlformats.org/drawingml/2006/chart" r:id="rId2"/>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Facebook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“King &amp; Co. is back on the deck this Sunday f…” drove </a:t>
            </a:r>
            <a:r>
              <a:rPr sz="1400" b="1">
                <a:solidFill>
                  <a:srgbClr val="C8A84B"/>
                </a:solidFill>
                <a:latin typeface="Jost"/>
              </a:rPr>
              <a:t>19%</a:t>
            </a:r>
            <a:r>
              <a:rPr sz="1400" b="0">
                <a:solidFill>
                  <a:srgbClr val="0E0E12"/>
                </a:solidFill>
                <a:latin typeface="Jost"/>
              </a:rPr>
              <a:t> of this period's total impressions.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Impressions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King &amp; Co. is back on the deck this Sunday from 6-9pm. If you were here last time, you know what that means: great tunes, a packed crowd, and a whole lot of dancing under the stri…</a:t>
                      </a:r>
                    </a:p>
                  </a:txBody>
                  <a:tcPr marT="25400" marB="25400">
                    <a:solidFill>
                      <a:srgbClr val="F7F5F0"/>
                    </a:solidFill>
                  </a:tcPr>
                </a:tc>
                <a:tc>
                  <a:txBody>
                    <a:bodyPr/>
                    <a:lstStyle/>
                    <a:p>
                      <a:pPr>
                        <a:defRPr sz="900">
                          <a:solidFill>
                            <a:srgbClr val="0E0E12"/>
                          </a:solidFill>
                          <a:latin typeface="Jost"/>
                        </a:defRPr>
                      </a:pPr>
                      <a:r>
                        <a:t>Sep 09</a:t>
                      </a:r>
                    </a:p>
                  </a:txBody>
                  <a:tcPr marT="25400" marB="25400">
                    <a:solidFill>
                      <a:srgbClr val="F7F5F0"/>
                    </a:solidFill>
                  </a:tcPr>
                </a:tc>
                <a:tc>
                  <a:txBody>
                    <a:bodyPr/>
                    <a:lstStyle/>
                    <a:p>
                      <a:pPr>
                        <a:defRPr sz="900">
                          <a:solidFill>
                            <a:srgbClr val="0E0E12"/>
                          </a:solidFill>
                          <a:latin typeface="Jost"/>
                        </a:defRPr>
                      </a:pPr>
                      <a:r>
                        <a:t>9.3K</a:t>
                      </a:r>
                    </a:p>
                  </a:txBody>
                  <a:tcPr marT="25400" marB="25400">
                    <a:solidFill>
                      <a:srgbClr val="F7F5F0"/>
                    </a:solidFill>
                  </a:tcPr>
                </a:tc>
                <a:tc>
                  <a:txBody>
                    <a:bodyPr/>
                    <a:lstStyle/>
                    <a:p>
                      <a:pPr>
                        <a:defRPr sz="900">
                          <a:solidFill>
                            <a:srgbClr val="0E0E12"/>
                          </a:solidFill>
                          <a:latin typeface="Jost"/>
                        </a:defRPr>
                      </a:pPr>
                      <a:r>
                        <a:t>32</a:t>
                      </a:r>
                    </a:p>
                  </a:txBody>
                  <a:tcPr marT="25400" marB="25400">
                    <a:solidFill>
                      <a:srgbClr val="F7F5F0"/>
                    </a:solidFill>
                  </a:tcPr>
                </a:tc>
                <a:tc>
                  <a:txBody>
                    <a:bodyPr/>
                    <a:lstStyle/>
                    <a:p>
                      <a:pPr>
                        <a:defRPr sz="900">
                          <a:solidFill>
                            <a:srgbClr val="0E0E12"/>
                          </a:solidFill>
                          <a:latin typeface="Jost"/>
                        </a:defRPr>
                      </a:pPr>
                      <a:r>
                        <a:t>1</a:t>
                      </a:r>
                    </a:p>
                  </a:txBody>
                  <a:tcPr marT="25400" marB="25400">
                    <a:solidFill>
                      <a:srgbClr val="F7F5F0"/>
                    </a:solidFill>
                  </a:tcPr>
                </a:tc>
                <a:tc>
                  <a:txBody>
                    <a:bodyPr/>
                    <a:lstStyle/>
                    <a:p>
                      <a:pPr>
                        <a:defRPr sz="900">
                          <a:solidFill>
                            <a:srgbClr val="0E0E12"/>
                          </a:solidFill>
                          <a:latin typeface="Jost"/>
                        </a:defRPr>
                      </a:pPr>
                      <a:r>
                        <a:t>5</a:t>
                      </a:r>
                    </a:p>
                  </a:txBody>
                  <a:tcPr marT="25400" marB="25400">
                    <a:solidFill>
                      <a:srgbClr val="F7F5F0"/>
                    </a:solidFill>
                  </a:tcPr>
                </a:tc>
              </a:tr>
              <a:tr h="502920">
                <a:tc>
                  <a:txBody>
                    <a:bodyPr/>
                    <a:lstStyle/>
                    <a:p>
                      <a:pPr>
                        <a:defRPr sz="900">
                          <a:solidFill>
                            <a:srgbClr val="0E0E12"/>
                          </a:solidFill>
                          <a:latin typeface="Jost"/>
                        </a:defRPr>
                      </a:pPr>
                      <a:r>
                        <a:t>6a9c884c05a53984421ec06f</a:t>
                      </a:r>
                    </a:p>
                  </a:txBody>
                  <a:tcPr marT="25400" marB="25400">
                    <a:solidFill>
                      <a:srgbClr val="FFFFFF"/>
                    </a:solidFill>
                  </a:tcPr>
                </a:tc>
                <a:tc>
                  <a:txBody>
                    <a:bodyPr/>
                    <a:lstStyle/>
                    <a:p>
                      <a:pPr>
                        <a:defRPr sz="900">
                          <a:solidFill>
                            <a:srgbClr val="0E0E12"/>
                          </a:solidFill>
                          <a:latin typeface="Jost"/>
                        </a:defRPr>
                      </a:pPr>
                      <a:r>
                        <a:t>Sep 04</a:t>
                      </a:r>
                    </a:p>
                  </a:txBody>
                  <a:tcPr marT="25400" marB="25400">
                    <a:solidFill>
                      <a:srgbClr val="FFFFFF"/>
                    </a:solidFill>
                  </a:tcPr>
                </a:tc>
                <a:tc>
                  <a:txBody>
                    <a:bodyPr/>
                    <a:lstStyle/>
                    <a:p>
                      <a:pPr>
                        <a:defRPr sz="900">
                          <a:solidFill>
                            <a:srgbClr val="0E0E12"/>
                          </a:solidFill>
                          <a:latin typeface="Jost"/>
                        </a:defRPr>
                      </a:pPr>
                      <a:r>
                        <a:t>7.3K</a:t>
                      </a:r>
                    </a:p>
                  </a:txBody>
                  <a:tcPr marT="25400" marB="25400">
                    <a:solidFill>
                      <a:srgbClr val="FFFFFF"/>
                    </a:solidFill>
                  </a:tcPr>
                </a:tc>
                <a:tc>
                  <a:txBody>
                    <a:bodyPr/>
                    <a:lstStyle/>
                    <a:p>
                      <a:pPr>
                        <a:defRPr sz="900">
                          <a:solidFill>
                            <a:srgbClr val="0E0E12"/>
                          </a:solidFill>
                          <a:latin typeface="Jost"/>
                        </a:defRPr>
                      </a:pPr>
                      <a:r>
                        <a:t>5</a:t>
                      </a:r>
                    </a:p>
                  </a:txBody>
                  <a:tcPr marT="25400" marB="25400">
                    <a:solidFill>
                      <a:srgbClr val="FFFFFF"/>
                    </a:solidFill>
                  </a:tcPr>
                </a:tc>
                <a:tc>
                  <a:txBody>
                    <a:bodyPr/>
                    <a:lstStyle/>
                    <a:p>
                      <a:pPr>
                        <a:defRPr sz="900">
                          <a:solidFill>
                            <a:srgbClr val="0E0E12"/>
                          </a:solidFill>
                          <a:latin typeface="Jost"/>
                        </a:defRPr>
                      </a:pPr>
                      <a:r>
                        <a:t>1</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6a9b144b5397054087a46af8</a:t>
                      </a:r>
                    </a:p>
                  </a:txBody>
                  <a:tcPr marT="25400" marB="25400">
                    <a:solidFill>
                      <a:srgbClr val="F7F5F0"/>
                    </a:solidFill>
                  </a:tcPr>
                </a:tc>
                <a:tc>
                  <a:txBody>
                    <a:bodyPr/>
                    <a:lstStyle/>
                    <a:p>
                      <a:pPr>
                        <a:defRPr sz="900">
                          <a:solidFill>
                            <a:srgbClr val="0E0E12"/>
                          </a:solidFill>
                          <a:latin typeface="Jost"/>
                        </a:defRPr>
                      </a:pPr>
                      <a:r>
                        <a:t>Sep 04</a:t>
                      </a:r>
                    </a:p>
                  </a:txBody>
                  <a:tcPr marT="25400" marB="25400">
                    <a:solidFill>
                      <a:srgbClr val="F7F5F0"/>
                    </a:solidFill>
                  </a:tcPr>
                </a:tc>
                <a:tc>
                  <a:txBody>
                    <a:bodyPr/>
                    <a:lstStyle/>
                    <a:p>
                      <a:pPr>
                        <a:defRPr sz="900">
                          <a:solidFill>
                            <a:srgbClr val="0E0E12"/>
                          </a:solidFill>
                          <a:latin typeface="Jost"/>
                        </a:defRPr>
                      </a:pPr>
                      <a:r>
                        <a:t>7.3K</a:t>
                      </a:r>
                    </a:p>
                  </a:txBody>
                  <a:tcPr marT="25400" marB="25400">
                    <a:solidFill>
                      <a:srgbClr val="F7F5F0"/>
                    </a:solidFill>
                  </a:tcPr>
                </a:tc>
                <a:tc>
                  <a:txBody>
                    <a:bodyPr/>
                    <a:lstStyle/>
                    <a:p>
                      <a:pPr>
                        <a:defRPr sz="900">
                          <a:solidFill>
                            <a:srgbClr val="0E0E12"/>
                          </a:solidFill>
                          <a:latin typeface="Jost"/>
                        </a:defRPr>
                      </a:pPr>
                      <a:r>
                        <a:t>11</a:t>
                      </a:r>
                    </a:p>
                  </a:txBody>
                  <a:tcPr marT="25400" marB="25400">
                    <a:solidFill>
                      <a:srgbClr val="F7F5F0"/>
                    </a:solidFill>
                  </a:tcPr>
                </a:tc>
                <a:tc>
                  <a:txBody>
                    <a:bodyPr/>
                    <a:lstStyle/>
                    <a:p>
                      <a:pPr>
                        <a:defRPr sz="900">
                          <a:solidFill>
                            <a:srgbClr val="0E0E12"/>
                          </a:solidFill>
                          <a:latin typeface="Jost"/>
                        </a:defRPr>
                      </a:pPr>
                      <a:r>
                        <a:t>1</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r h="502920">
                <a:tc>
                  <a:txBody>
                    <a:bodyPr/>
                    <a:lstStyle/>
                    <a:p>
                      <a:pPr>
                        <a:defRPr sz="900">
                          <a:solidFill>
                            <a:srgbClr val="0E0E12"/>
                          </a:solidFill>
                          <a:latin typeface="Jost"/>
                        </a:defRPr>
                      </a:pPr>
                      <a:r>
                        <a:t>6a9ad379f448c5c77eb6dbc5</a:t>
                      </a:r>
                    </a:p>
                  </a:txBody>
                  <a:tcPr marT="25400" marB="25400">
                    <a:solidFill>
                      <a:srgbClr val="FFFFFF"/>
                    </a:solidFill>
                  </a:tcPr>
                </a:tc>
                <a:tc>
                  <a:txBody>
                    <a:bodyPr/>
                    <a:lstStyle/>
                    <a:p>
                      <a:pPr>
                        <a:defRPr sz="900">
                          <a:solidFill>
                            <a:srgbClr val="0E0E12"/>
                          </a:solidFill>
                          <a:latin typeface="Jost"/>
                        </a:defRPr>
                      </a:pPr>
                      <a:r>
                        <a:t>Sep 04</a:t>
                      </a:r>
                    </a:p>
                  </a:txBody>
                  <a:tcPr marT="25400" marB="25400">
                    <a:solidFill>
                      <a:srgbClr val="FFFFFF"/>
                    </a:solidFill>
                  </a:tcPr>
                </a:tc>
                <a:tc>
                  <a:txBody>
                    <a:bodyPr/>
                    <a:lstStyle/>
                    <a:p>
                      <a:pPr>
                        <a:defRPr sz="900">
                          <a:solidFill>
                            <a:srgbClr val="0E0E12"/>
                          </a:solidFill>
                          <a:latin typeface="Jost"/>
                        </a:defRPr>
                      </a:pPr>
                      <a:r>
                        <a:t>7.3K</a:t>
                      </a:r>
                    </a:p>
                  </a:txBody>
                  <a:tcPr marT="25400" marB="25400">
                    <a:solidFill>
                      <a:srgbClr val="FFFFFF"/>
                    </a:solidFill>
                  </a:tcPr>
                </a:tc>
                <a:tc>
                  <a:txBody>
                    <a:bodyPr/>
                    <a:lstStyle/>
                    <a:p>
                      <a:pPr>
                        <a:defRPr sz="900">
                          <a:solidFill>
                            <a:srgbClr val="0E0E12"/>
                          </a:solidFill>
                          <a:latin typeface="Jost"/>
                        </a:defRPr>
                      </a:pPr>
                      <a:r>
                        <a:t>7</a:t>
                      </a:r>
                    </a:p>
                  </a:txBody>
                  <a:tcPr marT="25400" marB="25400">
                    <a:solidFill>
                      <a:srgbClr val="FFFFFF"/>
                    </a:solidFill>
                  </a:tcPr>
                </a:tc>
                <a:tc>
                  <a:txBody>
                    <a:bodyPr/>
                    <a:lstStyle/>
                    <a:p>
                      <a:pPr>
                        <a:defRPr sz="900">
                          <a:solidFill>
                            <a:srgbClr val="0E0E12"/>
                          </a:solidFill>
                          <a:latin typeface="Jost"/>
                        </a:defRPr>
                      </a:pPr>
                      <a:r>
                        <a:t>1</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Summer on the pier, gone as fast as it came. As we head into Labor Day Weekend, we're so thankful for everyone who made memories with us this season, from sunrise casts and full d…</a:t>
                      </a:r>
                    </a:p>
                  </a:txBody>
                  <a:tcPr marT="25400" marB="25400">
                    <a:solidFill>
                      <a:srgbClr val="F7F5F0"/>
                    </a:solidFill>
                  </a:tcPr>
                </a:tc>
                <a:tc>
                  <a:txBody>
                    <a:bodyPr/>
                    <a:lstStyle/>
                    <a:p>
                      <a:pPr>
                        <a:defRPr sz="900">
                          <a:solidFill>
                            <a:srgbClr val="0E0E12"/>
                          </a:solidFill>
                          <a:latin typeface="Jost"/>
                        </a:defRPr>
                      </a:pPr>
                      <a:r>
                        <a:t>Sep 04</a:t>
                      </a:r>
                    </a:p>
                  </a:txBody>
                  <a:tcPr marT="25400" marB="25400">
                    <a:solidFill>
                      <a:srgbClr val="F7F5F0"/>
                    </a:solidFill>
                  </a:tcPr>
                </a:tc>
                <a:tc>
                  <a:txBody>
                    <a:bodyPr/>
                    <a:lstStyle/>
                    <a:p>
                      <a:pPr>
                        <a:defRPr sz="900">
                          <a:solidFill>
                            <a:srgbClr val="0E0E12"/>
                          </a:solidFill>
                          <a:latin typeface="Jost"/>
                        </a:defRPr>
                      </a:pPr>
                      <a:r>
                        <a:t>7.3K</a:t>
                      </a:r>
                    </a:p>
                  </a:txBody>
                  <a:tcPr marT="25400" marB="25400">
                    <a:solidFill>
                      <a:srgbClr val="F7F5F0"/>
                    </a:solidFill>
                  </a:tcPr>
                </a:tc>
                <a:tc>
                  <a:txBody>
                    <a:bodyPr/>
                    <a:lstStyle/>
                    <a:p>
                      <a:pPr>
                        <a:defRPr sz="900">
                          <a:solidFill>
                            <a:srgbClr val="0E0E12"/>
                          </a:solidFill>
                          <a:latin typeface="Jost"/>
                        </a:defRPr>
                      </a:pPr>
                      <a:r>
                        <a:t>112</a:t>
                      </a:r>
                    </a:p>
                  </a:txBody>
                  <a:tcPr marT="25400" marB="25400">
                    <a:solidFill>
                      <a:srgbClr val="F7F5F0"/>
                    </a:solidFill>
                  </a:tcPr>
                </a:tc>
                <a:tc>
                  <a:txBody>
                    <a:bodyPr/>
                    <a:lstStyle/>
                    <a:p>
                      <a:pPr>
                        <a:defRPr sz="900">
                          <a:solidFill>
                            <a:srgbClr val="0E0E12"/>
                          </a:solidFill>
                          <a:latin typeface="Jost"/>
                        </a:defRPr>
                      </a:pPr>
                      <a:r>
                        <a:t>11</a:t>
                      </a:r>
                    </a:p>
                  </a:txBody>
                  <a:tcPr marT="25400" marB="25400">
                    <a:solidFill>
                      <a:srgbClr val="F7F5F0"/>
                    </a:solidFill>
                  </a:tcPr>
                </a:tc>
                <a:tc>
                  <a:txBody>
                    <a:bodyPr/>
                    <a:lstStyle/>
                    <a:p>
                      <a:pPr>
                        <a:defRPr sz="900">
                          <a:solidFill>
                            <a:srgbClr val="0E0E12"/>
                          </a:solidFill>
                          <a:latin typeface="Jost"/>
                        </a:defRPr>
                      </a:pPr>
                      <a:r>
                        <a:t>2</a:t>
                      </a:r>
                    </a:p>
                  </a:txBody>
                  <a:tcPr marT="25400" marB="25400">
                    <a:solidFill>
                      <a:srgbClr val="F7F5F0"/>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TikTok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Views</a:t>
            </a:r>
          </a:p>
          <a:p>
            <a:pPr algn="ctr"/>
            <a:r>
              <a:rPr sz="2200" b="1">
                <a:solidFill>
                  <a:srgbClr val="C8A84B"/>
                </a:solidFill>
                <a:latin typeface="Jost"/>
              </a:rPr>
              <a:t>5.2K</a:t>
            </a:r>
          </a:p>
          <a:p>
            <a:pPr algn="ctr"/>
            <a:r>
              <a:rPr sz="900" b="1">
                <a:solidFill>
                  <a:srgbClr val="2D55C9"/>
                </a:solidFill>
                <a:latin typeface="Jost"/>
              </a:rPr>
              <a:t>↑ +47.5%</a:t>
            </a:r>
          </a:p>
        </p:txBody>
      </p:sp>
      <p:sp>
        <p:nvSpPr>
          <p:cNvPr id="5" name="Rounded Rectangle 4"/>
          <p:cNvSpPr/>
          <p:nvPr/>
        </p:nvSpPr>
        <p:spPr>
          <a:xfrm>
            <a:off x="2564892"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Reach</a:t>
            </a:r>
          </a:p>
          <a:p>
            <a:pPr algn="ctr"/>
            <a:r>
              <a:rPr sz="2200" b="1">
                <a:solidFill>
                  <a:srgbClr val="1A3A8F"/>
                </a:solidFill>
                <a:latin typeface="Jost"/>
              </a:rPr>
              <a:t>3.8K</a:t>
            </a:r>
          </a:p>
          <a:p>
            <a:pPr algn="ctr"/>
            <a:r>
              <a:rPr sz="900" b="1">
                <a:solidFill>
                  <a:srgbClr val="2D55C9"/>
                </a:solidFill>
                <a:latin typeface="Jost"/>
              </a:rPr>
              <a:t>↑ +27.8%</a:t>
            </a:r>
          </a:p>
        </p:txBody>
      </p:sp>
      <p:sp>
        <p:nvSpPr>
          <p:cNvPr id="6" name="Rounded Rectangle 5"/>
          <p:cNvSpPr/>
          <p:nvPr/>
        </p:nvSpPr>
        <p:spPr>
          <a:xfrm>
            <a:off x="4617720"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7.40%</a:t>
            </a:r>
          </a:p>
          <a:p>
            <a:pPr algn="ctr"/>
            <a:r>
              <a:rPr sz="900" b="1">
                <a:solidFill>
                  <a:srgbClr val="2D55C9"/>
                </a:solidFill>
                <a:latin typeface="Jost"/>
              </a:rPr>
              <a:t>↑ +28.4%</a:t>
            </a:r>
          </a:p>
        </p:txBody>
      </p:sp>
      <p:sp>
        <p:nvSpPr>
          <p:cNvPr id="7" name="Rounded Rectangle 6"/>
          <p:cNvSpPr/>
          <p:nvPr/>
        </p:nvSpPr>
        <p:spPr>
          <a:xfrm>
            <a:off x="6670548"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Current Followers</a:t>
            </a:r>
          </a:p>
          <a:p>
            <a:pPr algn="ctr"/>
            <a:r>
              <a:rPr sz="2200" b="1">
                <a:solidFill>
                  <a:srgbClr val="1A3A8F"/>
                </a:solidFill>
                <a:latin typeface="Jost"/>
              </a:rPr>
              <a:t>[Count]</a:t>
            </a:r>
          </a:p>
          <a:p>
            <a:pPr algn="ctr"/>
            <a:r>
              <a:rPr sz="900" b="1">
                <a:solidFill>
                  <a:srgbClr val="3A3845"/>
                </a:solidFill>
                <a:latin typeface="Jost"/>
              </a:rPr>
              <a:t>Manual entry</a:t>
            </a:r>
          </a:p>
        </p:txBody>
      </p:sp>
      <p:graphicFrame>
        <p:nvGraphicFramePr>
          <p:cNvPr id="8" name="Table 7"/>
          <p:cNvGraphicFramePr>
            <a:graphicFrameLocks noGrp="1"/>
          </p:cNvGraphicFramePr>
          <p:nvPr/>
        </p:nvGraphicFramePr>
        <p:xfrm>
          <a:off x="512064" y="1801368"/>
          <a:ext cx="8119872" cy="1316736"/>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4</a:t>
                      </a:r>
                    </a:p>
                  </a:txBody>
                  <a:tcPr marT="25400" marB="25400">
                    <a:solidFill>
                      <a:srgbClr val="F7F5F0"/>
                    </a:solidFill>
                  </a:tcPr>
                </a:tc>
                <a:tc>
                  <a:txBody>
                    <a:bodyPr/>
                    <a:lstStyle/>
                    <a:p>
                      <a:pPr>
                        <a:defRPr sz="800">
                          <a:solidFill>
                            <a:srgbClr val="0E0E12"/>
                          </a:solidFill>
                          <a:latin typeface="Jost"/>
                        </a:defRPr>
                      </a:pPr>
                      <a:r>
                        <a:t>6</a:t>
                      </a:r>
                    </a:p>
                  </a:txBody>
                  <a:tcPr marT="25400" marB="25400">
                    <a:solidFill>
                      <a:srgbClr val="F7F5F0"/>
                    </a:solidFill>
                  </a:tcPr>
                </a:tc>
                <a:tc>
                  <a:txBody>
                    <a:bodyPr/>
                    <a:lstStyle/>
                    <a:p>
                      <a:pPr>
                        <a:defRPr sz="800">
                          <a:solidFill>
                            <a:srgbClr val="7A7889"/>
                          </a:solidFill>
                          <a:latin typeface="Jost"/>
                        </a:defRPr>
                      </a:pPr>
                      <a:r>
                        <a:t>↓ -33.3%</a:t>
                      </a:r>
                    </a:p>
                  </a:txBody>
                  <a:tcPr marT="25400" marB="25400">
                    <a:solidFill>
                      <a:srgbClr val="F7F5F0"/>
                    </a:solidFill>
                  </a:tcPr>
                </a:tc>
              </a:tr>
              <a:tr h="164592">
                <a:tc>
                  <a:txBody>
                    <a:bodyPr/>
                    <a:lstStyle/>
                    <a:p>
                      <a:pPr>
                        <a:defRPr sz="800">
                          <a:solidFill>
                            <a:srgbClr val="0E0E12"/>
                          </a:solidFill>
                          <a:latin typeface="Jost"/>
                        </a:defRPr>
                      </a:pPr>
                      <a:r>
                        <a:t>Views</a:t>
                      </a:r>
                    </a:p>
                  </a:txBody>
                  <a:tcPr marT="25400" marB="25400">
                    <a:solidFill>
                      <a:srgbClr val="FFFFFF"/>
                    </a:solidFill>
                  </a:tcPr>
                </a:tc>
                <a:tc>
                  <a:txBody>
                    <a:bodyPr/>
                    <a:lstStyle/>
                    <a:p>
                      <a:pPr>
                        <a:defRPr sz="800">
                          <a:solidFill>
                            <a:srgbClr val="0E0E12"/>
                          </a:solidFill>
                          <a:latin typeface="Jost"/>
                        </a:defRPr>
                      </a:pPr>
                      <a:r>
                        <a:t>5.2K</a:t>
                      </a:r>
                    </a:p>
                  </a:txBody>
                  <a:tcPr marT="25400" marB="25400">
                    <a:solidFill>
                      <a:srgbClr val="FFFFFF"/>
                    </a:solidFill>
                  </a:tcPr>
                </a:tc>
                <a:tc>
                  <a:txBody>
                    <a:bodyPr/>
                    <a:lstStyle/>
                    <a:p>
                      <a:pPr>
                        <a:defRPr sz="800">
                          <a:solidFill>
                            <a:srgbClr val="0E0E12"/>
                          </a:solidFill>
                          <a:latin typeface="Jost"/>
                        </a:defRPr>
                      </a:pPr>
                      <a:r>
                        <a:t>3.6K</a:t>
                      </a:r>
                    </a:p>
                  </a:txBody>
                  <a:tcPr marT="25400" marB="25400">
                    <a:solidFill>
                      <a:srgbClr val="FFFFFF"/>
                    </a:solidFill>
                  </a:tcPr>
                </a:tc>
                <a:tc>
                  <a:txBody>
                    <a:bodyPr/>
                    <a:lstStyle/>
                    <a:p>
                      <a:pPr>
                        <a:defRPr sz="800">
                          <a:solidFill>
                            <a:srgbClr val="2D55C9"/>
                          </a:solidFill>
                          <a:latin typeface="Jost"/>
                        </a:defRPr>
                      </a:pPr>
                      <a:r>
                        <a:t>↑ +47.5%</a:t>
                      </a:r>
                    </a:p>
                  </a:txBody>
                  <a:tcPr marT="25400" marB="25400">
                    <a:solidFill>
                      <a:srgbClr val="FFFFFF"/>
                    </a:solidFill>
                  </a:tcPr>
                </a:tc>
              </a:tr>
              <a:tr h="164592">
                <a:tc>
                  <a:txBody>
                    <a:bodyPr/>
                    <a:lstStyle/>
                    <a:p>
                      <a:pPr>
                        <a:defRPr sz="800">
                          <a:solidFill>
                            <a:srgbClr val="0E0E12"/>
                          </a:solidFill>
                          <a:latin typeface="Jost"/>
                        </a:defRPr>
                      </a:pPr>
                      <a:r>
                        <a:t>Reach</a:t>
                      </a:r>
                    </a:p>
                  </a:txBody>
                  <a:tcPr marT="25400" marB="25400">
                    <a:solidFill>
                      <a:srgbClr val="F7F5F0"/>
                    </a:solidFill>
                  </a:tcPr>
                </a:tc>
                <a:tc>
                  <a:txBody>
                    <a:bodyPr/>
                    <a:lstStyle/>
                    <a:p>
                      <a:pPr>
                        <a:defRPr sz="800">
                          <a:solidFill>
                            <a:srgbClr val="0E0E12"/>
                          </a:solidFill>
                          <a:latin typeface="Jost"/>
                        </a:defRPr>
                      </a:pPr>
                      <a:r>
                        <a:t>3.8K</a:t>
                      </a:r>
                    </a:p>
                  </a:txBody>
                  <a:tcPr marT="25400" marB="25400">
                    <a:solidFill>
                      <a:srgbClr val="F7F5F0"/>
                    </a:solidFill>
                  </a:tcPr>
                </a:tc>
                <a:tc>
                  <a:txBody>
                    <a:bodyPr/>
                    <a:lstStyle/>
                    <a:p>
                      <a:pPr>
                        <a:defRPr sz="800">
                          <a:solidFill>
                            <a:srgbClr val="0E0E12"/>
                          </a:solidFill>
                          <a:latin typeface="Jost"/>
                        </a:defRPr>
                      </a:pPr>
                      <a:r>
                        <a:t>3.0K</a:t>
                      </a:r>
                    </a:p>
                  </a:txBody>
                  <a:tcPr marT="25400" marB="25400">
                    <a:solidFill>
                      <a:srgbClr val="F7F5F0"/>
                    </a:solidFill>
                  </a:tcPr>
                </a:tc>
                <a:tc>
                  <a:txBody>
                    <a:bodyPr/>
                    <a:lstStyle/>
                    <a:p>
                      <a:pPr>
                        <a:defRPr sz="800">
                          <a:solidFill>
                            <a:srgbClr val="2D55C9"/>
                          </a:solidFill>
                          <a:latin typeface="Jost"/>
                        </a:defRPr>
                      </a:pPr>
                      <a:r>
                        <a:t>↑ +27.8%</a:t>
                      </a:r>
                    </a:p>
                  </a:txBody>
                  <a:tcPr marT="25400" marB="25400">
                    <a:solidFill>
                      <a:srgbClr val="F7F5F0"/>
                    </a:solidFill>
                  </a:tcPr>
                </a:tc>
              </a:tr>
              <a:tr h="164592">
                <a:tc>
                  <a:txBody>
                    <a:bodyPr/>
                    <a:lstStyle/>
                    <a:p>
                      <a:pPr>
                        <a:defRPr sz="800">
                          <a:solidFill>
                            <a:srgbClr val="0E0E12"/>
                          </a:solidFill>
                          <a:latin typeface="Jost"/>
                        </a:defRPr>
                      </a:pPr>
                      <a:r>
                        <a:t>Reactions</a:t>
                      </a:r>
                    </a:p>
                  </a:txBody>
                  <a:tcPr marT="25400" marB="25400">
                    <a:solidFill>
                      <a:srgbClr val="FFFFFF"/>
                    </a:solidFill>
                  </a:tcPr>
                </a:tc>
                <a:tc>
                  <a:txBody>
                    <a:bodyPr/>
                    <a:lstStyle/>
                    <a:p>
                      <a:pPr>
                        <a:defRPr sz="800">
                          <a:solidFill>
                            <a:srgbClr val="0E0E12"/>
                          </a:solidFill>
                          <a:latin typeface="Jost"/>
                        </a:defRPr>
                      </a:pPr>
                      <a:r>
                        <a:t>259</a:t>
                      </a:r>
                    </a:p>
                  </a:txBody>
                  <a:tcPr marT="25400" marB="25400">
                    <a:solidFill>
                      <a:srgbClr val="FFFFFF"/>
                    </a:solidFill>
                  </a:tcPr>
                </a:tc>
                <a:tc>
                  <a:txBody>
                    <a:bodyPr/>
                    <a:lstStyle/>
                    <a:p>
                      <a:pPr>
                        <a:defRPr sz="800">
                          <a:solidFill>
                            <a:srgbClr val="0E0E12"/>
                          </a:solidFill>
                          <a:latin typeface="Jost"/>
                        </a:defRPr>
                      </a:pPr>
                      <a:r>
                        <a:t>141</a:t>
                      </a:r>
                    </a:p>
                  </a:txBody>
                  <a:tcPr marT="25400" marB="25400">
                    <a:solidFill>
                      <a:srgbClr val="FFFFFF"/>
                    </a:solidFill>
                  </a:tcPr>
                </a:tc>
                <a:tc>
                  <a:txBody>
                    <a:bodyPr/>
                    <a:lstStyle/>
                    <a:p>
                      <a:pPr>
                        <a:defRPr sz="800">
                          <a:solidFill>
                            <a:srgbClr val="2D55C9"/>
                          </a:solidFill>
                          <a:latin typeface="Jost"/>
                        </a:defRPr>
                      </a:pPr>
                      <a:r>
                        <a:t>↑ +83.7%</a:t>
                      </a:r>
                    </a:p>
                  </a:txBody>
                  <a:tcPr marT="25400" marB="25400">
                    <a:solidFill>
                      <a:srgbClr val="FFFFFF"/>
                    </a:solidFill>
                  </a:tcPr>
                </a:tc>
              </a:tr>
              <a:tr h="164592">
                <a:tc>
                  <a:txBody>
                    <a:bodyPr/>
                    <a:lstStyle/>
                    <a:p>
                      <a:pPr>
                        <a:defRPr sz="800">
                          <a:solidFill>
                            <a:srgbClr val="0E0E12"/>
                          </a:solidFill>
                          <a:latin typeface="Jost"/>
                        </a:defRPr>
                      </a:pPr>
                      <a:r>
                        <a:t>Comments</a:t>
                      </a:r>
                    </a:p>
                  </a:txBody>
                  <a:tcPr marT="25400" marB="25400">
                    <a:solidFill>
                      <a:srgbClr val="F7F5F0"/>
                    </a:solidFill>
                  </a:tcPr>
                </a:tc>
                <a:tc>
                  <a:txBody>
                    <a:bodyPr/>
                    <a:lstStyle/>
                    <a:p>
                      <a:pPr>
                        <a:defRPr sz="800">
                          <a:solidFill>
                            <a:srgbClr val="0E0E12"/>
                          </a:solidFill>
                          <a:latin typeface="Jost"/>
                        </a:defRPr>
                      </a:pPr>
                      <a:r>
                        <a:t>8</a:t>
                      </a:r>
                    </a:p>
                  </a:txBody>
                  <a:tcPr marT="25400" marB="25400">
                    <a:solidFill>
                      <a:srgbClr val="F7F5F0"/>
                    </a:solidFill>
                  </a:tcPr>
                </a:tc>
                <a:tc>
                  <a:txBody>
                    <a:bodyPr/>
                    <a:lstStyle/>
                    <a:p>
                      <a:pPr>
                        <a:defRPr sz="800">
                          <a:solidFill>
                            <a:srgbClr val="0E0E12"/>
                          </a:solidFill>
                          <a:latin typeface="Jost"/>
                        </a:defRPr>
                      </a:pPr>
                      <a:r>
                        <a:t>19</a:t>
                      </a:r>
                    </a:p>
                  </a:txBody>
                  <a:tcPr marT="25400" marB="25400">
                    <a:solidFill>
                      <a:srgbClr val="F7F5F0"/>
                    </a:solidFill>
                  </a:tcPr>
                </a:tc>
                <a:tc>
                  <a:txBody>
                    <a:bodyPr/>
                    <a:lstStyle/>
                    <a:p>
                      <a:pPr>
                        <a:defRPr sz="800">
                          <a:solidFill>
                            <a:srgbClr val="7A7889"/>
                          </a:solidFill>
                          <a:latin typeface="Jost"/>
                        </a:defRPr>
                      </a:pPr>
                      <a:r>
                        <a:t>↓ -57.9%</a:t>
                      </a:r>
                    </a:p>
                  </a:txBody>
                  <a:tcPr marT="25400" marB="25400">
                    <a:solidFill>
                      <a:srgbClr val="F7F5F0"/>
                    </a:solidFill>
                  </a:tcPr>
                </a:tc>
              </a:tr>
              <a:tr h="164592">
                <a:tc>
                  <a:txBody>
                    <a:bodyPr/>
                    <a:lstStyle/>
                    <a:p>
                      <a:pPr>
                        <a:defRPr sz="800">
                          <a:solidFill>
                            <a:srgbClr val="0E0E12"/>
                          </a:solidFill>
                          <a:latin typeface="Jost"/>
                        </a:defRPr>
                      </a:pPr>
                      <a:r>
                        <a:t>Shares</a:t>
                      </a:r>
                    </a:p>
                  </a:txBody>
                  <a:tcPr marT="25400" marB="25400">
                    <a:solidFill>
                      <a:srgbClr val="FFFFFF"/>
                    </a:solidFill>
                  </a:tcPr>
                </a:tc>
                <a:tc>
                  <a:txBody>
                    <a:bodyPr/>
                    <a:lstStyle/>
                    <a:p>
                      <a:pPr>
                        <a:defRPr sz="800">
                          <a:solidFill>
                            <a:srgbClr val="0E0E12"/>
                          </a:solidFill>
                          <a:latin typeface="Jost"/>
                        </a:defRPr>
                      </a:pPr>
                      <a:r>
                        <a:t>17</a:t>
                      </a:r>
                    </a:p>
                  </a:txBody>
                  <a:tcPr marT="25400" marB="25400">
                    <a:solidFill>
                      <a:srgbClr val="FFFFFF"/>
                    </a:solidFill>
                  </a:tcPr>
                </a:tc>
                <a:tc>
                  <a:txBody>
                    <a:bodyPr/>
                    <a:lstStyle/>
                    <a:p>
                      <a:pPr>
                        <a:defRPr sz="800">
                          <a:solidFill>
                            <a:srgbClr val="0E0E12"/>
                          </a:solidFill>
                          <a:latin typeface="Jost"/>
                        </a:defRPr>
                      </a:pPr>
                      <a:r>
                        <a:t>13</a:t>
                      </a:r>
                    </a:p>
                  </a:txBody>
                  <a:tcPr marT="25400" marB="25400">
                    <a:solidFill>
                      <a:srgbClr val="FFFFFF"/>
                    </a:solidFill>
                  </a:tcPr>
                </a:tc>
                <a:tc>
                  <a:txBody>
                    <a:bodyPr/>
                    <a:lstStyle/>
                    <a:p>
                      <a:pPr>
                        <a:defRPr sz="800">
                          <a:solidFill>
                            <a:srgbClr val="2D55C9"/>
                          </a:solidFill>
                          <a:latin typeface="Jost"/>
                        </a:defRPr>
                      </a:pPr>
                      <a:r>
                        <a:t>↑ +30.8%</a:t>
                      </a:r>
                    </a:p>
                  </a:txBody>
                  <a:tcPr marT="25400" marB="25400">
                    <a:solidFill>
                      <a:srgbClr val="FFFFFF"/>
                    </a:solidFill>
                  </a:tcPr>
                </a:tc>
              </a:tr>
              <a:tr h="164592">
                <a:tc>
                  <a:txBody>
                    <a:bodyPr/>
                    <a:lstStyle/>
                    <a:p>
                      <a:pPr>
                        <a:defRPr sz="800">
                          <a:solidFill>
                            <a:srgbClr val="0E0E12"/>
                          </a:solidFill>
                          <a:latin typeface="Jost"/>
                        </a:defRPr>
                      </a:pPr>
                      <a:r>
                        <a:t>Weighted Eng. Rate (reach)</a:t>
                      </a:r>
                    </a:p>
                  </a:txBody>
                  <a:tcPr marT="25400" marB="25400">
                    <a:solidFill>
                      <a:srgbClr val="F7F5F0"/>
                    </a:solidFill>
                  </a:tcPr>
                </a:tc>
                <a:tc>
                  <a:txBody>
                    <a:bodyPr/>
                    <a:lstStyle/>
                    <a:p>
                      <a:pPr>
                        <a:defRPr sz="800">
                          <a:solidFill>
                            <a:srgbClr val="0E0E12"/>
                          </a:solidFill>
                          <a:latin typeface="Jost"/>
                        </a:defRPr>
                      </a:pPr>
                      <a:r>
                        <a:t>7.40%</a:t>
                      </a:r>
                    </a:p>
                  </a:txBody>
                  <a:tcPr marT="25400" marB="25400">
                    <a:solidFill>
                      <a:srgbClr val="F7F5F0"/>
                    </a:solidFill>
                  </a:tcPr>
                </a:tc>
                <a:tc>
                  <a:txBody>
                    <a:bodyPr/>
                    <a:lstStyle/>
                    <a:p>
                      <a:pPr>
                        <a:defRPr sz="800">
                          <a:solidFill>
                            <a:srgbClr val="0E0E12"/>
                          </a:solidFill>
                          <a:latin typeface="Jost"/>
                        </a:defRPr>
                      </a:pPr>
                      <a:r>
                        <a:t>5.76%</a:t>
                      </a:r>
                    </a:p>
                  </a:txBody>
                  <a:tcPr marT="25400" marB="25400">
                    <a:solidFill>
                      <a:srgbClr val="F7F5F0"/>
                    </a:solidFill>
                  </a:tcPr>
                </a:tc>
                <a:tc>
                  <a:txBody>
                    <a:bodyPr/>
                    <a:lstStyle/>
                    <a:p>
                      <a:pPr>
                        <a:defRPr sz="800">
                          <a:solidFill>
                            <a:srgbClr val="2D55C9"/>
                          </a:solidFill>
                          <a:latin typeface="Jost"/>
                        </a:defRPr>
                      </a:pPr>
                      <a:r>
                        <a:t>↑ +28.4%</a:t>
                      </a:r>
                    </a:p>
                  </a:txBody>
                  <a:tcPr marT="25400" marB="25400">
                    <a:solidFill>
                      <a:srgbClr val="F7F5F0"/>
                    </a:solidFill>
                  </a:tcPr>
                </a:tc>
              </a:tr>
            </a:tbl>
          </a:graphicData>
        </a:graphic>
      </p:graphicFrame>
      <p:sp>
        <p:nvSpPr>
          <p:cNvPr id="9" name="TextBox 8"/>
          <p:cNvSpPr txBox="1"/>
          <p:nvPr/>
        </p:nvSpPr>
        <p:spPr>
          <a:xfrm>
            <a:off x="512064" y="3145536"/>
            <a:ext cx="8119872" cy="182880"/>
          </a:xfrm>
          <a:prstGeom prst="rect">
            <a:avLst/>
          </a:prstGeom>
          <a:noFill/>
        </p:spPr>
        <p:txBody>
          <a:bodyPr wrap="square">
            <a:spAutoFit/>
          </a:bodyPr>
          <a:lstStyle/>
          <a:p>
            <a:r>
              <a:rPr sz="1000" i="1">
                <a:solidFill>
                  <a:srgbClr val="7A7889"/>
                </a:solidFill>
                <a:latin typeface="Jost"/>
              </a:rPr>
              <a:t>Comments declined versus the prior period.</a:t>
            </a:r>
          </a:p>
        </p:txBody>
      </p:sp>
      <p:sp>
        <p:nvSpPr>
          <p:cNvPr id="10" name="TextBox 9"/>
          <p:cNvSpPr txBox="1"/>
          <p:nvPr/>
        </p:nvSpPr>
        <p:spPr>
          <a:xfrm>
            <a:off x="512064" y="3355848"/>
            <a:ext cx="8119872" cy="219456"/>
          </a:xfrm>
          <a:prstGeom prst="rect">
            <a:avLst/>
          </a:prstGeom>
          <a:noFill/>
        </p:spPr>
        <p:txBody>
          <a:bodyPr wrap="none">
            <a:spAutoFit/>
          </a:bodyPr>
          <a:lstStyle/>
          <a:p>
            <a:r>
              <a:rPr sz="1200" b="1">
                <a:solidFill>
                  <a:srgbClr val="3A3845"/>
                </a:solidFill>
                <a:latin typeface="Jost"/>
              </a:rPr>
              <a:t>Daily Views — Current vs. Prior Period</a:t>
            </a:r>
          </a:p>
        </p:txBody>
      </p:sp>
      <p:graphicFrame>
        <p:nvGraphicFramePr>
          <p:cNvPr id="11" name="Chart 10"/>
          <p:cNvGraphicFramePr>
            <a:graphicFrameLocks noGrp="1"/>
          </p:cNvGraphicFramePr>
          <p:nvPr/>
        </p:nvGraphicFramePr>
        <p:xfrm>
          <a:off x="512064" y="3575304"/>
          <a:ext cx="8119872" cy="1316736"/>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TikTok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“Oceanfront, live music tonight, and the door…” drove </a:t>
            </a:r>
            <a:r>
              <a:rPr sz="1400" b="1">
                <a:solidFill>
                  <a:srgbClr val="C8A84B"/>
                </a:solidFill>
                <a:latin typeface="Jost"/>
              </a:rPr>
              <a:t>75%</a:t>
            </a:r>
            <a:r>
              <a:rPr sz="1400" b="0">
                <a:solidFill>
                  <a:srgbClr val="0E0E12"/>
                </a:solidFill>
                <a:latin typeface="Jost"/>
              </a:rPr>
              <a:t> of this period's total views.</a:t>
            </a:r>
          </a:p>
        </p:txBody>
      </p:sp>
      <p:graphicFrame>
        <p:nvGraphicFramePr>
          <p:cNvPr id="5" name="Table 4"/>
          <p:cNvGraphicFramePr>
            <a:graphicFrameLocks noGrp="1"/>
          </p:cNvGraphicFramePr>
          <p:nvPr/>
        </p:nvGraphicFramePr>
        <p:xfrm>
          <a:off x="512064" y="1709928"/>
          <a:ext cx="8119872" cy="251460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Views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Oceanfront, live music tonight, and the door's wide open. Come on in 🎣🌅 #OakIslandNC #LiveMusicNC #PierFishing #SeahorseBar #BeachLife</a:t>
                      </a:r>
                    </a:p>
                  </a:txBody>
                  <a:tcPr marT="25400" marB="25400">
                    <a:solidFill>
                      <a:srgbClr val="F7F5F0"/>
                    </a:solidFill>
                  </a:tcPr>
                </a:tc>
                <a:tc>
                  <a:txBody>
                    <a:bodyPr/>
                    <a:lstStyle/>
                    <a:p>
                      <a:pPr>
                        <a:defRPr sz="900">
                          <a:solidFill>
                            <a:srgbClr val="0E0E12"/>
                          </a:solidFill>
                          <a:latin typeface="Jost"/>
                        </a:defRPr>
                      </a:pPr>
                      <a:r>
                        <a:t>Sep 16</a:t>
                      </a:r>
                    </a:p>
                  </a:txBody>
                  <a:tcPr marT="25400" marB="25400">
                    <a:solidFill>
                      <a:srgbClr val="F7F5F0"/>
                    </a:solidFill>
                  </a:tcPr>
                </a:tc>
                <a:tc>
                  <a:txBody>
                    <a:bodyPr/>
                    <a:lstStyle/>
                    <a:p>
                      <a:pPr>
                        <a:defRPr sz="900">
                          <a:solidFill>
                            <a:srgbClr val="0E0E12"/>
                          </a:solidFill>
                          <a:latin typeface="Jost"/>
                        </a:defRPr>
                      </a:pPr>
                      <a:r>
                        <a:t>3.9K</a:t>
                      </a:r>
                    </a:p>
                  </a:txBody>
                  <a:tcPr marT="25400" marB="25400">
                    <a:solidFill>
                      <a:srgbClr val="F7F5F0"/>
                    </a:solidFill>
                  </a:tcPr>
                </a:tc>
                <a:tc>
                  <a:txBody>
                    <a:bodyPr/>
                    <a:lstStyle/>
                    <a:p>
                      <a:pPr>
                        <a:defRPr sz="900">
                          <a:solidFill>
                            <a:srgbClr val="0E0E12"/>
                          </a:solidFill>
                          <a:latin typeface="Jost"/>
                        </a:defRPr>
                      </a:pPr>
                      <a:r>
                        <a:t>198</a:t>
                      </a:r>
                    </a:p>
                  </a:txBody>
                  <a:tcPr marT="25400" marB="25400">
                    <a:solidFill>
                      <a:srgbClr val="F7F5F0"/>
                    </a:solidFill>
                  </a:tcPr>
                </a:tc>
                <a:tc>
                  <a:txBody>
                    <a:bodyPr/>
                    <a:lstStyle/>
                    <a:p>
                      <a:pPr>
                        <a:defRPr sz="900">
                          <a:solidFill>
                            <a:srgbClr val="0E0E12"/>
                          </a:solidFill>
                          <a:latin typeface="Jost"/>
                        </a:defRPr>
                      </a:pPr>
                      <a:r>
                        <a:t>6</a:t>
                      </a:r>
                    </a:p>
                  </a:txBody>
                  <a:tcPr marT="25400" marB="25400">
                    <a:solidFill>
                      <a:srgbClr val="F7F5F0"/>
                    </a:solidFill>
                  </a:tcPr>
                </a:tc>
                <a:tc>
                  <a:txBody>
                    <a:bodyPr/>
                    <a:lstStyle/>
                    <a:p>
                      <a:pPr>
                        <a:defRPr sz="900">
                          <a:solidFill>
                            <a:srgbClr val="0E0E12"/>
                          </a:solidFill>
                          <a:latin typeface="Jost"/>
                        </a:defRPr>
                      </a:pPr>
                      <a:r>
                        <a:t>17</a:t>
                      </a:r>
                    </a:p>
                  </a:txBody>
                  <a:tcPr marT="25400" marB="25400">
                    <a:solidFill>
                      <a:srgbClr val="F7F5F0"/>
                    </a:solidFill>
                  </a:tcPr>
                </a:tc>
              </a:tr>
              <a:tr h="502920">
                <a:tc>
                  <a:txBody>
                    <a:bodyPr/>
                    <a:lstStyle/>
                    <a:p>
                      <a:pPr>
                        <a:defRPr sz="900">
                          <a:solidFill>
                            <a:srgbClr val="0E0E12"/>
                          </a:solidFill>
                          <a:latin typeface="Jost"/>
                        </a:defRPr>
                      </a:pPr>
                      <a:r>
                        <a:t>This Tiki Bar Lime Lager from Tarboro Brewing is REALLY tasty! Our friends on the beach liked it, you probably will too. Grab one at The Seahorse #SeahorseBar #TarboroBrewing #Oak…</a:t>
                      </a:r>
                    </a:p>
                  </a:txBody>
                  <a:tcPr marT="25400" marB="25400">
                    <a:solidFill>
                      <a:srgbClr val="FFFFFF"/>
                    </a:solidFill>
                  </a:tcPr>
                </a:tc>
                <a:tc>
                  <a:txBody>
                    <a:bodyPr/>
                    <a:lstStyle/>
                    <a:p>
                      <a:pPr>
                        <a:defRPr sz="900">
                          <a:solidFill>
                            <a:srgbClr val="0E0E12"/>
                          </a:solidFill>
                          <a:latin typeface="Jost"/>
                        </a:defRPr>
                      </a:pPr>
                      <a:r>
                        <a:t>Sep 02</a:t>
                      </a:r>
                    </a:p>
                  </a:txBody>
                  <a:tcPr marT="25400" marB="25400">
                    <a:solidFill>
                      <a:srgbClr val="FFFFFF"/>
                    </a:solidFill>
                  </a:tcPr>
                </a:tc>
                <a:tc>
                  <a:txBody>
                    <a:bodyPr/>
                    <a:lstStyle/>
                    <a:p>
                      <a:pPr>
                        <a:defRPr sz="900">
                          <a:solidFill>
                            <a:srgbClr val="0E0E12"/>
                          </a:solidFill>
                          <a:latin typeface="Jost"/>
                        </a:defRPr>
                      </a:pPr>
                      <a:r>
                        <a:t>544</a:t>
                      </a:r>
                    </a:p>
                  </a:txBody>
                  <a:tcPr marT="25400" marB="25400">
                    <a:solidFill>
                      <a:srgbClr val="FFFFFF"/>
                    </a:solidFill>
                  </a:tcPr>
                </a:tc>
                <a:tc>
                  <a:txBody>
                    <a:bodyPr/>
                    <a:lstStyle/>
                    <a:p>
                      <a:pPr>
                        <a:defRPr sz="900">
                          <a:solidFill>
                            <a:srgbClr val="0E0E12"/>
                          </a:solidFill>
                          <a:latin typeface="Jost"/>
                        </a:defRPr>
                      </a:pPr>
                      <a:r>
                        <a:t>24</a:t>
                      </a:r>
                    </a:p>
                  </a:txBody>
                  <a:tcPr marT="25400" marB="25400">
                    <a:solidFill>
                      <a:srgbClr val="FFFFFF"/>
                    </a:solidFill>
                  </a:tcPr>
                </a:tc>
                <a:tc>
                  <a:txBody>
                    <a:bodyPr/>
                    <a:lstStyle/>
                    <a:p>
                      <a:pPr>
                        <a:defRPr sz="900">
                          <a:solidFill>
                            <a:srgbClr val="0E0E12"/>
                          </a:solidFill>
                          <a:latin typeface="Jost"/>
                        </a:defRPr>
                      </a:pPr>
                      <a:r>
                        <a:t>1</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Asked him what he's catching off the pier. He said rays. Solid answer honestly - two rays were caught right after! #OakIslandNC #SeahorseBar #BeachLife #PierLife #NCcoast</a:t>
                      </a:r>
                    </a:p>
                  </a:txBody>
                  <a:tcPr marT="25400" marB="25400">
                    <a:solidFill>
                      <a:srgbClr val="F7F5F0"/>
                    </a:solidFill>
                  </a:tcPr>
                </a:tc>
                <a:tc>
                  <a:txBody>
                    <a:bodyPr/>
                    <a:lstStyle/>
                    <a:p>
                      <a:pPr>
                        <a:defRPr sz="900">
                          <a:solidFill>
                            <a:srgbClr val="0E0E12"/>
                          </a:solidFill>
                          <a:latin typeface="Jost"/>
                        </a:defRPr>
                      </a:pPr>
                      <a:r>
                        <a:t>Sep 23</a:t>
                      </a:r>
                    </a:p>
                  </a:txBody>
                  <a:tcPr marT="25400" marB="25400">
                    <a:solidFill>
                      <a:srgbClr val="F7F5F0"/>
                    </a:solidFill>
                  </a:tcPr>
                </a:tc>
                <a:tc>
                  <a:txBody>
                    <a:bodyPr/>
                    <a:lstStyle/>
                    <a:p>
                      <a:pPr>
                        <a:defRPr sz="900">
                          <a:solidFill>
                            <a:srgbClr val="0E0E12"/>
                          </a:solidFill>
                          <a:latin typeface="Jost"/>
                        </a:defRPr>
                      </a:pPr>
                      <a:r>
                        <a:t>491</a:t>
                      </a:r>
                    </a:p>
                  </a:txBody>
                  <a:tcPr marT="25400" marB="25400">
                    <a:solidFill>
                      <a:srgbClr val="F7F5F0"/>
                    </a:solidFill>
                  </a:tcPr>
                </a:tc>
                <a:tc>
                  <a:txBody>
                    <a:bodyPr/>
                    <a:lstStyle/>
                    <a:p>
                      <a:pPr>
                        <a:defRPr sz="900">
                          <a:solidFill>
                            <a:srgbClr val="0E0E12"/>
                          </a:solidFill>
                          <a:latin typeface="Jost"/>
                        </a:defRPr>
                      </a:pPr>
                      <a:r>
                        <a:t>23</a:t>
                      </a:r>
                    </a:p>
                  </a:txBody>
                  <a:tcPr marT="25400" marB="25400">
                    <a:solidFill>
                      <a:srgbClr val="F7F5F0"/>
                    </a:solidFill>
                  </a:tcPr>
                </a:tc>
                <a:tc>
                  <a:txBody>
                    <a:bodyPr/>
                    <a:lstStyle/>
                    <a:p>
                      <a:pPr>
                        <a:defRPr sz="900">
                          <a:solidFill>
                            <a:srgbClr val="0E0E12"/>
                          </a:solidFill>
                          <a:latin typeface="Jost"/>
                        </a:defRPr>
                      </a:pPr>
                      <a:r>
                        <a:t>1</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r h="502920">
                <a:tc>
                  <a:txBody>
                    <a:bodyPr/>
                    <a:lstStyle/>
                    <a:p>
                      <a:pPr>
                        <a:defRPr sz="900">
                          <a:solidFill>
                            <a:srgbClr val="0E0E12"/>
                          </a:solidFill>
                          <a:latin typeface="Jost"/>
                        </a:defRPr>
                      </a:pPr>
                      <a:r>
                        <a:t>POV: your favorite band is a family and they're coming back to the pier 🎶 King &amp; Co. and daughter Harmony return to the Seahorse Bar Sunday, Nov 22. Come dance. #OakIslandNC #Live…</a:t>
                      </a:r>
                    </a:p>
                  </a:txBody>
                  <a:tcPr marT="25400" marB="25400">
                    <a:solidFill>
                      <a:srgbClr val="FFFFFF"/>
                    </a:solidFill>
                  </a:tcPr>
                </a:tc>
                <a:tc>
                  <a:txBody>
                    <a:bodyPr/>
                    <a:lstStyle/>
                    <a:p>
                      <a:pPr>
                        <a:defRPr sz="900">
                          <a:solidFill>
                            <a:srgbClr val="0E0E12"/>
                          </a:solidFill>
                          <a:latin typeface="Jost"/>
                        </a:defRPr>
                      </a:pPr>
                      <a:r>
                        <a:t>Sep 30</a:t>
                      </a:r>
                    </a:p>
                  </a:txBody>
                  <a:tcPr marT="25400" marB="25400">
                    <a:solidFill>
                      <a:srgbClr val="FFFFFF"/>
                    </a:solidFill>
                  </a:tcPr>
                </a:tc>
                <a:tc>
                  <a:txBody>
                    <a:bodyPr/>
                    <a:lstStyle/>
                    <a:p>
                      <a:pPr>
                        <a:defRPr sz="900">
                          <a:solidFill>
                            <a:srgbClr val="0E0E12"/>
                          </a:solidFill>
                          <a:latin typeface="Jost"/>
                        </a:defRPr>
                      </a:pPr>
                      <a:r>
                        <a:t>298</a:t>
                      </a:r>
                    </a:p>
                  </a:txBody>
                  <a:tcPr marT="25400" marB="25400">
                    <a:solidFill>
                      <a:srgbClr val="FFFFFF"/>
                    </a:solidFill>
                  </a:tcPr>
                </a:tc>
                <a:tc>
                  <a:txBody>
                    <a:bodyPr/>
                    <a:lstStyle/>
                    <a:p>
                      <a:pPr>
                        <a:defRPr sz="900">
                          <a:solidFill>
                            <a:srgbClr val="0E0E12"/>
                          </a:solidFill>
                          <a:latin typeface="Jost"/>
                        </a:defRPr>
                      </a:pPr>
                      <a:r>
                        <a:t>14</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Miscellaneous Marketing Items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Marketing WINS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Last Month - Goals for August</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p:txBody>
      </p:sp>
      <p:sp>
        <p:nvSpPr>
          <p:cNvPr id="5" name="TextBox 4"/>
          <p:cNvSpPr txBox="1"/>
          <p:nvPr/>
        </p:nvSpPr>
        <p:spPr>
          <a:xfrm>
            <a:off x="5376672" y="2587752"/>
            <a:ext cx="3108960" cy="502920"/>
          </a:xfrm>
          <a:prstGeom prst="rect">
            <a:avLst/>
          </a:prstGeom>
          <a:noFill/>
        </p:spPr>
        <p:txBody>
          <a:bodyPr wrap="square">
            <a:spAutoFit/>
          </a:bodyPr>
          <a:lstStyle/>
          <a:p>
            <a:r>
              <a:rPr sz="1100" i="1">
                <a:solidFill>
                  <a:srgbClr val="3A3845"/>
                </a:solidFill>
                <a:latin typeface="Jost"/>
              </a:rPr>
              <a:t>What else? Goals for Month? 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Next Month - Goals for October</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Restore Instagram posting cadence — down 64% this period (17 vs. 47 posts). Aim for 47+ posts next period.</a:t>
            </a:r>
          </a:p>
          <a:p>
            <a:pPr algn="l" marL="228600" indent="-228600">
              <a:spcAft>
                <a:spcPts val="800"/>
              </a:spcAft>
              <a:buFont typeface="Arial"/>
              <a:buChar char="●"/>
            </a:pPr>
            <a:r>
              <a:rPr sz="1400" b="0">
                <a:solidFill>
                  <a:srgbClr val="0E0E12"/>
                </a:solidFill>
                <a:latin typeface="Jost"/>
              </a:rPr>
              <a:t>Restore TikTok posting cadence — down 33% this period (4 vs. 6 posts). Aim for 6+ posts next period.</a:t>
            </a:r>
          </a:p>
          <a:p>
            <a:pPr algn="l" marL="228600" indent="-228600">
              <a:spcAft>
                <a:spcPts val="800"/>
              </a:spcAft>
              <a:buFont typeface="Arial"/>
              <a:buChar char="●"/>
            </a:pPr>
            <a:r>
              <a:rPr sz="1400" b="0">
                <a:solidFill>
                  <a:srgbClr val="0E0E12"/>
                </a:solidFill>
                <a:latin typeface="Jost"/>
              </a:rPr>
              <a:t>Restore Facebook posting cadence — down 22% this period (25 vs. 32 posts). Aim for 32+ posts next period.</a:t>
            </a:r>
          </a:p>
          <a:p>
            <a:pPr algn="l" marL="228600" indent="-228600">
              <a:spcAft>
                <a:spcPts val="800"/>
              </a:spcAft>
              <a:buFont typeface="Arial"/>
              <a:buChar char="●"/>
            </a:pPr>
            <a:r>
              <a:rPr sz="1400" b="0">
                <a:solidFill>
                  <a:srgbClr val="0E0E12"/>
                </a:solidFill>
                <a:latin typeface="Jost"/>
              </a:rPr>
              <a:t>Close the engagement gap on Facebook — trailing TikTok by 7.4 points (0.00% vs. 7.40%). Borrow whatever content approach is working on TikTok.</a:t>
            </a:r>
          </a:p>
        </p:txBody>
      </p:sp>
      <p:sp>
        <p:nvSpPr>
          <p:cNvPr id="5" name="TextBox 4"/>
          <p:cNvSpPr txBox="1"/>
          <p:nvPr/>
        </p:nvSpPr>
        <p:spPr>
          <a:xfrm>
            <a:off x="5376672" y="2587752"/>
            <a:ext cx="3108960" cy="502920"/>
          </a:xfrm>
          <a:prstGeom prst="rect">
            <a:avLst/>
          </a:prstGeom>
          <a:noFill/>
        </p:spPr>
        <p:txBody>
          <a:bodyPr wrap="square">
            <a:spAutoFit/>
          </a:bodyPr>
          <a:lstStyle/>
          <a:p>
            <a:r>
              <a:rPr sz="1100" i="1">
                <a:solidFill>
                  <a:srgbClr val="3A3845"/>
                </a:solidFill>
                <a:latin typeface="Jost"/>
              </a:rPr>
              <a:t>What else? Goals for Month?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
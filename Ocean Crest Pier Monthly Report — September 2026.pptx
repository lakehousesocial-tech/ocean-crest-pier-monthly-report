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9144000" cy="5138928"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This Period</c:v>
                </c:pt>
              </c:strCache>
            </c:strRef>
          </c:tx>
          <c:spPr>
            <a:ln w="25400">
              <a:solidFill>
                <a:srgbClr val="2D55C9"/>
              </a:solidFill>
            </a:ln>
          </c:spPr>
          <c:marker>
            <c:symbol val="none"/>
          </c:marker>
          <c:cat>
            <c:strRef>
              <c:f>Sheet1!$A$2:$A$31</c:f>
              <c:strCache>
                <c:ptCount val="30"/>
                <c:pt idx="0">
                  <c:v>Day 1</c:v>
                </c:pt>
                <c:pt idx="1">
                  <c:v/>
                </c:pt>
                <c:pt idx="2">
                  <c:v/>
                </c:pt>
                <c:pt idx="3">
                  <c:v/>
                </c:pt>
                <c:pt idx="4">
                  <c:v>Day 5</c:v>
                </c:pt>
                <c:pt idx="5">
                  <c:v/>
                </c:pt>
                <c:pt idx="6">
                  <c:v/>
                </c:pt>
                <c:pt idx="7">
                  <c:v/>
                </c:pt>
                <c:pt idx="8">
                  <c:v/>
                </c:pt>
                <c:pt idx="9">
                  <c:v>Day 10</c:v>
                </c:pt>
                <c:pt idx="10">
                  <c:v/>
                </c:pt>
                <c:pt idx="11">
                  <c:v/>
                </c:pt>
                <c:pt idx="12">
                  <c:v/>
                </c:pt>
                <c:pt idx="13">
                  <c:v/>
                </c:pt>
                <c:pt idx="14">
                  <c:v>Day 15</c:v>
                </c:pt>
                <c:pt idx="15">
                  <c:v/>
                </c:pt>
                <c:pt idx="16">
                  <c:v/>
                </c:pt>
                <c:pt idx="17">
                  <c:v/>
                </c:pt>
                <c:pt idx="18">
                  <c:v/>
                </c:pt>
                <c:pt idx="19">
                  <c:v>Day 20</c:v>
                </c:pt>
                <c:pt idx="20">
                  <c:v/>
                </c:pt>
                <c:pt idx="21">
                  <c:v/>
                </c:pt>
                <c:pt idx="22">
                  <c:v/>
                </c:pt>
                <c:pt idx="23">
                  <c:v/>
                </c:pt>
                <c:pt idx="24">
                  <c:v>Day 25</c:v>
                </c:pt>
                <c:pt idx="25">
                  <c:v/>
                </c:pt>
                <c:pt idx="26">
                  <c:v/>
                </c:pt>
                <c:pt idx="27">
                  <c:v/>
                </c:pt>
                <c:pt idx="28">
                  <c:v/>
                </c:pt>
                <c:pt idx="29">
                  <c:v>Day 30</c:v>
                </c:pt>
              </c:strCache>
            </c:strRef>
          </c:cat>
          <c:val>
            <c:numRef>
              <c:f>Sheet1!$B$2:$B$31</c:f>
              <c:numCache>
                <c:formatCode>General</c:formatCode>
                <c:ptCount val="30"/>
                <c:pt idx="0">
                  <c:v>0</c:v>
                </c:pt>
                <c:pt idx="1">
                  <c:v>428</c:v>
                </c:pt>
                <c:pt idx="2">
                  <c:v>65</c:v>
                </c:pt>
                <c:pt idx="3">
                  <c:v>1201</c:v>
                </c:pt>
                <c:pt idx="4">
                  <c:v>0</c:v>
                </c:pt>
                <c:pt idx="5">
                  <c:v>0</c:v>
                </c:pt>
                <c:pt idx="6">
                  <c:v>360</c:v>
                </c:pt>
                <c:pt idx="7">
                  <c:v>0</c:v>
                </c:pt>
                <c:pt idx="8">
                  <c:v>760</c:v>
                </c:pt>
                <c:pt idx="9">
                  <c:v>0</c:v>
                </c:pt>
                <c:pt idx="10">
                  <c:v>0</c:v>
                </c:pt>
                <c:pt idx="11">
                  <c:v>202</c:v>
                </c:pt>
                <c:pt idx="12">
                  <c:v>0</c:v>
                </c:pt>
                <c:pt idx="13">
                  <c:v>98</c:v>
                </c:pt>
                <c:pt idx="14">
                  <c:v>0</c:v>
                </c:pt>
                <c:pt idx="15">
                  <c:v>2053</c:v>
                </c:pt>
                <c:pt idx="16">
                  <c:v>0</c:v>
                </c:pt>
                <c:pt idx="17">
                  <c:v>588</c:v>
                </c:pt>
                <c:pt idx="18">
                  <c:v>0</c:v>
                </c:pt>
                <c:pt idx="19">
                  <c:v>0</c:v>
                </c:pt>
                <c:pt idx="20">
                  <c:v>0</c:v>
                </c:pt>
                <c:pt idx="21">
                  <c:v>93</c:v>
                </c:pt>
                <c:pt idx="22">
                  <c:v>63</c:v>
                </c:pt>
                <c:pt idx="23">
                  <c:v>240</c:v>
                </c:pt>
                <c:pt idx="24">
                  <c:v>0</c:v>
                </c:pt>
                <c:pt idx="25">
                  <c:v>0</c:v>
                </c:pt>
                <c:pt idx="26">
                  <c:v>0</c:v>
                </c:pt>
                <c:pt idx="27">
                  <c:v>0</c:v>
                </c:pt>
                <c:pt idx="28">
                  <c:v>0</c:v>
                </c:pt>
                <c:pt idx="29">
                  <c:v>6</c:v>
                </c:pt>
              </c:numCache>
            </c:numRef>
          </c:val>
          <c:smooth val="0"/>
        </c:ser>
        <c:ser>
          <c:idx val="1"/>
          <c:order val="1"/>
          <c:tx>
            <c:strRef>
              <c:f>Sheet1!$C$1</c:f>
              <c:strCache>
                <c:ptCount val="1"/>
                <c:pt idx="0">
                  <c:v>Last Period</c:v>
                </c:pt>
              </c:strCache>
            </c:strRef>
          </c:tx>
          <c:spPr>
            <a:ln w="25400">
              <a:solidFill>
                <a:srgbClr val="7A7889"/>
              </a:solidFill>
            </a:ln>
          </c:spPr>
          <c:marker>
            <c:symbol val="none"/>
          </c:marker>
          <c:cat>
            <c:strRef>
              <c:f>Sheet1!$A$2:$A$31</c:f>
              <c:strCache>
                <c:ptCount val="30"/>
                <c:pt idx="0">
                  <c:v>Day 1</c:v>
                </c:pt>
                <c:pt idx="1">
                  <c:v/>
                </c:pt>
                <c:pt idx="2">
                  <c:v/>
                </c:pt>
                <c:pt idx="3">
                  <c:v/>
                </c:pt>
                <c:pt idx="4">
                  <c:v>Day 5</c:v>
                </c:pt>
                <c:pt idx="5">
                  <c:v/>
                </c:pt>
                <c:pt idx="6">
                  <c:v/>
                </c:pt>
                <c:pt idx="7">
                  <c:v/>
                </c:pt>
                <c:pt idx="8">
                  <c:v/>
                </c:pt>
                <c:pt idx="9">
                  <c:v>Day 10</c:v>
                </c:pt>
                <c:pt idx="10">
                  <c:v/>
                </c:pt>
                <c:pt idx="11">
                  <c:v/>
                </c:pt>
                <c:pt idx="12">
                  <c:v/>
                </c:pt>
                <c:pt idx="13">
                  <c:v/>
                </c:pt>
                <c:pt idx="14">
                  <c:v>Day 15</c:v>
                </c:pt>
                <c:pt idx="15">
                  <c:v/>
                </c:pt>
                <c:pt idx="16">
                  <c:v/>
                </c:pt>
                <c:pt idx="17">
                  <c:v/>
                </c:pt>
                <c:pt idx="18">
                  <c:v/>
                </c:pt>
                <c:pt idx="19">
                  <c:v>Day 20</c:v>
                </c:pt>
                <c:pt idx="20">
                  <c:v/>
                </c:pt>
                <c:pt idx="21">
                  <c:v/>
                </c:pt>
                <c:pt idx="22">
                  <c:v/>
                </c:pt>
                <c:pt idx="23">
                  <c:v/>
                </c:pt>
                <c:pt idx="24">
                  <c:v>Day 25</c:v>
                </c:pt>
                <c:pt idx="25">
                  <c:v/>
                </c:pt>
                <c:pt idx="26">
                  <c:v/>
                </c:pt>
                <c:pt idx="27">
                  <c:v/>
                </c:pt>
                <c:pt idx="28">
                  <c:v/>
                </c:pt>
                <c:pt idx="29">
                  <c:v>Day 30</c:v>
                </c:pt>
              </c:strCache>
            </c:strRef>
          </c:cat>
          <c:val>
            <c:numRef>
              <c:f>Sheet1!$C$2:$C$31</c:f>
              <c:numCache>
                <c:formatCode>General</c:formatCode>
                <c:ptCount val="30"/>
                <c:pt idx="0">
                  <c:v>0</c:v>
                </c:pt>
                <c:pt idx="1">
                  <c:v>0</c:v>
                </c:pt>
                <c:pt idx="2">
                  <c:v>0</c:v>
                </c:pt>
                <c:pt idx="3">
                  <c:v>504</c:v>
                </c:pt>
                <c:pt idx="4">
                  <c:v>178</c:v>
                </c:pt>
                <c:pt idx="5">
                  <c:v>0</c:v>
                </c:pt>
                <c:pt idx="6">
                  <c:v>378</c:v>
                </c:pt>
                <c:pt idx="7">
                  <c:v>0</c:v>
                </c:pt>
                <c:pt idx="8">
                  <c:v>0</c:v>
                </c:pt>
                <c:pt idx="9">
                  <c:v>56</c:v>
                </c:pt>
                <c:pt idx="10">
                  <c:v>151</c:v>
                </c:pt>
                <c:pt idx="11">
                  <c:v>51</c:v>
                </c:pt>
                <c:pt idx="12">
                  <c:v>223</c:v>
                </c:pt>
                <c:pt idx="13">
                  <c:v>360</c:v>
                </c:pt>
                <c:pt idx="14">
                  <c:v>117</c:v>
                </c:pt>
                <c:pt idx="15">
                  <c:v>76</c:v>
                </c:pt>
                <c:pt idx="16">
                  <c:v>77</c:v>
                </c:pt>
                <c:pt idx="17">
                  <c:v>270</c:v>
                </c:pt>
                <c:pt idx="18">
                  <c:v>71</c:v>
                </c:pt>
                <c:pt idx="19">
                  <c:v>236</c:v>
                </c:pt>
                <c:pt idx="20">
                  <c:v>0</c:v>
                </c:pt>
                <c:pt idx="21">
                  <c:v>422</c:v>
                </c:pt>
                <c:pt idx="22">
                  <c:v>0</c:v>
                </c:pt>
                <c:pt idx="23">
                  <c:v>720</c:v>
                </c:pt>
                <c:pt idx="24">
                  <c:v>0</c:v>
                </c:pt>
                <c:pt idx="25">
                  <c:v>550</c:v>
                </c:pt>
                <c:pt idx="26">
                  <c:v>0</c:v>
                </c:pt>
                <c:pt idx="27">
                  <c:v>0</c:v>
                </c:pt>
                <c:pt idx="28">
                  <c:v>0</c:v>
                </c:pt>
                <c:pt idx="29">
                  <c:v>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8D3C8"/>
            </a:solidFill>
          </a:ln>
        </c:spPr>
        <c:txPr>
          <a:bodyPr/>
          <a:lstStyle/>
          <a:p>
            <a:pPr>
              <a:defRPr sz="900">
                <a:solidFill>
                  <a:srgbClr val="3A3845"/>
                </a:solidFill>
                <a:latin typeface="Jost"/>
              </a:defRPr>
            </a:pPr>
          </a:p>
        </c:txPr>
        <c:crossAx val="2140495176"/>
        <c:crosses val="autoZero"/>
        <c:auto val="1"/>
        <c:lblAlgn val="ctr"/>
        <c:lblOffset val="100"/>
        <c:noMultiLvlLbl val="0"/>
      </c:catAx>
      <c:valAx>
        <c:axId val="2140495176"/>
        <c:scaling/>
        <c:delete val="0"/>
        <c:axPos val="l"/>
        <c:majorGridlines>
          <c:spPr>
            <a:ln w="6350">
              <a:solidFill>
                <a:srgbClr val="D8D3C8"/>
              </a:solidFill>
            </a:ln>
          </c:spPr>
        </c:majorGridlines>
        <c:majorTickMark val="out"/>
        <c:minorTickMark val="none"/>
        <c:tickLblPos val="nextTo"/>
        <c:spPr>
          <a:ln>
            <a:noFill/>
          </a:ln>
        </c:spPr>
        <c:txPr>
          <a:bodyPr/>
          <a:lstStyle/>
          <a:p>
            <a:pPr>
              <a:defRPr sz="900">
                <a:solidFill>
                  <a:srgbClr val="3A3845"/>
                </a:solidFill>
                <a:latin typeface="Jost"/>
              </a:defRPr>
            </a:pPr>
          </a:p>
        </c:txPr>
        <c:crossAx val="2118791784"/>
        <c:crosses val="autoZero"/>
      </c:valAx>
    </c:plotArea>
    <c:legend>
      <c:legendPos val="t"/>
      <c:layout/>
      <c:overlay val="0"/>
      <c:txPr>
        <a:bodyPr/>
        <a:lstStyle/>
        <a:p>
          <a:pPr>
            <a:defRPr sz="900">
              <a:solidFill>
                <a:srgbClr val="3A3845"/>
              </a:solidFill>
              <a:latin typeface="Jost"/>
            </a:defRPr>
          </a:pPr>
        </a:p>
      </c:txPr>
    </c:legend>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This Period</c:v>
                </c:pt>
              </c:strCache>
            </c:strRef>
          </c:tx>
          <c:spPr>
            <a:ln w="25400">
              <a:solidFill>
                <a:srgbClr val="2D55C9"/>
              </a:solidFill>
            </a:ln>
          </c:spPr>
          <c:marker>
            <c:symbol val="none"/>
          </c:marker>
          <c:cat>
            <c:strRef>
              <c:f>Sheet1!$A$2:$A$31</c:f>
              <c:strCache>
                <c:ptCount val="30"/>
                <c:pt idx="0">
                  <c:v>Day 1</c:v>
                </c:pt>
                <c:pt idx="1">
                  <c:v/>
                </c:pt>
                <c:pt idx="2">
                  <c:v/>
                </c:pt>
                <c:pt idx="3">
                  <c:v/>
                </c:pt>
                <c:pt idx="4">
                  <c:v>Day 5</c:v>
                </c:pt>
                <c:pt idx="5">
                  <c:v/>
                </c:pt>
                <c:pt idx="6">
                  <c:v/>
                </c:pt>
                <c:pt idx="7">
                  <c:v/>
                </c:pt>
                <c:pt idx="8">
                  <c:v/>
                </c:pt>
                <c:pt idx="9">
                  <c:v>Day 10</c:v>
                </c:pt>
                <c:pt idx="10">
                  <c:v/>
                </c:pt>
                <c:pt idx="11">
                  <c:v/>
                </c:pt>
                <c:pt idx="12">
                  <c:v/>
                </c:pt>
                <c:pt idx="13">
                  <c:v/>
                </c:pt>
                <c:pt idx="14">
                  <c:v>Day 15</c:v>
                </c:pt>
                <c:pt idx="15">
                  <c:v/>
                </c:pt>
                <c:pt idx="16">
                  <c:v/>
                </c:pt>
                <c:pt idx="17">
                  <c:v/>
                </c:pt>
                <c:pt idx="18">
                  <c:v/>
                </c:pt>
                <c:pt idx="19">
                  <c:v>Day 20</c:v>
                </c:pt>
                <c:pt idx="20">
                  <c:v/>
                </c:pt>
                <c:pt idx="21">
                  <c:v/>
                </c:pt>
                <c:pt idx="22">
                  <c:v/>
                </c:pt>
                <c:pt idx="23">
                  <c:v/>
                </c:pt>
                <c:pt idx="24">
                  <c:v>Day 25</c:v>
                </c:pt>
                <c:pt idx="25">
                  <c:v/>
                </c:pt>
                <c:pt idx="26">
                  <c:v/>
                </c:pt>
                <c:pt idx="27">
                  <c:v/>
                </c:pt>
                <c:pt idx="28">
                  <c:v/>
                </c:pt>
                <c:pt idx="29">
                  <c:v>Day 30</c:v>
                </c:pt>
              </c:strCache>
            </c:strRef>
          </c:cat>
          <c:val>
            <c:numRef>
              <c:f>Sheet1!$B$2:$B$31</c:f>
              <c:numCache>
                <c:formatCode>General</c:formatCode>
                <c:ptCount val="30"/>
                <c:pt idx="0">
                  <c:v>2481</c:v>
                </c:pt>
                <c:pt idx="1">
                  <c:v>2078</c:v>
                </c:pt>
                <c:pt idx="2">
                  <c:v>0</c:v>
                </c:pt>
                <c:pt idx="3">
                  <c:v>10380</c:v>
                </c:pt>
                <c:pt idx="4">
                  <c:v>0</c:v>
                </c:pt>
                <c:pt idx="5">
                  <c:v>0</c:v>
                </c:pt>
                <c:pt idx="6">
                  <c:v>0</c:v>
                </c:pt>
                <c:pt idx="7">
                  <c:v>0</c:v>
                </c:pt>
                <c:pt idx="8">
                  <c:v>9293</c:v>
                </c:pt>
                <c:pt idx="9">
                  <c:v>0</c:v>
                </c:pt>
                <c:pt idx="10">
                  <c:v>0</c:v>
                </c:pt>
                <c:pt idx="11">
                  <c:v>1728</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numCache>
            </c:numRef>
          </c:val>
          <c:smooth val="0"/>
        </c:ser>
        <c:ser>
          <c:idx val="1"/>
          <c:order val="1"/>
          <c:tx>
            <c:strRef>
              <c:f>Sheet1!$C$1</c:f>
              <c:strCache>
                <c:ptCount val="1"/>
                <c:pt idx="0">
                  <c:v>Last Period</c:v>
                </c:pt>
              </c:strCache>
            </c:strRef>
          </c:tx>
          <c:spPr>
            <a:ln w="25400">
              <a:solidFill>
                <a:srgbClr val="7A7889"/>
              </a:solidFill>
            </a:ln>
          </c:spPr>
          <c:marker>
            <c:symbol val="none"/>
          </c:marker>
          <c:cat>
            <c:strRef>
              <c:f>Sheet1!$A$2:$A$31</c:f>
              <c:strCache>
                <c:ptCount val="30"/>
                <c:pt idx="0">
                  <c:v>Day 1</c:v>
                </c:pt>
                <c:pt idx="1">
                  <c:v/>
                </c:pt>
                <c:pt idx="2">
                  <c:v/>
                </c:pt>
                <c:pt idx="3">
                  <c:v/>
                </c:pt>
                <c:pt idx="4">
                  <c:v>Day 5</c:v>
                </c:pt>
                <c:pt idx="5">
                  <c:v/>
                </c:pt>
                <c:pt idx="6">
                  <c:v/>
                </c:pt>
                <c:pt idx="7">
                  <c:v/>
                </c:pt>
                <c:pt idx="8">
                  <c:v/>
                </c:pt>
                <c:pt idx="9">
                  <c:v>Day 10</c:v>
                </c:pt>
                <c:pt idx="10">
                  <c:v/>
                </c:pt>
                <c:pt idx="11">
                  <c:v/>
                </c:pt>
                <c:pt idx="12">
                  <c:v/>
                </c:pt>
                <c:pt idx="13">
                  <c:v/>
                </c:pt>
                <c:pt idx="14">
                  <c:v>Day 15</c:v>
                </c:pt>
                <c:pt idx="15">
                  <c:v/>
                </c:pt>
                <c:pt idx="16">
                  <c:v/>
                </c:pt>
                <c:pt idx="17">
                  <c:v/>
                </c:pt>
                <c:pt idx="18">
                  <c:v/>
                </c:pt>
                <c:pt idx="19">
                  <c:v>Day 20</c:v>
                </c:pt>
                <c:pt idx="20">
                  <c:v/>
                </c:pt>
                <c:pt idx="21">
                  <c:v/>
                </c:pt>
                <c:pt idx="22">
                  <c:v/>
                </c:pt>
                <c:pt idx="23">
                  <c:v/>
                </c:pt>
                <c:pt idx="24">
                  <c:v>Day 25</c:v>
                </c:pt>
                <c:pt idx="25">
                  <c:v/>
                </c:pt>
                <c:pt idx="26">
                  <c:v/>
                </c:pt>
                <c:pt idx="27">
                  <c:v/>
                </c:pt>
                <c:pt idx="28">
                  <c:v/>
                </c:pt>
                <c:pt idx="29">
                  <c:v>Day 30</c:v>
                </c:pt>
              </c:strCache>
            </c:strRef>
          </c:cat>
          <c:val>
            <c:numRef>
              <c:f>Sheet1!$C$2:$C$31</c:f>
              <c:numCache>
                <c:formatCode>General</c:formatCode>
                <c:ptCount val="30"/>
                <c:pt idx="0">
                  <c:v>0</c:v>
                </c:pt>
                <c:pt idx="1">
                  <c:v>0</c:v>
                </c:pt>
                <c:pt idx="2">
                  <c:v>0</c:v>
                </c:pt>
                <c:pt idx="3">
                  <c:v>9047</c:v>
                </c:pt>
                <c:pt idx="4">
                  <c:v>0</c:v>
                </c:pt>
                <c:pt idx="5">
                  <c:v>0</c:v>
                </c:pt>
                <c:pt idx="6">
                  <c:v>2470</c:v>
                </c:pt>
                <c:pt idx="7">
                  <c:v>0</c:v>
                </c:pt>
                <c:pt idx="8">
                  <c:v>0</c:v>
                </c:pt>
                <c:pt idx="9">
                  <c:v>0</c:v>
                </c:pt>
                <c:pt idx="10">
                  <c:v>0</c:v>
                </c:pt>
                <c:pt idx="11">
                  <c:v>0</c:v>
                </c:pt>
                <c:pt idx="12">
                  <c:v>0</c:v>
                </c:pt>
                <c:pt idx="13">
                  <c:v>1936</c:v>
                </c:pt>
                <c:pt idx="14">
                  <c:v>0</c:v>
                </c:pt>
                <c:pt idx="15">
                  <c:v>0</c:v>
                </c:pt>
                <c:pt idx="16">
                  <c:v>0</c:v>
                </c:pt>
                <c:pt idx="17">
                  <c:v>4181</c:v>
                </c:pt>
                <c:pt idx="18">
                  <c:v>0</c:v>
                </c:pt>
                <c:pt idx="19">
                  <c:v>0</c:v>
                </c:pt>
                <c:pt idx="20">
                  <c:v>0</c:v>
                </c:pt>
                <c:pt idx="21">
                  <c:v>15368</c:v>
                </c:pt>
                <c:pt idx="22">
                  <c:v>0</c:v>
                </c:pt>
                <c:pt idx="23">
                  <c:v>2622</c:v>
                </c:pt>
                <c:pt idx="24">
                  <c:v>0</c:v>
                </c:pt>
                <c:pt idx="25">
                  <c:v>7649</c:v>
                </c:pt>
                <c:pt idx="26">
                  <c:v>6344</c:v>
                </c:pt>
                <c:pt idx="27">
                  <c:v>3438</c:v>
                </c:pt>
                <c:pt idx="28">
                  <c:v>4136</c:v>
                </c:pt>
                <c:pt idx="29">
                  <c:v>2992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8D3C8"/>
            </a:solidFill>
          </a:ln>
        </c:spPr>
        <c:txPr>
          <a:bodyPr/>
          <a:lstStyle/>
          <a:p>
            <a:pPr>
              <a:defRPr sz="900">
                <a:solidFill>
                  <a:srgbClr val="3A3845"/>
                </a:solidFill>
                <a:latin typeface="Jost"/>
              </a:defRPr>
            </a:pPr>
          </a:p>
        </c:txPr>
        <c:crossAx val="2140495176"/>
        <c:crosses val="autoZero"/>
        <c:auto val="1"/>
        <c:lblAlgn val="ctr"/>
        <c:lblOffset val="100"/>
        <c:noMultiLvlLbl val="0"/>
      </c:catAx>
      <c:valAx>
        <c:axId val="2140495176"/>
        <c:scaling/>
        <c:delete val="0"/>
        <c:axPos val="l"/>
        <c:majorGridlines>
          <c:spPr>
            <a:ln w="6350">
              <a:solidFill>
                <a:srgbClr val="D8D3C8"/>
              </a:solidFill>
            </a:ln>
          </c:spPr>
        </c:majorGridlines>
        <c:majorTickMark val="out"/>
        <c:minorTickMark val="none"/>
        <c:tickLblPos val="nextTo"/>
        <c:spPr>
          <a:ln>
            <a:noFill/>
          </a:ln>
        </c:spPr>
        <c:txPr>
          <a:bodyPr/>
          <a:lstStyle/>
          <a:p>
            <a:pPr>
              <a:defRPr sz="900">
                <a:solidFill>
                  <a:srgbClr val="3A3845"/>
                </a:solidFill>
                <a:latin typeface="Jost"/>
              </a:defRPr>
            </a:pPr>
          </a:p>
        </c:txPr>
        <c:crossAx val="2118791784"/>
        <c:crosses val="autoZero"/>
      </c:valAx>
    </c:plotArea>
    <c:legend>
      <c:legendPos val="t"/>
      <c:layout/>
      <c:overlay val="0"/>
      <c:txPr>
        <a:bodyPr/>
        <a:lstStyle/>
        <a:p>
          <a:pPr>
            <a:defRPr sz="900">
              <a:solidFill>
                <a:srgbClr val="3A3845"/>
              </a:solidFill>
              <a:latin typeface="Jost"/>
            </a:defRPr>
          </a:pPr>
        </a:p>
      </c:txPr>
    </c:legend>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This Period</c:v>
                </c:pt>
              </c:strCache>
            </c:strRef>
          </c:tx>
          <c:spPr>
            <a:ln w="25400">
              <a:solidFill>
                <a:srgbClr val="2D55C9"/>
              </a:solidFill>
            </a:ln>
          </c:spPr>
          <c:marker>
            <c:symbol val="none"/>
          </c:marker>
          <c:cat>
            <c:strRef>
              <c:f>Sheet1!$A$2:$A$31</c:f>
              <c:strCache>
                <c:ptCount val="30"/>
                <c:pt idx="0">
                  <c:v>Day 1</c:v>
                </c:pt>
                <c:pt idx="1">
                  <c:v/>
                </c:pt>
                <c:pt idx="2">
                  <c:v/>
                </c:pt>
                <c:pt idx="3">
                  <c:v/>
                </c:pt>
                <c:pt idx="4">
                  <c:v>Day 5</c:v>
                </c:pt>
                <c:pt idx="5">
                  <c:v/>
                </c:pt>
                <c:pt idx="6">
                  <c:v/>
                </c:pt>
                <c:pt idx="7">
                  <c:v/>
                </c:pt>
                <c:pt idx="8">
                  <c:v/>
                </c:pt>
                <c:pt idx="9">
                  <c:v>Day 10</c:v>
                </c:pt>
                <c:pt idx="10">
                  <c:v/>
                </c:pt>
                <c:pt idx="11">
                  <c:v/>
                </c:pt>
                <c:pt idx="12">
                  <c:v/>
                </c:pt>
                <c:pt idx="13">
                  <c:v/>
                </c:pt>
                <c:pt idx="14">
                  <c:v>Day 15</c:v>
                </c:pt>
                <c:pt idx="15">
                  <c:v/>
                </c:pt>
                <c:pt idx="16">
                  <c:v/>
                </c:pt>
                <c:pt idx="17">
                  <c:v/>
                </c:pt>
                <c:pt idx="18">
                  <c:v/>
                </c:pt>
                <c:pt idx="19">
                  <c:v>Day 20</c:v>
                </c:pt>
                <c:pt idx="20">
                  <c:v/>
                </c:pt>
                <c:pt idx="21">
                  <c:v/>
                </c:pt>
                <c:pt idx="22">
                  <c:v/>
                </c:pt>
                <c:pt idx="23">
                  <c:v/>
                </c:pt>
                <c:pt idx="24">
                  <c:v>Day 25</c:v>
                </c:pt>
                <c:pt idx="25">
                  <c:v/>
                </c:pt>
                <c:pt idx="26">
                  <c:v/>
                </c:pt>
                <c:pt idx="27">
                  <c:v/>
                </c:pt>
                <c:pt idx="28">
                  <c:v/>
                </c:pt>
                <c:pt idx="29">
                  <c:v>Day 30</c:v>
                </c:pt>
              </c:strCache>
            </c:strRef>
          </c:cat>
          <c:val>
            <c:numRef>
              <c:f>Sheet1!$B$2:$B$31</c:f>
              <c:numCache>
                <c:formatCode>General</c:formatCode>
                <c:ptCount val="30"/>
                <c:pt idx="0">
                  <c:v>0</c:v>
                </c:pt>
                <c:pt idx="1">
                  <c:v>544</c:v>
                </c:pt>
                <c:pt idx="2">
                  <c:v>0</c:v>
                </c:pt>
                <c:pt idx="3">
                  <c:v>0</c:v>
                </c:pt>
                <c:pt idx="4">
                  <c:v>0</c:v>
                </c:pt>
                <c:pt idx="5">
                  <c:v>0</c:v>
                </c:pt>
                <c:pt idx="6">
                  <c:v>0</c:v>
                </c:pt>
                <c:pt idx="7">
                  <c:v>0</c:v>
                </c:pt>
                <c:pt idx="8">
                  <c:v>0</c:v>
                </c:pt>
                <c:pt idx="9">
                  <c:v>0</c:v>
                </c:pt>
                <c:pt idx="10">
                  <c:v>0</c:v>
                </c:pt>
                <c:pt idx="11">
                  <c:v>0</c:v>
                </c:pt>
                <c:pt idx="12">
                  <c:v>0</c:v>
                </c:pt>
                <c:pt idx="13">
                  <c:v>0</c:v>
                </c:pt>
                <c:pt idx="14">
                  <c:v>0</c:v>
                </c:pt>
                <c:pt idx="15">
                  <c:v>3913</c:v>
                </c:pt>
                <c:pt idx="16">
                  <c:v>0</c:v>
                </c:pt>
                <c:pt idx="17">
                  <c:v>0</c:v>
                </c:pt>
                <c:pt idx="18">
                  <c:v>0</c:v>
                </c:pt>
                <c:pt idx="19">
                  <c:v>0</c:v>
                </c:pt>
                <c:pt idx="20">
                  <c:v>0</c:v>
                </c:pt>
                <c:pt idx="21">
                  <c:v>0</c:v>
                </c:pt>
                <c:pt idx="22">
                  <c:v>491</c:v>
                </c:pt>
                <c:pt idx="23">
                  <c:v>0</c:v>
                </c:pt>
                <c:pt idx="24">
                  <c:v>0</c:v>
                </c:pt>
                <c:pt idx="25">
                  <c:v>0</c:v>
                </c:pt>
                <c:pt idx="26">
                  <c:v>0</c:v>
                </c:pt>
                <c:pt idx="27">
                  <c:v>0</c:v>
                </c:pt>
                <c:pt idx="28">
                  <c:v>0</c:v>
                </c:pt>
                <c:pt idx="29">
                  <c:v>298</c:v>
                </c:pt>
              </c:numCache>
            </c:numRef>
          </c:val>
          <c:smooth val="0"/>
        </c:ser>
        <c:ser>
          <c:idx val="1"/>
          <c:order val="1"/>
          <c:tx>
            <c:strRef>
              <c:f>Sheet1!$C$1</c:f>
              <c:strCache>
                <c:ptCount val="1"/>
                <c:pt idx="0">
                  <c:v>Last Period</c:v>
                </c:pt>
              </c:strCache>
            </c:strRef>
          </c:tx>
          <c:spPr>
            <a:ln w="25400">
              <a:solidFill>
                <a:srgbClr val="7A7889"/>
              </a:solidFill>
            </a:ln>
          </c:spPr>
          <c:marker>
            <c:symbol val="none"/>
          </c:marker>
          <c:cat>
            <c:strRef>
              <c:f>Sheet1!$A$2:$A$31</c:f>
              <c:strCache>
                <c:ptCount val="30"/>
                <c:pt idx="0">
                  <c:v>Day 1</c:v>
                </c:pt>
                <c:pt idx="1">
                  <c:v/>
                </c:pt>
                <c:pt idx="2">
                  <c:v/>
                </c:pt>
                <c:pt idx="3">
                  <c:v/>
                </c:pt>
                <c:pt idx="4">
                  <c:v>Day 5</c:v>
                </c:pt>
                <c:pt idx="5">
                  <c:v/>
                </c:pt>
                <c:pt idx="6">
                  <c:v/>
                </c:pt>
                <c:pt idx="7">
                  <c:v/>
                </c:pt>
                <c:pt idx="8">
                  <c:v/>
                </c:pt>
                <c:pt idx="9">
                  <c:v>Day 10</c:v>
                </c:pt>
                <c:pt idx="10">
                  <c:v/>
                </c:pt>
                <c:pt idx="11">
                  <c:v/>
                </c:pt>
                <c:pt idx="12">
                  <c:v/>
                </c:pt>
                <c:pt idx="13">
                  <c:v/>
                </c:pt>
                <c:pt idx="14">
                  <c:v>Day 15</c:v>
                </c:pt>
                <c:pt idx="15">
                  <c:v/>
                </c:pt>
                <c:pt idx="16">
                  <c:v/>
                </c:pt>
                <c:pt idx="17">
                  <c:v/>
                </c:pt>
                <c:pt idx="18">
                  <c:v/>
                </c:pt>
                <c:pt idx="19">
                  <c:v>Day 20</c:v>
                </c:pt>
                <c:pt idx="20">
                  <c:v/>
                </c:pt>
                <c:pt idx="21">
                  <c:v/>
                </c:pt>
                <c:pt idx="22">
                  <c:v/>
                </c:pt>
                <c:pt idx="23">
                  <c:v/>
                </c:pt>
                <c:pt idx="24">
                  <c:v>Day 25</c:v>
                </c:pt>
                <c:pt idx="25">
                  <c:v/>
                </c:pt>
                <c:pt idx="26">
                  <c:v/>
                </c:pt>
                <c:pt idx="27">
                  <c:v/>
                </c:pt>
                <c:pt idx="28">
                  <c:v/>
                </c:pt>
                <c:pt idx="29">
                  <c:v>Day 30</c:v>
                </c:pt>
              </c:strCache>
            </c:strRef>
          </c:cat>
          <c:val>
            <c:numRef>
              <c:f>Sheet1!$C$2:$C$31</c:f>
              <c:numCache>
                <c:formatCode>General</c:formatCode>
                <c:ptCount val="30"/>
                <c:pt idx="0">
                  <c:v>0</c:v>
                </c:pt>
                <c:pt idx="1">
                  <c:v>0</c:v>
                </c:pt>
                <c:pt idx="2">
                  <c:v>0</c:v>
                </c:pt>
                <c:pt idx="3">
                  <c:v>0</c:v>
                </c:pt>
                <c:pt idx="4">
                  <c:v>0</c:v>
                </c:pt>
                <c:pt idx="5">
                  <c:v>0</c:v>
                </c:pt>
                <c:pt idx="6">
                  <c:v>0</c:v>
                </c:pt>
                <c:pt idx="7">
                  <c:v>0</c:v>
                </c:pt>
                <c:pt idx="8">
                  <c:v>0</c:v>
                </c:pt>
                <c:pt idx="9">
                  <c:v>0</c:v>
                </c:pt>
                <c:pt idx="10">
                  <c:v>0</c:v>
                </c:pt>
                <c:pt idx="11">
                  <c:v>0</c:v>
                </c:pt>
                <c:pt idx="12">
                  <c:v>0</c:v>
                </c:pt>
                <c:pt idx="13">
                  <c:v>352</c:v>
                </c:pt>
                <c:pt idx="14">
                  <c:v>0</c:v>
                </c:pt>
                <c:pt idx="15">
                  <c:v>0</c:v>
                </c:pt>
                <c:pt idx="16">
                  <c:v>0</c:v>
                </c:pt>
                <c:pt idx="17">
                  <c:v>604</c:v>
                </c:pt>
                <c:pt idx="18">
                  <c:v>0</c:v>
                </c:pt>
                <c:pt idx="19">
                  <c:v>335</c:v>
                </c:pt>
                <c:pt idx="20">
                  <c:v>0</c:v>
                </c:pt>
                <c:pt idx="21">
                  <c:v>742</c:v>
                </c:pt>
                <c:pt idx="22">
                  <c:v>0</c:v>
                </c:pt>
                <c:pt idx="23">
                  <c:v>698</c:v>
                </c:pt>
                <c:pt idx="24">
                  <c:v>0</c:v>
                </c:pt>
                <c:pt idx="25">
                  <c:v>825</c:v>
                </c:pt>
                <c:pt idx="26">
                  <c:v>0</c:v>
                </c:pt>
                <c:pt idx="27">
                  <c:v>0</c:v>
                </c:pt>
                <c:pt idx="28">
                  <c:v>0</c:v>
                </c:pt>
                <c:pt idx="29">
                  <c:v>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8D3C8"/>
            </a:solidFill>
          </a:ln>
        </c:spPr>
        <c:txPr>
          <a:bodyPr/>
          <a:lstStyle/>
          <a:p>
            <a:pPr>
              <a:defRPr sz="900">
                <a:solidFill>
                  <a:srgbClr val="3A3845"/>
                </a:solidFill>
                <a:latin typeface="Jost"/>
              </a:defRPr>
            </a:pPr>
          </a:p>
        </c:txPr>
        <c:crossAx val="2140495176"/>
        <c:crosses val="autoZero"/>
        <c:auto val="1"/>
        <c:lblAlgn val="ctr"/>
        <c:lblOffset val="100"/>
        <c:noMultiLvlLbl val="0"/>
      </c:catAx>
      <c:valAx>
        <c:axId val="2140495176"/>
        <c:scaling/>
        <c:delete val="0"/>
        <c:axPos val="l"/>
        <c:majorGridlines>
          <c:spPr>
            <a:ln w="6350">
              <a:solidFill>
                <a:srgbClr val="D8D3C8"/>
              </a:solidFill>
            </a:ln>
          </c:spPr>
        </c:majorGridlines>
        <c:majorTickMark val="out"/>
        <c:minorTickMark val="none"/>
        <c:tickLblPos val="nextTo"/>
        <c:spPr>
          <a:ln>
            <a:noFill/>
          </a:ln>
        </c:spPr>
        <c:txPr>
          <a:bodyPr/>
          <a:lstStyle/>
          <a:p>
            <a:pPr>
              <a:defRPr sz="900">
                <a:solidFill>
                  <a:srgbClr val="3A3845"/>
                </a:solidFill>
                <a:latin typeface="Jost"/>
              </a:defRPr>
            </a:pPr>
          </a:p>
        </c:txPr>
        <c:crossAx val="2118791784"/>
        <c:crosses val="autoZero"/>
      </c:valAx>
    </c:plotArea>
    <c:legend>
      <c:legendPos val="t"/>
      <c:layout/>
      <c:overlay val="0"/>
      <c:txPr>
        <a:bodyPr/>
        <a:lstStyle/>
        <a:p>
          <a:pPr>
            <a:defRPr sz="900">
              <a:solidFill>
                <a:srgbClr val="3A3845"/>
              </a:solidFill>
              <a:latin typeface="Jost"/>
            </a:defRPr>
          </a:pPr>
        </a:p>
      </c:txPr>
    </c:legend>
    <c:plotVisOnly val="1"/>
    <c:dispBlanksAs val="gap"/>
    <c:showDLblsOverMax val="0"/>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1078992" y="1463040"/>
            <a:ext cx="6986016" cy="1691640"/>
          </a:xfrm>
          <a:prstGeom prst="rect">
            <a:avLst/>
          </a:prstGeom>
          <a:noFill/>
        </p:spPr>
        <p:txBody>
          <a:bodyPr wrap="square">
            <a:spAutoFit/>
          </a:bodyPr>
          <a:lstStyle/>
          <a:p>
            <a:pPr algn="ctr"/>
            <a:r>
              <a:rPr sz="4800" b="1">
                <a:solidFill>
                  <a:srgbClr val="1A3A8F"/>
                </a:solidFill>
                <a:latin typeface="Cormorant Garamond"/>
              </a:rPr>
              <a:t>Monthly Marketing Report</a:t>
            </a:r>
          </a:p>
        </p:txBody>
      </p:sp>
      <p:cxnSp>
        <p:nvCxnSpPr>
          <p:cNvPr id="3" name="Connector 2"/>
          <p:cNvCxnSpPr/>
          <p:nvPr/>
        </p:nvCxnSpPr>
        <p:spPr>
          <a:xfrm>
            <a:off x="3657600" y="3200400"/>
            <a:ext cx="1828800" cy="0"/>
          </a:xfrm>
          <a:prstGeom prst="line">
            <a:avLst/>
          </a:prstGeom>
          <a:ln w="9525">
            <a:solidFill>
              <a:srgbClr val="C8A84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3465576" y="1207008"/>
            <a:ext cx="2212848" cy="438912"/>
          </a:xfrm>
          <a:prstGeom prst="rect">
            <a:avLst/>
          </a:prstGeom>
          <a:noFill/>
        </p:spPr>
        <p:txBody>
          <a:bodyPr wrap="none">
            <a:spAutoFit/>
          </a:bodyPr>
          <a:lstStyle/>
          <a:p>
            <a:pPr algn="ctr"/>
            <a:r>
              <a:rPr sz="1300">
                <a:solidFill>
                  <a:srgbClr val="3A3845"/>
                </a:solidFill>
                <a:latin typeface="Jost"/>
              </a:rPr>
              <a:t>Ocean Crest Pier</a:t>
            </a:r>
          </a:p>
        </p:txBody>
      </p:sp>
      <p:sp>
        <p:nvSpPr>
          <p:cNvPr id="5" name="TextBox 4"/>
          <p:cNvSpPr txBox="1"/>
          <p:nvPr/>
        </p:nvSpPr>
        <p:spPr>
          <a:xfrm>
            <a:off x="3950208" y="3291840"/>
            <a:ext cx="1234440" cy="457200"/>
          </a:xfrm>
          <a:prstGeom prst="rect">
            <a:avLst/>
          </a:prstGeom>
          <a:noFill/>
        </p:spPr>
        <p:txBody>
          <a:bodyPr wrap="none">
            <a:spAutoFit/>
          </a:bodyPr>
          <a:lstStyle/>
          <a:p>
            <a:pPr algn="ctr"/>
            <a:r>
              <a:rPr sz="1800" b="1">
                <a:solidFill>
                  <a:srgbClr val="C8A84B"/>
                </a:solidFill>
                <a:latin typeface="Jost"/>
              </a:rPr>
              <a:t>September</a:t>
            </a:r>
          </a:p>
        </p:txBody>
      </p:sp>
      <p:sp>
        <p:nvSpPr>
          <p:cNvPr id="6" name="TextBox 5"/>
          <p:cNvSpPr txBox="1"/>
          <p:nvPr/>
        </p:nvSpPr>
        <p:spPr>
          <a:xfrm>
            <a:off x="246888" y="3922776"/>
            <a:ext cx="2212848" cy="438912"/>
          </a:xfrm>
          <a:prstGeom prst="rect">
            <a:avLst/>
          </a:prstGeom>
          <a:noFill/>
        </p:spPr>
        <p:txBody>
          <a:bodyPr wrap="none">
            <a:spAutoFit/>
          </a:bodyPr>
          <a:lstStyle/>
          <a:p>
            <a:pPr algn="ctr"/>
            <a:r>
              <a:rPr sz="1300" b="1">
                <a:solidFill>
                  <a:srgbClr val="3A3845"/>
                </a:solidFill>
                <a:latin typeface="Jost"/>
              </a:rPr>
              <a:t>Content Link:</a:t>
            </a:r>
          </a:p>
        </p:txBody>
      </p:sp>
      <p:sp>
        <p:nvSpPr>
          <p:cNvPr id="7" name="TextBox 6"/>
          <p:cNvSpPr txBox="1"/>
          <p:nvPr/>
        </p:nvSpPr>
        <p:spPr>
          <a:xfrm>
            <a:off x="1143000" y="4434840"/>
            <a:ext cx="5184648" cy="365760"/>
          </a:xfrm>
          <a:prstGeom prst="rect">
            <a:avLst/>
          </a:prstGeom>
          <a:noFill/>
        </p:spPr>
        <p:txBody>
          <a:bodyPr wrap="none">
            <a:spAutoFit/>
          </a:bodyPr>
          <a:lstStyle/>
          <a:p>
            <a:pPr algn="l"/>
            <a:r>
              <a:rPr sz="1200">
                <a:solidFill>
                  <a:srgbClr val="0E0E12"/>
                </a:solidFill>
                <a:latin typeface="Jost"/>
              </a:rPr>
              <a:t>[Add content link]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Instagram Insights</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512064" y="1133856"/>
            <a:ext cx="2645664"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Views</a:t>
            </a:r>
          </a:p>
          <a:p>
            <a:pPr algn="ctr"/>
            <a:r>
              <a:rPr sz="2200" b="1">
                <a:solidFill>
                  <a:srgbClr val="C8A84B"/>
                </a:solidFill>
                <a:latin typeface="Jost"/>
              </a:rPr>
              <a:t>6.2K</a:t>
            </a:r>
          </a:p>
          <a:p>
            <a:pPr algn="ctr"/>
            <a:r>
              <a:rPr sz="900" b="1">
                <a:solidFill>
                  <a:srgbClr val="2D55C9"/>
                </a:solidFill>
                <a:latin typeface="Jost"/>
              </a:rPr>
              <a:t>↑ +38.7%</a:t>
            </a:r>
          </a:p>
        </p:txBody>
      </p:sp>
      <p:sp>
        <p:nvSpPr>
          <p:cNvPr id="5" name="Rounded Rectangle 4"/>
          <p:cNvSpPr/>
          <p:nvPr/>
        </p:nvSpPr>
        <p:spPr>
          <a:xfrm>
            <a:off x="3249168" y="1133856"/>
            <a:ext cx="2645664"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Reach</a:t>
            </a:r>
          </a:p>
          <a:p>
            <a:pPr algn="ctr"/>
            <a:r>
              <a:rPr sz="2200" b="1">
                <a:solidFill>
                  <a:srgbClr val="1A3A8F"/>
                </a:solidFill>
                <a:latin typeface="Jost"/>
              </a:rPr>
              <a:t>3.8K</a:t>
            </a:r>
          </a:p>
          <a:p>
            <a:pPr algn="ctr"/>
            <a:r>
              <a:rPr sz="900" b="1">
                <a:solidFill>
                  <a:srgbClr val="2D55C9"/>
                </a:solidFill>
                <a:latin typeface="Jost"/>
              </a:rPr>
              <a:t>↑ +24.2%</a:t>
            </a:r>
          </a:p>
        </p:txBody>
      </p:sp>
      <p:sp>
        <p:nvSpPr>
          <p:cNvPr id="6" name="Rounded Rectangle 5"/>
          <p:cNvSpPr/>
          <p:nvPr/>
        </p:nvSpPr>
        <p:spPr>
          <a:xfrm>
            <a:off x="5986272" y="1133856"/>
            <a:ext cx="2645664"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Weighted Eng. Rate</a:t>
            </a:r>
          </a:p>
          <a:p>
            <a:pPr algn="ctr"/>
            <a:r>
              <a:rPr sz="2200" b="1">
                <a:solidFill>
                  <a:srgbClr val="1A3A8F"/>
                </a:solidFill>
                <a:latin typeface="Jost"/>
              </a:rPr>
              <a:t>6.85%</a:t>
            </a:r>
          </a:p>
          <a:p>
            <a:pPr algn="ctr"/>
            <a:r>
              <a:rPr sz="900" b="1">
                <a:solidFill>
                  <a:srgbClr val="2D55C9"/>
                </a:solidFill>
                <a:latin typeface="Jost"/>
              </a:rPr>
              <a:t>↑ +56.8%</a:t>
            </a:r>
          </a:p>
        </p:txBody>
      </p:sp>
      <p:graphicFrame>
        <p:nvGraphicFramePr>
          <p:cNvPr id="7" name="Table 6"/>
          <p:cNvGraphicFramePr>
            <a:graphicFrameLocks noGrp="1"/>
          </p:cNvGraphicFramePr>
          <p:nvPr/>
        </p:nvGraphicFramePr>
        <p:xfrm>
          <a:off x="512064" y="1801368"/>
          <a:ext cx="8119872" cy="1481328"/>
        </p:xfrm>
        <a:graphic>
          <a:graphicData uri="http://schemas.openxmlformats.org/drawingml/2006/table">
            <a:tbl>
              <a:tblPr firstRow="1" bandRow="1">
                <a:tableStyleId>{5C22544A-7EE6-4342-B048-85BDC9FD1C3A}</a:tableStyleId>
              </a:tblPr>
              <a:tblGrid>
                <a:gridCol w="2377440"/>
                <a:gridCol w="1554480"/>
                <a:gridCol w="1554480"/>
                <a:gridCol w="2633472"/>
              </a:tblGrid>
              <a:tr h="164592">
                <a:tc>
                  <a:txBody>
                    <a:bodyPr/>
                    <a:lstStyle/>
                    <a:p>
                      <a:pPr>
                        <a:defRPr sz="800" b="1">
                          <a:solidFill>
                            <a:srgbClr val="FFFFFF"/>
                          </a:solidFill>
                          <a:latin typeface="Jost"/>
                        </a:defRPr>
                      </a:pPr>
                      <a:r>
                        <a:t>Metric</a:t>
                      </a:r>
                    </a:p>
                  </a:txBody>
                  <a:tcPr marT="25400" marB="25400">
                    <a:solidFill>
                      <a:srgbClr val="1A3A8F"/>
                    </a:solidFill>
                  </a:tcPr>
                </a:tc>
                <a:tc>
                  <a:txBody>
                    <a:bodyPr/>
                    <a:lstStyle/>
                    <a:p>
                      <a:pPr>
                        <a:defRPr sz="800" b="1">
                          <a:solidFill>
                            <a:srgbClr val="FFFFFF"/>
                          </a:solidFill>
                          <a:latin typeface="Jost"/>
                        </a:defRPr>
                      </a:pPr>
                      <a:r>
                        <a:t>Current</a:t>
                      </a:r>
                    </a:p>
                  </a:txBody>
                  <a:tcPr marT="25400" marB="25400">
                    <a:solidFill>
                      <a:srgbClr val="1A3A8F"/>
                    </a:solidFill>
                  </a:tcPr>
                </a:tc>
                <a:tc>
                  <a:txBody>
                    <a:bodyPr/>
                    <a:lstStyle/>
                    <a:p>
                      <a:pPr>
                        <a:defRPr sz="800" b="1">
                          <a:solidFill>
                            <a:srgbClr val="FFFFFF"/>
                          </a:solidFill>
                          <a:latin typeface="Jost"/>
                        </a:defRPr>
                      </a:pPr>
                      <a:r>
                        <a:t>Prior</a:t>
                      </a:r>
                    </a:p>
                  </a:txBody>
                  <a:tcPr marT="25400" marB="25400">
                    <a:solidFill>
                      <a:srgbClr val="1A3A8F"/>
                    </a:solidFill>
                  </a:tcPr>
                </a:tc>
                <a:tc>
                  <a:txBody>
                    <a:bodyPr/>
                    <a:lstStyle/>
                    <a:p>
                      <a:pPr>
                        <a:defRPr sz="800" b="1">
                          <a:solidFill>
                            <a:srgbClr val="FFFFFF"/>
                          </a:solidFill>
                          <a:latin typeface="Jost"/>
                        </a:defRPr>
                      </a:pPr>
                      <a:r>
                        <a:t>Change</a:t>
                      </a:r>
                    </a:p>
                  </a:txBody>
                  <a:tcPr marT="25400" marB="25400">
                    <a:solidFill>
                      <a:srgbClr val="1A3A8F"/>
                    </a:solidFill>
                  </a:tcPr>
                </a:tc>
              </a:tr>
              <a:tr h="164592">
                <a:tc>
                  <a:txBody>
                    <a:bodyPr/>
                    <a:lstStyle/>
                    <a:p>
                      <a:pPr>
                        <a:defRPr sz="800">
                          <a:solidFill>
                            <a:srgbClr val="0E0E12"/>
                          </a:solidFill>
                          <a:latin typeface="Jost"/>
                        </a:defRPr>
                      </a:pPr>
                      <a:r>
                        <a:t>Posts</a:t>
                      </a:r>
                    </a:p>
                  </a:txBody>
                  <a:tcPr marT="25400" marB="25400">
                    <a:solidFill>
                      <a:srgbClr val="F7F5F0"/>
                    </a:solidFill>
                  </a:tcPr>
                </a:tc>
                <a:tc>
                  <a:txBody>
                    <a:bodyPr/>
                    <a:lstStyle/>
                    <a:p>
                      <a:pPr>
                        <a:defRPr sz="800">
                          <a:solidFill>
                            <a:srgbClr val="0E0E12"/>
                          </a:solidFill>
                          <a:latin typeface="Jost"/>
                        </a:defRPr>
                      </a:pPr>
                      <a:r>
                        <a:t>17</a:t>
                      </a:r>
                    </a:p>
                  </a:txBody>
                  <a:tcPr marT="25400" marB="25400">
                    <a:solidFill>
                      <a:srgbClr val="F7F5F0"/>
                    </a:solidFill>
                  </a:tcPr>
                </a:tc>
                <a:tc>
                  <a:txBody>
                    <a:bodyPr/>
                    <a:lstStyle/>
                    <a:p>
                      <a:pPr>
                        <a:defRPr sz="800">
                          <a:solidFill>
                            <a:srgbClr val="0E0E12"/>
                          </a:solidFill>
                          <a:latin typeface="Jost"/>
                        </a:defRPr>
                      </a:pPr>
                      <a:r>
                        <a:t>27</a:t>
                      </a:r>
                    </a:p>
                  </a:txBody>
                  <a:tcPr marT="25400" marB="25400">
                    <a:solidFill>
                      <a:srgbClr val="F7F5F0"/>
                    </a:solidFill>
                  </a:tcPr>
                </a:tc>
                <a:tc>
                  <a:txBody>
                    <a:bodyPr/>
                    <a:lstStyle/>
                    <a:p>
                      <a:pPr>
                        <a:defRPr sz="800">
                          <a:solidFill>
                            <a:srgbClr val="7A7889"/>
                          </a:solidFill>
                          <a:latin typeface="Jost"/>
                        </a:defRPr>
                      </a:pPr>
                      <a:r>
                        <a:t>↓ -37.0%</a:t>
                      </a:r>
                    </a:p>
                  </a:txBody>
                  <a:tcPr marT="25400" marB="25400">
                    <a:solidFill>
                      <a:srgbClr val="F7F5F0"/>
                    </a:solidFill>
                  </a:tcPr>
                </a:tc>
              </a:tr>
              <a:tr h="164592">
                <a:tc>
                  <a:txBody>
                    <a:bodyPr/>
                    <a:lstStyle/>
                    <a:p>
                      <a:pPr>
                        <a:defRPr sz="800">
                          <a:solidFill>
                            <a:srgbClr val="0E0E12"/>
                          </a:solidFill>
                          <a:latin typeface="Jost"/>
                        </a:defRPr>
                      </a:pPr>
                      <a:r>
                        <a:t>Views</a:t>
                      </a:r>
                    </a:p>
                  </a:txBody>
                  <a:tcPr marT="25400" marB="25400">
                    <a:solidFill>
                      <a:srgbClr val="FFFFFF"/>
                    </a:solidFill>
                  </a:tcPr>
                </a:tc>
                <a:tc>
                  <a:txBody>
                    <a:bodyPr/>
                    <a:lstStyle/>
                    <a:p>
                      <a:pPr>
                        <a:defRPr sz="800">
                          <a:solidFill>
                            <a:srgbClr val="0E0E12"/>
                          </a:solidFill>
                          <a:latin typeface="Jost"/>
                        </a:defRPr>
                      </a:pPr>
                      <a:r>
                        <a:t>6.2K</a:t>
                      </a:r>
                    </a:p>
                  </a:txBody>
                  <a:tcPr marT="25400" marB="25400">
                    <a:solidFill>
                      <a:srgbClr val="FFFFFF"/>
                    </a:solidFill>
                  </a:tcPr>
                </a:tc>
                <a:tc>
                  <a:txBody>
                    <a:bodyPr/>
                    <a:lstStyle/>
                    <a:p>
                      <a:pPr>
                        <a:defRPr sz="800">
                          <a:solidFill>
                            <a:srgbClr val="0E0E12"/>
                          </a:solidFill>
                          <a:latin typeface="Jost"/>
                        </a:defRPr>
                      </a:pPr>
                      <a:r>
                        <a:t>4.4K</a:t>
                      </a:r>
                    </a:p>
                  </a:txBody>
                  <a:tcPr marT="25400" marB="25400">
                    <a:solidFill>
                      <a:srgbClr val="FFFFFF"/>
                    </a:solidFill>
                  </a:tcPr>
                </a:tc>
                <a:tc>
                  <a:txBody>
                    <a:bodyPr/>
                    <a:lstStyle/>
                    <a:p>
                      <a:pPr>
                        <a:defRPr sz="800">
                          <a:solidFill>
                            <a:srgbClr val="2D55C9"/>
                          </a:solidFill>
                          <a:latin typeface="Jost"/>
                        </a:defRPr>
                      </a:pPr>
                      <a:r>
                        <a:t>↑ +38.7%</a:t>
                      </a:r>
                    </a:p>
                  </a:txBody>
                  <a:tcPr marT="25400" marB="25400">
                    <a:solidFill>
                      <a:srgbClr val="FFFFFF"/>
                    </a:solidFill>
                  </a:tcPr>
                </a:tc>
              </a:tr>
              <a:tr h="164592">
                <a:tc>
                  <a:txBody>
                    <a:bodyPr/>
                    <a:lstStyle/>
                    <a:p>
                      <a:pPr>
                        <a:defRPr sz="800">
                          <a:solidFill>
                            <a:srgbClr val="0E0E12"/>
                          </a:solidFill>
                          <a:latin typeface="Jost"/>
                        </a:defRPr>
                      </a:pPr>
                      <a:r>
                        <a:t>Reach</a:t>
                      </a:r>
                    </a:p>
                  </a:txBody>
                  <a:tcPr marT="25400" marB="25400">
                    <a:solidFill>
                      <a:srgbClr val="F7F5F0"/>
                    </a:solidFill>
                  </a:tcPr>
                </a:tc>
                <a:tc>
                  <a:txBody>
                    <a:bodyPr/>
                    <a:lstStyle/>
                    <a:p>
                      <a:pPr>
                        <a:defRPr sz="800">
                          <a:solidFill>
                            <a:srgbClr val="0E0E12"/>
                          </a:solidFill>
                          <a:latin typeface="Jost"/>
                        </a:defRPr>
                      </a:pPr>
                      <a:r>
                        <a:t>3.8K</a:t>
                      </a:r>
                    </a:p>
                  </a:txBody>
                  <a:tcPr marT="25400" marB="25400">
                    <a:solidFill>
                      <a:srgbClr val="F7F5F0"/>
                    </a:solidFill>
                  </a:tcPr>
                </a:tc>
                <a:tc>
                  <a:txBody>
                    <a:bodyPr/>
                    <a:lstStyle/>
                    <a:p>
                      <a:pPr>
                        <a:defRPr sz="800">
                          <a:solidFill>
                            <a:srgbClr val="0E0E12"/>
                          </a:solidFill>
                          <a:latin typeface="Jost"/>
                        </a:defRPr>
                      </a:pPr>
                      <a:r>
                        <a:t>3.0K</a:t>
                      </a:r>
                    </a:p>
                  </a:txBody>
                  <a:tcPr marT="25400" marB="25400">
                    <a:solidFill>
                      <a:srgbClr val="F7F5F0"/>
                    </a:solidFill>
                  </a:tcPr>
                </a:tc>
                <a:tc>
                  <a:txBody>
                    <a:bodyPr/>
                    <a:lstStyle/>
                    <a:p>
                      <a:pPr>
                        <a:defRPr sz="800">
                          <a:solidFill>
                            <a:srgbClr val="2D55C9"/>
                          </a:solidFill>
                          <a:latin typeface="Jost"/>
                        </a:defRPr>
                      </a:pPr>
                      <a:r>
                        <a:t>↑ +24.2%</a:t>
                      </a:r>
                    </a:p>
                  </a:txBody>
                  <a:tcPr marT="25400" marB="25400">
                    <a:solidFill>
                      <a:srgbClr val="F7F5F0"/>
                    </a:solidFill>
                  </a:tcPr>
                </a:tc>
              </a:tr>
              <a:tr h="164592">
                <a:tc>
                  <a:txBody>
                    <a:bodyPr/>
                    <a:lstStyle/>
                    <a:p>
                      <a:pPr>
                        <a:defRPr sz="800">
                          <a:solidFill>
                            <a:srgbClr val="0E0E12"/>
                          </a:solidFill>
                          <a:latin typeface="Jost"/>
                        </a:defRPr>
                      </a:pPr>
                      <a:r>
                        <a:t>Reactions</a:t>
                      </a:r>
                    </a:p>
                  </a:txBody>
                  <a:tcPr marT="25400" marB="25400">
                    <a:solidFill>
                      <a:srgbClr val="FFFFFF"/>
                    </a:solidFill>
                  </a:tcPr>
                </a:tc>
                <a:tc>
                  <a:txBody>
                    <a:bodyPr/>
                    <a:lstStyle/>
                    <a:p>
                      <a:pPr>
                        <a:defRPr sz="800">
                          <a:solidFill>
                            <a:srgbClr val="0E0E12"/>
                          </a:solidFill>
                          <a:latin typeface="Jost"/>
                        </a:defRPr>
                      </a:pPr>
                      <a:r>
                        <a:t>203</a:t>
                      </a:r>
                    </a:p>
                  </a:txBody>
                  <a:tcPr marT="25400" marB="25400">
                    <a:solidFill>
                      <a:srgbClr val="FFFFFF"/>
                    </a:solidFill>
                  </a:tcPr>
                </a:tc>
                <a:tc>
                  <a:txBody>
                    <a:bodyPr/>
                    <a:lstStyle/>
                    <a:p>
                      <a:pPr>
                        <a:defRPr sz="800">
                          <a:solidFill>
                            <a:srgbClr val="0E0E12"/>
                          </a:solidFill>
                          <a:latin typeface="Jost"/>
                        </a:defRPr>
                      </a:pPr>
                      <a:r>
                        <a:t>109</a:t>
                      </a:r>
                    </a:p>
                  </a:txBody>
                  <a:tcPr marT="25400" marB="25400">
                    <a:solidFill>
                      <a:srgbClr val="FFFFFF"/>
                    </a:solidFill>
                  </a:tcPr>
                </a:tc>
                <a:tc>
                  <a:txBody>
                    <a:bodyPr/>
                    <a:lstStyle/>
                    <a:p>
                      <a:pPr>
                        <a:defRPr sz="800">
                          <a:solidFill>
                            <a:srgbClr val="2D55C9"/>
                          </a:solidFill>
                          <a:latin typeface="Jost"/>
                        </a:defRPr>
                      </a:pPr>
                      <a:r>
                        <a:t>↑ +86.2%</a:t>
                      </a:r>
                    </a:p>
                  </a:txBody>
                  <a:tcPr marT="25400" marB="25400">
                    <a:solidFill>
                      <a:srgbClr val="FFFFFF"/>
                    </a:solidFill>
                  </a:tcPr>
                </a:tc>
              </a:tr>
              <a:tr h="164592">
                <a:tc>
                  <a:txBody>
                    <a:bodyPr/>
                    <a:lstStyle/>
                    <a:p>
                      <a:pPr>
                        <a:defRPr sz="800">
                          <a:solidFill>
                            <a:srgbClr val="0E0E12"/>
                          </a:solidFill>
                          <a:latin typeface="Jost"/>
                        </a:defRPr>
                      </a:pPr>
                      <a:r>
                        <a:t>Comments</a:t>
                      </a:r>
                    </a:p>
                  </a:txBody>
                  <a:tcPr marT="25400" marB="25400">
                    <a:solidFill>
                      <a:srgbClr val="F7F5F0"/>
                    </a:solidFill>
                  </a:tcPr>
                </a:tc>
                <a:tc>
                  <a:txBody>
                    <a:bodyPr/>
                    <a:lstStyle/>
                    <a:p>
                      <a:pPr>
                        <a:defRPr sz="800">
                          <a:solidFill>
                            <a:srgbClr val="0E0E12"/>
                          </a:solidFill>
                          <a:latin typeface="Jost"/>
                        </a:defRPr>
                      </a:pPr>
                      <a:r>
                        <a:t>21</a:t>
                      </a:r>
                    </a:p>
                  </a:txBody>
                  <a:tcPr marT="25400" marB="25400">
                    <a:solidFill>
                      <a:srgbClr val="F7F5F0"/>
                    </a:solidFill>
                  </a:tcPr>
                </a:tc>
                <a:tc>
                  <a:txBody>
                    <a:bodyPr/>
                    <a:lstStyle/>
                    <a:p>
                      <a:pPr>
                        <a:defRPr sz="800">
                          <a:solidFill>
                            <a:srgbClr val="0E0E12"/>
                          </a:solidFill>
                          <a:latin typeface="Jost"/>
                        </a:defRPr>
                      </a:pPr>
                      <a:r>
                        <a:t>10</a:t>
                      </a:r>
                    </a:p>
                  </a:txBody>
                  <a:tcPr marT="25400" marB="25400">
                    <a:solidFill>
                      <a:srgbClr val="F7F5F0"/>
                    </a:solidFill>
                  </a:tcPr>
                </a:tc>
                <a:tc>
                  <a:txBody>
                    <a:bodyPr/>
                    <a:lstStyle/>
                    <a:p>
                      <a:pPr>
                        <a:defRPr sz="800">
                          <a:solidFill>
                            <a:srgbClr val="2D55C9"/>
                          </a:solidFill>
                          <a:latin typeface="Jost"/>
                        </a:defRPr>
                      </a:pPr>
                      <a:r>
                        <a:t>↑ +110.0%</a:t>
                      </a:r>
                    </a:p>
                  </a:txBody>
                  <a:tcPr marT="25400" marB="25400">
                    <a:solidFill>
                      <a:srgbClr val="F7F5F0"/>
                    </a:solidFill>
                  </a:tcPr>
                </a:tc>
              </a:tr>
              <a:tr h="164592">
                <a:tc>
                  <a:txBody>
                    <a:bodyPr/>
                    <a:lstStyle/>
                    <a:p>
                      <a:pPr>
                        <a:defRPr sz="800">
                          <a:solidFill>
                            <a:srgbClr val="0E0E12"/>
                          </a:solidFill>
                          <a:latin typeface="Jost"/>
                        </a:defRPr>
                      </a:pPr>
                      <a:r>
                        <a:t>Shares</a:t>
                      </a:r>
                    </a:p>
                  </a:txBody>
                  <a:tcPr marT="25400" marB="25400">
                    <a:solidFill>
                      <a:srgbClr val="FFFFFF"/>
                    </a:solidFill>
                  </a:tcPr>
                </a:tc>
                <a:tc>
                  <a:txBody>
                    <a:bodyPr/>
                    <a:lstStyle/>
                    <a:p>
                      <a:pPr>
                        <a:defRPr sz="800">
                          <a:solidFill>
                            <a:srgbClr val="0E0E12"/>
                          </a:solidFill>
                          <a:latin typeface="Jost"/>
                        </a:defRPr>
                      </a:pPr>
                      <a:r>
                        <a:t>28</a:t>
                      </a:r>
                    </a:p>
                  </a:txBody>
                  <a:tcPr marT="25400" marB="25400">
                    <a:solidFill>
                      <a:srgbClr val="FFFFFF"/>
                    </a:solidFill>
                  </a:tcPr>
                </a:tc>
                <a:tc>
                  <a:txBody>
                    <a:bodyPr/>
                    <a:lstStyle/>
                    <a:p>
                      <a:pPr>
                        <a:defRPr sz="800">
                          <a:solidFill>
                            <a:srgbClr val="0E0E12"/>
                          </a:solidFill>
                          <a:latin typeface="Jost"/>
                        </a:defRPr>
                      </a:pPr>
                      <a:r>
                        <a:t>13</a:t>
                      </a:r>
                    </a:p>
                  </a:txBody>
                  <a:tcPr marT="25400" marB="25400">
                    <a:solidFill>
                      <a:srgbClr val="FFFFFF"/>
                    </a:solidFill>
                  </a:tcPr>
                </a:tc>
                <a:tc>
                  <a:txBody>
                    <a:bodyPr/>
                    <a:lstStyle/>
                    <a:p>
                      <a:pPr>
                        <a:defRPr sz="800">
                          <a:solidFill>
                            <a:srgbClr val="2D55C9"/>
                          </a:solidFill>
                          <a:latin typeface="Jost"/>
                        </a:defRPr>
                      </a:pPr>
                      <a:r>
                        <a:t>↑ +115.4%</a:t>
                      </a:r>
                    </a:p>
                  </a:txBody>
                  <a:tcPr marT="25400" marB="25400">
                    <a:solidFill>
                      <a:srgbClr val="FFFFFF"/>
                    </a:solidFill>
                  </a:tcPr>
                </a:tc>
              </a:tr>
              <a:tr h="164592">
                <a:tc>
                  <a:txBody>
                    <a:bodyPr/>
                    <a:lstStyle/>
                    <a:p>
                      <a:pPr>
                        <a:defRPr sz="800">
                          <a:solidFill>
                            <a:srgbClr val="0E0E12"/>
                          </a:solidFill>
                          <a:latin typeface="Jost"/>
                        </a:defRPr>
                      </a:pPr>
                      <a:r>
                        <a:t>Saves</a:t>
                      </a:r>
                    </a:p>
                  </a:txBody>
                  <a:tcPr marT="25400" marB="25400">
                    <a:solidFill>
                      <a:srgbClr val="F7F5F0"/>
                    </a:solidFill>
                  </a:tcPr>
                </a:tc>
                <a:tc>
                  <a:txBody>
                    <a:bodyPr/>
                    <a:lstStyle/>
                    <a:p>
                      <a:pPr>
                        <a:defRPr sz="800">
                          <a:solidFill>
                            <a:srgbClr val="0E0E12"/>
                          </a:solidFill>
                          <a:latin typeface="Jost"/>
                        </a:defRPr>
                      </a:pPr>
                      <a:r>
                        <a:t>7</a:t>
                      </a:r>
                    </a:p>
                  </a:txBody>
                  <a:tcPr marT="25400" marB="25400">
                    <a:solidFill>
                      <a:srgbClr val="F7F5F0"/>
                    </a:solidFill>
                  </a:tcPr>
                </a:tc>
                <a:tc>
                  <a:txBody>
                    <a:bodyPr/>
                    <a:lstStyle/>
                    <a:p>
                      <a:pPr>
                        <a:defRPr sz="800">
                          <a:solidFill>
                            <a:srgbClr val="0E0E12"/>
                          </a:solidFill>
                          <a:latin typeface="Jost"/>
                        </a:defRPr>
                      </a:pPr>
                      <a:r>
                        <a:t>1</a:t>
                      </a:r>
                    </a:p>
                  </a:txBody>
                  <a:tcPr marT="25400" marB="25400">
                    <a:solidFill>
                      <a:srgbClr val="F7F5F0"/>
                    </a:solidFill>
                  </a:tcPr>
                </a:tc>
                <a:tc>
                  <a:txBody>
                    <a:bodyPr/>
                    <a:lstStyle/>
                    <a:p>
                      <a:pPr>
                        <a:defRPr sz="800">
                          <a:solidFill>
                            <a:srgbClr val="2D55C9"/>
                          </a:solidFill>
                          <a:latin typeface="Jost"/>
                        </a:defRPr>
                      </a:pPr>
                      <a:r>
                        <a:t>↑ new activity (low base: 1→7)</a:t>
                      </a:r>
                    </a:p>
                  </a:txBody>
                  <a:tcPr marT="25400" marB="25400">
                    <a:solidFill>
                      <a:srgbClr val="F7F5F0"/>
                    </a:solidFill>
                  </a:tcPr>
                </a:tc>
              </a:tr>
              <a:tr h="164592">
                <a:tc>
                  <a:txBody>
                    <a:bodyPr/>
                    <a:lstStyle/>
                    <a:p>
                      <a:pPr>
                        <a:defRPr sz="800">
                          <a:solidFill>
                            <a:srgbClr val="0E0E12"/>
                          </a:solidFill>
                          <a:latin typeface="Jost"/>
                        </a:defRPr>
                      </a:pPr>
                      <a:r>
                        <a:t>Weighted Eng. Rate (reach)</a:t>
                      </a:r>
                    </a:p>
                  </a:txBody>
                  <a:tcPr marT="25400" marB="25400">
                    <a:solidFill>
                      <a:srgbClr val="FFFFFF"/>
                    </a:solidFill>
                  </a:tcPr>
                </a:tc>
                <a:tc>
                  <a:txBody>
                    <a:bodyPr/>
                    <a:lstStyle/>
                    <a:p>
                      <a:pPr>
                        <a:defRPr sz="800">
                          <a:solidFill>
                            <a:srgbClr val="0E0E12"/>
                          </a:solidFill>
                          <a:latin typeface="Jost"/>
                        </a:defRPr>
                      </a:pPr>
                      <a:r>
                        <a:t>6.85%</a:t>
                      </a:r>
                    </a:p>
                  </a:txBody>
                  <a:tcPr marT="25400" marB="25400">
                    <a:solidFill>
                      <a:srgbClr val="FFFFFF"/>
                    </a:solidFill>
                  </a:tcPr>
                </a:tc>
                <a:tc>
                  <a:txBody>
                    <a:bodyPr/>
                    <a:lstStyle/>
                    <a:p>
                      <a:pPr>
                        <a:defRPr sz="800">
                          <a:solidFill>
                            <a:srgbClr val="0E0E12"/>
                          </a:solidFill>
                          <a:latin typeface="Jost"/>
                        </a:defRPr>
                      </a:pPr>
                      <a:r>
                        <a:t>4.37%</a:t>
                      </a:r>
                    </a:p>
                  </a:txBody>
                  <a:tcPr marT="25400" marB="25400">
                    <a:solidFill>
                      <a:srgbClr val="FFFFFF"/>
                    </a:solidFill>
                  </a:tcPr>
                </a:tc>
                <a:tc>
                  <a:txBody>
                    <a:bodyPr/>
                    <a:lstStyle/>
                    <a:p>
                      <a:pPr>
                        <a:defRPr sz="800">
                          <a:solidFill>
                            <a:srgbClr val="2D55C9"/>
                          </a:solidFill>
                          <a:latin typeface="Jost"/>
                        </a:defRPr>
                      </a:pPr>
                      <a:r>
                        <a:t>↑ +56.8%</a:t>
                      </a:r>
                    </a:p>
                  </a:txBody>
                  <a:tcPr marT="25400" marB="25400">
                    <a:solidFill>
                      <a:srgbClr val="FFFFFF"/>
                    </a:solidFill>
                  </a:tcPr>
                </a:tc>
              </a:tr>
            </a:tbl>
          </a:graphicData>
        </a:graphic>
      </p:graphicFrame>
      <p:sp>
        <p:nvSpPr>
          <p:cNvPr id="8" name="TextBox 7"/>
          <p:cNvSpPr txBox="1"/>
          <p:nvPr/>
        </p:nvSpPr>
        <p:spPr>
          <a:xfrm>
            <a:off x="512064" y="3310128"/>
            <a:ext cx="8119872" cy="219456"/>
          </a:xfrm>
          <a:prstGeom prst="rect">
            <a:avLst/>
          </a:prstGeom>
          <a:noFill/>
        </p:spPr>
        <p:txBody>
          <a:bodyPr wrap="none">
            <a:spAutoFit/>
          </a:bodyPr>
          <a:lstStyle/>
          <a:p>
            <a:r>
              <a:rPr sz="1200" b="1">
                <a:solidFill>
                  <a:srgbClr val="3A3845"/>
                </a:solidFill>
                <a:latin typeface="Jost"/>
              </a:rPr>
              <a:t>Daily Views — Current vs. Prior Period</a:t>
            </a:r>
          </a:p>
        </p:txBody>
      </p:sp>
      <p:graphicFrame>
        <p:nvGraphicFramePr>
          <p:cNvPr id="9" name="Chart 8"/>
          <p:cNvGraphicFramePr>
            <a:graphicFrameLocks noGrp="1"/>
          </p:cNvGraphicFramePr>
          <p:nvPr/>
        </p:nvGraphicFramePr>
        <p:xfrm>
          <a:off x="512064" y="3529584"/>
          <a:ext cx="8119872" cy="1362456"/>
        </p:xfrm>
        <a:graphic>
          <a:graphicData uri="http://schemas.openxmlformats.org/drawingml/2006/chart">
            <c:chart xmlns:c="http://schemas.openxmlformats.org/drawingml/2006/chart" r:id="rId2"/>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Instagram — Top Posts This Period</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548640"/>
          </a:xfrm>
          <a:prstGeom prst="rect">
            <a:avLst/>
          </a:prstGeom>
          <a:noFill/>
        </p:spPr>
        <p:txBody>
          <a:bodyPr wrap="square">
            <a:spAutoFit/>
          </a:bodyPr>
          <a:lstStyle/>
          <a:p>
            <a:r>
              <a:rPr sz="1400" b="0">
                <a:solidFill>
                  <a:srgbClr val="0E0E12"/>
                </a:solidFill>
                <a:latin typeface="Jost"/>
              </a:rPr>
              <a:t>“You found it. Oceanfront pier, cold drinks,…” drove </a:t>
            </a:r>
            <a:r>
              <a:rPr sz="1400" b="1">
                <a:solidFill>
                  <a:srgbClr val="C8A84B"/>
                </a:solidFill>
                <a:latin typeface="Jost"/>
              </a:rPr>
              <a:t>30%</a:t>
            </a:r>
            <a:r>
              <a:rPr sz="1400" b="0">
                <a:solidFill>
                  <a:srgbClr val="0E0E12"/>
                </a:solidFill>
                <a:latin typeface="Jost"/>
              </a:rPr>
              <a:t> of this period's total views.</a:t>
            </a:r>
          </a:p>
        </p:txBody>
      </p:sp>
      <p:graphicFrame>
        <p:nvGraphicFramePr>
          <p:cNvPr id="5" name="Table 4"/>
          <p:cNvGraphicFramePr>
            <a:graphicFrameLocks noGrp="1"/>
          </p:cNvGraphicFramePr>
          <p:nvPr/>
        </p:nvGraphicFramePr>
        <p:xfrm>
          <a:off x="512064" y="1709928"/>
          <a:ext cx="8119872" cy="3017520"/>
        </p:xfrm>
        <a:graphic>
          <a:graphicData uri="http://schemas.openxmlformats.org/drawingml/2006/table">
            <a:tbl>
              <a:tblPr firstRow="1" bandRow="1">
                <a:tableStyleId>{5C22544A-7EE6-4342-B048-85BDC9FD1C3A}</a:tableStyleId>
              </a:tblPr>
              <a:tblGrid>
                <a:gridCol w="4507992"/>
                <a:gridCol w="640080"/>
                <a:gridCol w="685800"/>
                <a:gridCol w="777240"/>
                <a:gridCol w="777240"/>
                <a:gridCol w="731520"/>
              </a:tblGrid>
              <a:tr h="502920">
                <a:tc>
                  <a:txBody>
                    <a:bodyPr/>
                    <a:lstStyle/>
                    <a:p>
                      <a:pPr>
                        <a:defRPr sz="900" b="1">
                          <a:solidFill>
                            <a:srgbClr val="FFFFFF"/>
                          </a:solidFill>
                          <a:latin typeface="Jost"/>
                        </a:defRPr>
                      </a:pPr>
                      <a:r>
                        <a:t>Post</a:t>
                      </a:r>
                    </a:p>
                  </a:txBody>
                  <a:tcPr marT="25400" marB="25400">
                    <a:solidFill>
                      <a:srgbClr val="1A3A8F"/>
                    </a:solidFill>
                  </a:tcPr>
                </a:tc>
                <a:tc>
                  <a:txBody>
                    <a:bodyPr/>
                    <a:lstStyle/>
                    <a:p>
                      <a:pPr>
                        <a:defRPr sz="900" b="1">
                          <a:solidFill>
                            <a:srgbClr val="FFFFFF"/>
                          </a:solidFill>
                          <a:latin typeface="Jost"/>
                        </a:defRPr>
                      </a:pPr>
                      <a:r>
                        <a:t>Date</a:t>
                      </a:r>
                    </a:p>
                  </a:txBody>
                  <a:tcPr marT="25400" marB="25400">
                    <a:solidFill>
                      <a:srgbClr val="1A3A8F"/>
                    </a:solidFill>
                  </a:tcPr>
                </a:tc>
                <a:tc>
                  <a:txBody>
                    <a:bodyPr/>
                    <a:lstStyle/>
                    <a:p>
                      <a:pPr>
                        <a:defRPr sz="900" b="1">
                          <a:solidFill>
                            <a:srgbClr val="FFFFFF"/>
                          </a:solidFill>
                          <a:latin typeface="Jost"/>
                        </a:defRPr>
                      </a:pPr>
                      <a:r>
                        <a:t>Views</a:t>
                      </a:r>
                    </a:p>
                  </a:txBody>
                  <a:tcPr marT="25400" marB="25400">
                    <a:solidFill>
                      <a:srgbClr val="1A3A8F"/>
                    </a:solidFill>
                  </a:tcPr>
                </a:tc>
                <a:tc>
                  <a:txBody>
                    <a:bodyPr/>
                    <a:lstStyle/>
                    <a:p>
                      <a:pPr>
                        <a:defRPr sz="900" b="1">
                          <a:solidFill>
                            <a:srgbClr val="FFFFFF"/>
                          </a:solidFill>
                          <a:latin typeface="Jost"/>
                        </a:defRPr>
                      </a:pPr>
                      <a:r>
                        <a:t>Reactions</a:t>
                      </a:r>
                    </a:p>
                  </a:txBody>
                  <a:tcPr marT="25400" marB="25400">
                    <a:solidFill>
                      <a:srgbClr val="1A3A8F"/>
                    </a:solidFill>
                  </a:tcPr>
                </a:tc>
                <a:tc>
                  <a:txBody>
                    <a:bodyPr/>
                    <a:lstStyle/>
                    <a:p>
                      <a:pPr>
                        <a:defRPr sz="900" b="1">
                          <a:solidFill>
                            <a:srgbClr val="FFFFFF"/>
                          </a:solidFill>
                          <a:latin typeface="Jost"/>
                        </a:defRPr>
                      </a:pPr>
                      <a:r>
                        <a:t>Comments</a:t>
                      </a:r>
                    </a:p>
                  </a:txBody>
                  <a:tcPr marT="25400" marB="25400">
                    <a:solidFill>
                      <a:srgbClr val="1A3A8F"/>
                    </a:solidFill>
                  </a:tcPr>
                </a:tc>
                <a:tc>
                  <a:txBody>
                    <a:bodyPr/>
                    <a:lstStyle/>
                    <a:p>
                      <a:pPr>
                        <a:defRPr sz="900" b="1">
                          <a:solidFill>
                            <a:srgbClr val="FFFFFF"/>
                          </a:solidFill>
                          <a:latin typeface="Jost"/>
                        </a:defRPr>
                      </a:pPr>
                      <a:r>
                        <a:t>Shares</a:t>
                      </a:r>
                    </a:p>
                  </a:txBody>
                  <a:tcPr marT="25400" marB="25400">
                    <a:solidFill>
                      <a:srgbClr val="1A3A8F"/>
                    </a:solidFill>
                  </a:tcPr>
                </a:tc>
              </a:tr>
              <a:tr h="502920">
                <a:tc>
                  <a:txBody>
                    <a:bodyPr/>
                    <a:lstStyle/>
                    <a:p>
                      <a:pPr>
                        <a:defRPr sz="900">
                          <a:solidFill>
                            <a:srgbClr val="0E0E12"/>
                          </a:solidFill>
                          <a:latin typeface="Jost"/>
                        </a:defRPr>
                      </a:pPr>
                      <a:r>
                        <a:t>You found it. Oceanfront pier, cold drinks, and live music starting soon at the Seahorse Bar. Come on in and pull up a seat! #OakIslandNC #BrunswickCounty #SouthportNC #NCBrunswic…</a:t>
                      </a:r>
                    </a:p>
                  </a:txBody>
                  <a:tcPr marT="25400" marB="25400">
                    <a:solidFill>
                      <a:srgbClr val="F7F5F0"/>
                    </a:solidFill>
                  </a:tcPr>
                </a:tc>
                <a:tc>
                  <a:txBody>
                    <a:bodyPr/>
                    <a:lstStyle/>
                    <a:p>
                      <a:pPr>
                        <a:defRPr sz="900">
                          <a:solidFill>
                            <a:srgbClr val="0E0E12"/>
                          </a:solidFill>
                          <a:latin typeface="Jost"/>
                        </a:defRPr>
                      </a:pPr>
                      <a:r>
                        <a:t>Sep 16</a:t>
                      </a:r>
                    </a:p>
                  </a:txBody>
                  <a:tcPr marT="25400" marB="25400">
                    <a:solidFill>
                      <a:srgbClr val="F7F5F0"/>
                    </a:solidFill>
                  </a:tcPr>
                </a:tc>
                <a:tc>
                  <a:txBody>
                    <a:bodyPr/>
                    <a:lstStyle/>
                    <a:p>
                      <a:pPr>
                        <a:defRPr sz="900">
                          <a:solidFill>
                            <a:srgbClr val="0E0E12"/>
                          </a:solidFill>
                          <a:latin typeface="Jost"/>
                        </a:defRPr>
                      </a:pPr>
                      <a:r>
                        <a:t>1.9K</a:t>
                      </a:r>
                    </a:p>
                  </a:txBody>
                  <a:tcPr marT="25400" marB="25400">
                    <a:solidFill>
                      <a:srgbClr val="F7F5F0"/>
                    </a:solidFill>
                  </a:tcPr>
                </a:tc>
                <a:tc>
                  <a:txBody>
                    <a:bodyPr/>
                    <a:lstStyle/>
                    <a:p>
                      <a:pPr>
                        <a:defRPr sz="900">
                          <a:solidFill>
                            <a:srgbClr val="0E0E12"/>
                          </a:solidFill>
                          <a:latin typeface="Jost"/>
                        </a:defRPr>
                      </a:pPr>
                      <a:r>
                        <a:t>68</a:t>
                      </a:r>
                    </a:p>
                  </a:txBody>
                  <a:tcPr marT="25400" marB="25400">
                    <a:solidFill>
                      <a:srgbClr val="F7F5F0"/>
                    </a:solidFill>
                  </a:tcPr>
                </a:tc>
                <a:tc>
                  <a:txBody>
                    <a:bodyPr/>
                    <a:lstStyle/>
                    <a:p>
                      <a:pPr>
                        <a:defRPr sz="900">
                          <a:solidFill>
                            <a:srgbClr val="0E0E12"/>
                          </a:solidFill>
                          <a:latin typeface="Jost"/>
                        </a:defRPr>
                      </a:pPr>
                      <a:r>
                        <a:t>4</a:t>
                      </a:r>
                    </a:p>
                  </a:txBody>
                  <a:tcPr marT="25400" marB="25400">
                    <a:solidFill>
                      <a:srgbClr val="F7F5F0"/>
                    </a:solidFill>
                  </a:tcPr>
                </a:tc>
                <a:tc>
                  <a:txBody>
                    <a:bodyPr/>
                    <a:lstStyle/>
                    <a:p>
                      <a:pPr>
                        <a:defRPr sz="900">
                          <a:solidFill>
                            <a:srgbClr val="0E0E12"/>
                          </a:solidFill>
                          <a:latin typeface="Jost"/>
                        </a:defRPr>
                      </a:pPr>
                      <a:r>
                        <a:t>18</a:t>
                      </a:r>
                    </a:p>
                  </a:txBody>
                  <a:tcPr marT="25400" marB="25400">
                    <a:solidFill>
                      <a:srgbClr val="F7F5F0"/>
                    </a:solidFill>
                  </a:tcPr>
                </a:tc>
              </a:tr>
              <a:tr h="502920">
                <a:tc>
                  <a:txBody>
                    <a:bodyPr/>
                    <a:lstStyle/>
                    <a:p>
                      <a:pPr>
                        <a:defRPr sz="900">
                          <a:solidFill>
                            <a:srgbClr val="0E0E12"/>
                          </a:solidFill>
                          <a:latin typeface="Jost"/>
                        </a:defRPr>
                      </a:pPr>
                      <a:r>
                        <a:t>Summer on the pier, gone as fast as it came. As we head into Labor Day Weekend, we’re so thankful for everyone who made memories with us this season, from sunrise casts and full d…</a:t>
                      </a:r>
                    </a:p>
                  </a:txBody>
                  <a:tcPr marT="25400" marB="25400">
                    <a:solidFill>
                      <a:srgbClr val="FFFFFF"/>
                    </a:solidFill>
                  </a:tcPr>
                </a:tc>
                <a:tc>
                  <a:txBody>
                    <a:bodyPr/>
                    <a:lstStyle/>
                    <a:p>
                      <a:pPr>
                        <a:defRPr sz="900">
                          <a:solidFill>
                            <a:srgbClr val="0E0E12"/>
                          </a:solidFill>
                          <a:latin typeface="Jost"/>
                        </a:defRPr>
                      </a:pPr>
                      <a:r>
                        <a:t>Sep 04</a:t>
                      </a:r>
                    </a:p>
                  </a:txBody>
                  <a:tcPr marT="25400" marB="25400">
                    <a:solidFill>
                      <a:srgbClr val="FFFFFF"/>
                    </a:solidFill>
                  </a:tcPr>
                </a:tc>
                <a:tc>
                  <a:txBody>
                    <a:bodyPr/>
                    <a:lstStyle/>
                    <a:p>
                      <a:pPr>
                        <a:defRPr sz="900">
                          <a:solidFill>
                            <a:srgbClr val="0E0E12"/>
                          </a:solidFill>
                          <a:latin typeface="Jost"/>
                        </a:defRPr>
                      </a:pPr>
                      <a:r>
                        <a:t>1.2K</a:t>
                      </a:r>
                    </a:p>
                  </a:txBody>
                  <a:tcPr marT="25400" marB="25400">
                    <a:solidFill>
                      <a:srgbClr val="FFFFFF"/>
                    </a:solidFill>
                  </a:tcPr>
                </a:tc>
                <a:tc>
                  <a:txBody>
                    <a:bodyPr/>
                    <a:lstStyle/>
                    <a:p>
                      <a:pPr>
                        <a:defRPr sz="900">
                          <a:solidFill>
                            <a:srgbClr val="0E0E12"/>
                          </a:solidFill>
                          <a:latin typeface="Jost"/>
                        </a:defRPr>
                      </a:pPr>
                      <a:r>
                        <a:t>36</a:t>
                      </a:r>
                    </a:p>
                  </a:txBody>
                  <a:tcPr marT="25400" marB="25400">
                    <a:solidFill>
                      <a:srgbClr val="FFFFFF"/>
                    </a:solidFill>
                  </a:tcPr>
                </a:tc>
                <a:tc>
                  <a:txBody>
                    <a:bodyPr/>
                    <a:lstStyle/>
                    <a:p>
                      <a:pPr>
                        <a:defRPr sz="900">
                          <a:solidFill>
                            <a:srgbClr val="0E0E12"/>
                          </a:solidFill>
                          <a:latin typeface="Jost"/>
                        </a:defRPr>
                      </a:pPr>
                      <a:r>
                        <a:t>6</a:t>
                      </a:r>
                    </a:p>
                  </a:txBody>
                  <a:tcPr marT="25400" marB="25400">
                    <a:solidFill>
                      <a:srgbClr val="FFFFFF"/>
                    </a:solidFill>
                  </a:tcPr>
                </a:tc>
                <a:tc>
                  <a:txBody>
                    <a:bodyPr/>
                    <a:lstStyle/>
                    <a:p>
                      <a:pPr>
                        <a:defRPr sz="900">
                          <a:solidFill>
                            <a:srgbClr val="0E0E12"/>
                          </a:solidFill>
                          <a:latin typeface="Jost"/>
                        </a:defRPr>
                      </a:pPr>
                      <a:r>
                        <a:t>10</a:t>
                      </a:r>
                    </a:p>
                  </a:txBody>
                  <a:tcPr marT="25400" marB="25400">
                    <a:solidFill>
                      <a:srgbClr val="FFFFFF"/>
                    </a:solidFill>
                  </a:tcPr>
                </a:tc>
              </a:tr>
              <a:tr h="502920">
                <a:tc>
                  <a:txBody>
                    <a:bodyPr/>
                    <a:lstStyle/>
                    <a:p>
                      <a:pPr>
                        <a:defRPr sz="900">
                          <a:solidFill>
                            <a:srgbClr val="0E0E12"/>
                          </a:solidFill>
                          <a:latin typeface="Jost"/>
                        </a:defRPr>
                      </a:pPr>
                      <a:r>
                        <a:t>Last time King &amp; Co. played the deck, the crowd turned into a full sing-along crew, flip-flops came off, and the string lights caught every second of it. They're back this Sunday…</a:t>
                      </a:r>
                    </a:p>
                  </a:txBody>
                  <a:tcPr marT="25400" marB="25400">
                    <a:solidFill>
                      <a:srgbClr val="F7F5F0"/>
                    </a:solidFill>
                  </a:tcPr>
                </a:tc>
                <a:tc>
                  <a:txBody>
                    <a:bodyPr/>
                    <a:lstStyle/>
                    <a:p>
                      <a:pPr>
                        <a:defRPr sz="900">
                          <a:solidFill>
                            <a:srgbClr val="0E0E12"/>
                          </a:solidFill>
                          <a:latin typeface="Jost"/>
                        </a:defRPr>
                      </a:pPr>
                      <a:r>
                        <a:t>Sep 09</a:t>
                      </a:r>
                    </a:p>
                  </a:txBody>
                  <a:tcPr marT="25400" marB="25400">
                    <a:solidFill>
                      <a:srgbClr val="F7F5F0"/>
                    </a:solidFill>
                  </a:tcPr>
                </a:tc>
                <a:tc>
                  <a:txBody>
                    <a:bodyPr/>
                    <a:lstStyle/>
                    <a:p>
                      <a:pPr>
                        <a:defRPr sz="900">
                          <a:solidFill>
                            <a:srgbClr val="0E0E12"/>
                          </a:solidFill>
                          <a:latin typeface="Jost"/>
                        </a:defRPr>
                      </a:pPr>
                      <a:r>
                        <a:t>710</a:t>
                      </a:r>
                    </a:p>
                  </a:txBody>
                  <a:tcPr marT="25400" marB="25400">
                    <a:solidFill>
                      <a:srgbClr val="F7F5F0"/>
                    </a:solidFill>
                  </a:tcPr>
                </a:tc>
                <a:tc>
                  <a:txBody>
                    <a:bodyPr/>
                    <a:lstStyle/>
                    <a:p>
                      <a:pPr>
                        <a:defRPr sz="900">
                          <a:solidFill>
                            <a:srgbClr val="0E0E12"/>
                          </a:solidFill>
                          <a:latin typeface="Jost"/>
                        </a:defRPr>
                      </a:pPr>
                      <a:r>
                        <a:t>14</a:t>
                      </a:r>
                    </a:p>
                  </a:txBody>
                  <a:tcPr marT="25400" marB="25400">
                    <a:solidFill>
                      <a:srgbClr val="F7F5F0"/>
                    </a:solidFill>
                  </a:tcPr>
                </a:tc>
                <a:tc>
                  <a:txBody>
                    <a:bodyPr/>
                    <a:lstStyle/>
                    <a:p>
                      <a:pPr>
                        <a:defRPr sz="900">
                          <a:solidFill>
                            <a:srgbClr val="0E0E12"/>
                          </a:solidFill>
                          <a:latin typeface="Jost"/>
                        </a:defRPr>
                      </a:pPr>
                      <a:r>
                        <a:t>0</a:t>
                      </a:r>
                    </a:p>
                  </a:txBody>
                  <a:tcPr marT="25400" marB="25400">
                    <a:solidFill>
                      <a:srgbClr val="F7F5F0"/>
                    </a:solidFill>
                  </a:tcPr>
                </a:tc>
                <a:tc>
                  <a:txBody>
                    <a:bodyPr/>
                    <a:lstStyle/>
                    <a:p>
                      <a:pPr>
                        <a:defRPr sz="900">
                          <a:solidFill>
                            <a:srgbClr val="0E0E12"/>
                          </a:solidFill>
                          <a:latin typeface="Jost"/>
                        </a:defRPr>
                      </a:pPr>
                      <a:r>
                        <a:t>0</a:t>
                      </a:r>
                    </a:p>
                  </a:txBody>
                  <a:tcPr marT="25400" marB="25400">
                    <a:solidFill>
                      <a:srgbClr val="F7F5F0"/>
                    </a:solidFill>
                  </a:tcPr>
                </a:tc>
              </a:tr>
              <a:tr h="502920">
                <a:tc>
                  <a:txBody>
                    <a:bodyPr/>
                    <a:lstStyle/>
                    <a:p>
                      <a:pPr>
                        <a:defRPr sz="900">
                          <a:solidFill>
                            <a:srgbClr val="0E0E12"/>
                          </a:solidFill>
                          <a:latin typeface="Jost"/>
                        </a:defRPr>
                      </a:pPr>
                      <a:r>
                        <a:t>Went in for a fishing interview, got a comedian instead. What are you catching? Rays. Can’t argue with that logic. #OakIslandNC #BrunswickCounty #SouthportNC #SeahorseBar #OceanCr…</a:t>
                      </a:r>
                    </a:p>
                  </a:txBody>
                  <a:tcPr marT="25400" marB="25400">
                    <a:solidFill>
                      <a:srgbClr val="FFFFFF"/>
                    </a:solidFill>
                  </a:tcPr>
                </a:tc>
                <a:tc>
                  <a:txBody>
                    <a:bodyPr/>
                    <a:lstStyle/>
                    <a:p>
                      <a:pPr>
                        <a:defRPr sz="900">
                          <a:solidFill>
                            <a:srgbClr val="0E0E12"/>
                          </a:solidFill>
                          <a:latin typeface="Jost"/>
                        </a:defRPr>
                      </a:pPr>
                      <a:r>
                        <a:t>Sep 18</a:t>
                      </a:r>
                    </a:p>
                  </a:txBody>
                  <a:tcPr marT="25400" marB="25400">
                    <a:solidFill>
                      <a:srgbClr val="FFFFFF"/>
                    </a:solidFill>
                  </a:tcPr>
                </a:tc>
                <a:tc>
                  <a:txBody>
                    <a:bodyPr/>
                    <a:lstStyle/>
                    <a:p>
                      <a:pPr>
                        <a:defRPr sz="900">
                          <a:solidFill>
                            <a:srgbClr val="0E0E12"/>
                          </a:solidFill>
                          <a:latin typeface="Jost"/>
                        </a:defRPr>
                      </a:pPr>
                      <a:r>
                        <a:t>588</a:t>
                      </a:r>
                    </a:p>
                  </a:txBody>
                  <a:tcPr marT="25400" marB="25400">
                    <a:solidFill>
                      <a:srgbClr val="FFFFFF"/>
                    </a:solidFill>
                  </a:tcPr>
                </a:tc>
                <a:tc>
                  <a:txBody>
                    <a:bodyPr/>
                    <a:lstStyle/>
                    <a:p>
                      <a:pPr>
                        <a:defRPr sz="900">
                          <a:solidFill>
                            <a:srgbClr val="0E0E12"/>
                          </a:solidFill>
                          <a:latin typeface="Jost"/>
                        </a:defRPr>
                      </a:pPr>
                      <a:r>
                        <a:t>11</a:t>
                      </a:r>
                    </a:p>
                  </a:txBody>
                  <a:tcPr marT="25400" marB="25400">
                    <a:solidFill>
                      <a:srgbClr val="FFFFFF"/>
                    </a:solidFill>
                  </a:tcPr>
                </a:tc>
                <a:tc>
                  <a:txBody>
                    <a:bodyPr/>
                    <a:lstStyle/>
                    <a:p>
                      <a:pPr>
                        <a:defRPr sz="900">
                          <a:solidFill>
                            <a:srgbClr val="0E0E12"/>
                          </a:solidFill>
                          <a:latin typeface="Jost"/>
                        </a:defRPr>
                      </a:pPr>
                      <a:r>
                        <a:t>5</a:t>
                      </a:r>
                    </a:p>
                  </a:txBody>
                  <a:tcPr marT="25400" marB="25400">
                    <a:solidFill>
                      <a:srgbClr val="FFFFFF"/>
                    </a:solidFill>
                  </a:tcPr>
                </a:tc>
                <a:tc>
                  <a:txBody>
                    <a:bodyPr/>
                    <a:lstStyle/>
                    <a:p>
                      <a:pPr>
                        <a:defRPr sz="900">
                          <a:solidFill>
                            <a:srgbClr val="0E0E12"/>
                          </a:solidFill>
                          <a:latin typeface="Jost"/>
                        </a:defRPr>
                      </a:pPr>
                      <a:r>
                        <a:t>0</a:t>
                      </a:r>
                    </a:p>
                  </a:txBody>
                  <a:tcPr marT="25400" marB="25400">
                    <a:solidFill>
                      <a:srgbClr val="FFFFFF"/>
                    </a:solidFill>
                  </a:tcPr>
                </a:tc>
              </a:tr>
              <a:tr h="502920">
                <a:tc>
                  <a:txBody>
                    <a:bodyPr/>
                    <a:lstStyle/>
                    <a:p>
                      <a:pPr>
                        <a:defRPr sz="900">
                          <a:solidFill>
                            <a:srgbClr val="0E0E12"/>
                          </a:solidFill>
                          <a:latin typeface="Jost"/>
                        </a:defRPr>
                      </a:pPr>
                      <a:r>
                        <a:t>This Tiki Bar Lime Lager from Tarboro Brewing is REALLY tasty! Our friends on the beach liked it, you probably will too. Grab one at The Seahorse #SeahorseBar #TarboroBrewing #Oak…</a:t>
                      </a:r>
                    </a:p>
                  </a:txBody>
                  <a:tcPr marT="25400" marB="25400">
                    <a:solidFill>
                      <a:srgbClr val="F7F5F0"/>
                    </a:solidFill>
                  </a:tcPr>
                </a:tc>
                <a:tc>
                  <a:txBody>
                    <a:bodyPr/>
                    <a:lstStyle/>
                    <a:p>
                      <a:pPr>
                        <a:defRPr sz="900">
                          <a:solidFill>
                            <a:srgbClr val="0E0E12"/>
                          </a:solidFill>
                          <a:latin typeface="Jost"/>
                        </a:defRPr>
                      </a:pPr>
                      <a:r>
                        <a:t>Sep 02</a:t>
                      </a:r>
                    </a:p>
                  </a:txBody>
                  <a:tcPr marT="25400" marB="25400">
                    <a:solidFill>
                      <a:srgbClr val="F7F5F0"/>
                    </a:solidFill>
                  </a:tcPr>
                </a:tc>
                <a:tc>
                  <a:txBody>
                    <a:bodyPr/>
                    <a:lstStyle/>
                    <a:p>
                      <a:pPr>
                        <a:defRPr sz="900">
                          <a:solidFill>
                            <a:srgbClr val="0E0E12"/>
                          </a:solidFill>
                          <a:latin typeface="Jost"/>
                        </a:defRPr>
                      </a:pPr>
                      <a:r>
                        <a:t>428</a:t>
                      </a:r>
                    </a:p>
                  </a:txBody>
                  <a:tcPr marT="25400" marB="25400">
                    <a:solidFill>
                      <a:srgbClr val="F7F5F0"/>
                    </a:solidFill>
                  </a:tcPr>
                </a:tc>
                <a:tc>
                  <a:txBody>
                    <a:bodyPr/>
                    <a:lstStyle/>
                    <a:p>
                      <a:pPr>
                        <a:defRPr sz="900">
                          <a:solidFill>
                            <a:srgbClr val="0E0E12"/>
                          </a:solidFill>
                          <a:latin typeface="Jost"/>
                        </a:defRPr>
                      </a:pPr>
                      <a:r>
                        <a:t>16</a:t>
                      </a:r>
                    </a:p>
                  </a:txBody>
                  <a:tcPr marT="25400" marB="25400">
                    <a:solidFill>
                      <a:srgbClr val="F7F5F0"/>
                    </a:solidFill>
                  </a:tcPr>
                </a:tc>
                <a:tc>
                  <a:txBody>
                    <a:bodyPr/>
                    <a:lstStyle/>
                    <a:p>
                      <a:pPr>
                        <a:defRPr sz="900">
                          <a:solidFill>
                            <a:srgbClr val="0E0E12"/>
                          </a:solidFill>
                          <a:latin typeface="Jost"/>
                        </a:defRPr>
                      </a:pPr>
                      <a:r>
                        <a:t>4</a:t>
                      </a:r>
                    </a:p>
                  </a:txBody>
                  <a:tcPr marT="25400" marB="25400">
                    <a:solidFill>
                      <a:srgbClr val="F7F5F0"/>
                    </a:solidFill>
                  </a:tcPr>
                </a:tc>
                <a:tc>
                  <a:txBody>
                    <a:bodyPr/>
                    <a:lstStyle/>
                    <a:p>
                      <a:pPr>
                        <a:defRPr sz="900">
                          <a:solidFill>
                            <a:srgbClr val="0E0E12"/>
                          </a:solidFill>
                          <a:latin typeface="Jost"/>
                        </a:defRPr>
                      </a:pPr>
                      <a:r>
                        <a:t>0</a:t>
                      </a:r>
                    </a:p>
                  </a:txBody>
                  <a:tcPr marT="25400" marB="25400">
                    <a:solidFill>
                      <a:srgbClr val="F7F5F0"/>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Facebook Insights</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512064" y="1133856"/>
            <a:ext cx="2645664"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Impressions</a:t>
            </a:r>
          </a:p>
          <a:p>
            <a:pPr algn="ctr"/>
            <a:r>
              <a:rPr sz="2200" b="1">
                <a:solidFill>
                  <a:srgbClr val="C8A84B"/>
                </a:solidFill>
                <a:latin typeface="Jost"/>
              </a:rPr>
              <a:t>26.0K</a:t>
            </a:r>
          </a:p>
          <a:p>
            <a:pPr algn="ctr"/>
            <a:r>
              <a:rPr sz="900" b="1">
                <a:solidFill>
                  <a:srgbClr val="7A7889"/>
                </a:solidFill>
                <a:latin typeface="Jost"/>
              </a:rPr>
              <a:t>↓ -56.9%</a:t>
            </a:r>
          </a:p>
        </p:txBody>
      </p:sp>
      <p:sp>
        <p:nvSpPr>
          <p:cNvPr id="5" name="Rounded Rectangle 4"/>
          <p:cNvSpPr/>
          <p:nvPr/>
        </p:nvSpPr>
        <p:spPr>
          <a:xfrm>
            <a:off x="3249168" y="1133856"/>
            <a:ext cx="2645664"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Weighted Eng. Rate</a:t>
            </a:r>
          </a:p>
          <a:p>
            <a:pPr algn="ctr"/>
            <a:r>
              <a:rPr sz="2200" b="1">
                <a:solidFill>
                  <a:srgbClr val="1A3A8F"/>
                </a:solidFill>
                <a:latin typeface="Jost"/>
              </a:rPr>
              <a:t>1.37%</a:t>
            </a:r>
          </a:p>
          <a:p>
            <a:pPr algn="ctr"/>
            <a:r>
              <a:rPr sz="900" b="1">
                <a:solidFill>
                  <a:srgbClr val="2D55C9"/>
                </a:solidFill>
                <a:latin typeface="Jost"/>
              </a:rPr>
              <a:t>↑ +6.6%</a:t>
            </a:r>
          </a:p>
        </p:txBody>
      </p:sp>
      <p:sp>
        <p:nvSpPr>
          <p:cNvPr id="6" name="Rounded Rectangle 5"/>
          <p:cNvSpPr/>
          <p:nvPr/>
        </p:nvSpPr>
        <p:spPr>
          <a:xfrm>
            <a:off x="5986272" y="1133856"/>
            <a:ext cx="2645664"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Current Followers</a:t>
            </a:r>
          </a:p>
          <a:p>
            <a:pPr algn="ctr"/>
            <a:r>
              <a:rPr sz="2200" b="1">
                <a:solidFill>
                  <a:srgbClr val="1A3A8F"/>
                </a:solidFill>
                <a:latin typeface="Jost"/>
              </a:rPr>
              <a:t>18.3K</a:t>
            </a:r>
          </a:p>
          <a:p>
            <a:pPr algn="ctr"/>
            <a:r>
              <a:rPr sz="900" b="1">
                <a:solidFill>
                  <a:srgbClr val="3A3845"/>
                </a:solidFill>
                <a:latin typeface="Jost"/>
              </a:rPr>
              <a:t>First snapshot</a:t>
            </a:r>
          </a:p>
        </p:txBody>
      </p:sp>
      <p:graphicFrame>
        <p:nvGraphicFramePr>
          <p:cNvPr id="7" name="Table 6"/>
          <p:cNvGraphicFramePr>
            <a:graphicFrameLocks noGrp="1"/>
          </p:cNvGraphicFramePr>
          <p:nvPr/>
        </p:nvGraphicFramePr>
        <p:xfrm>
          <a:off x="512064" y="1801368"/>
          <a:ext cx="8119872" cy="1316736"/>
        </p:xfrm>
        <a:graphic>
          <a:graphicData uri="http://schemas.openxmlformats.org/drawingml/2006/table">
            <a:tbl>
              <a:tblPr firstRow="1" bandRow="1">
                <a:tableStyleId>{5C22544A-7EE6-4342-B048-85BDC9FD1C3A}</a:tableStyleId>
              </a:tblPr>
              <a:tblGrid>
                <a:gridCol w="2377440"/>
                <a:gridCol w="1554480"/>
                <a:gridCol w="1554480"/>
                <a:gridCol w="2633472"/>
              </a:tblGrid>
              <a:tr h="164592">
                <a:tc>
                  <a:txBody>
                    <a:bodyPr/>
                    <a:lstStyle/>
                    <a:p>
                      <a:pPr>
                        <a:defRPr sz="800" b="1">
                          <a:solidFill>
                            <a:srgbClr val="FFFFFF"/>
                          </a:solidFill>
                          <a:latin typeface="Jost"/>
                        </a:defRPr>
                      </a:pPr>
                      <a:r>
                        <a:t>Metric</a:t>
                      </a:r>
                    </a:p>
                  </a:txBody>
                  <a:tcPr marT="25400" marB="25400">
                    <a:solidFill>
                      <a:srgbClr val="1A3A8F"/>
                    </a:solidFill>
                  </a:tcPr>
                </a:tc>
                <a:tc>
                  <a:txBody>
                    <a:bodyPr/>
                    <a:lstStyle/>
                    <a:p>
                      <a:pPr>
                        <a:defRPr sz="800" b="1">
                          <a:solidFill>
                            <a:srgbClr val="FFFFFF"/>
                          </a:solidFill>
                          <a:latin typeface="Jost"/>
                        </a:defRPr>
                      </a:pPr>
                      <a:r>
                        <a:t>Current</a:t>
                      </a:r>
                    </a:p>
                  </a:txBody>
                  <a:tcPr marT="25400" marB="25400">
                    <a:solidFill>
                      <a:srgbClr val="1A3A8F"/>
                    </a:solidFill>
                  </a:tcPr>
                </a:tc>
                <a:tc>
                  <a:txBody>
                    <a:bodyPr/>
                    <a:lstStyle/>
                    <a:p>
                      <a:pPr>
                        <a:defRPr sz="800" b="1">
                          <a:solidFill>
                            <a:srgbClr val="FFFFFF"/>
                          </a:solidFill>
                          <a:latin typeface="Jost"/>
                        </a:defRPr>
                      </a:pPr>
                      <a:r>
                        <a:t>Prior</a:t>
                      </a:r>
                    </a:p>
                  </a:txBody>
                  <a:tcPr marT="25400" marB="25400">
                    <a:solidFill>
                      <a:srgbClr val="1A3A8F"/>
                    </a:solidFill>
                  </a:tcPr>
                </a:tc>
                <a:tc>
                  <a:txBody>
                    <a:bodyPr/>
                    <a:lstStyle/>
                    <a:p>
                      <a:pPr>
                        <a:defRPr sz="800" b="1">
                          <a:solidFill>
                            <a:srgbClr val="FFFFFF"/>
                          </a:solidFill>
                          <a:latin typeface="Jost"/>
                        </a:defRPr>
                      </a:pPr>
                      <a:r>
                        <a:t>Change</a:t>
                      </a:r>
                    </a:p>
                  </a:txBody>
                  <a:tcPr marT="25400" marB="25400">
                    <a:solidFill>
                      <a:srgbClr val="1A3A8F"/>
                    </a:solidFill>
                  </a:tcPr>
                </a:tc>
              </a:tr>
              <a:tr h="164592">
                <a:tc>
                  <a:txBody>
                    <a:bodyPr/>
                    <a:lstStyle/>
                    <a:p>
                      <a:pPr>
                        <a:defRPr sz="800">
                          <a:solidFill>
                            <a:srgbClr val="0E0E12"/>
                          </a:solidFill>
                          <a:latin typeface="Jost"/>
                        </a:defRPr>
                      </a:pPr>
                      <a:r>
                        <a:t>Posts</a:t>
                      </a:r>
                    </a:p>
                  </a:txBody>
                  <a:tcPr marT="25400" marB="25400">
                    <a:solidFill>
                      <a:srgbClr val="F7F5F0"/>
                    </a:solidFill>
                  </a:tcPr>
                </a:tc>
                <a:tc>
                  <a:txBody>
                    <a:bodyPr/>
                    <a:lstStyle/>
                    <a:p>
                      <a:pPr>
                        <a:defRPr sz="800">
                          <a:solidFill>
                            <a:srgbClr val="0E0E12"/>
                          </a:solidFill>
                          <a:latin typeface="Jost"/>
                        </a:defRPr>
                      </a:pPr>
                      <a:r>
                        <a:t>22</a:t>
                      </a:r>
                    </a:p>
                  </a:txBody>
                  <a:tcPr marT="25400" marB="25400">
                    <a:solidFill>
                      <a:srgbClr val="F7F5F0"/>
                    </a:solidFill>
                  </a:tcPr>
                </a:tc>
                <a:tc>
                  <a:txBody>
                    <a:bodyPr/>
                    <a:lstStyle/>
                    <a:p>
                      <a:pPr>
                        <a:defRPr sz="800">
                          <a:solidFill>
                            <a:srgbClr val="0E0E12"/>
                          </a:solidFill>
                          <a:latin typeface="Jost"/>
                        </a:defRPr>
                      </a:pPr>
                      <a:r>
                        <a:t>32</a:t>
                      </a:r>
                    </a:p>
                  </a:txBody>
                  <a:tcPr marT="25400" marB="25400">
                    <a:solidFill>
                      <a:srgbClr val="F7F5F0"/>
                    </a:solidFill>
                  </a:tcPr>
                </a:tc>
                <a:tc>
                  <a:txBody>
                    <a:bodyPr/>
                    <a:lstStyle/>
                    <a:p>
                      <a:pPr>
                        <a:defRPr sz="800">
                          <a:solidFill>
                            <a:srgbClr val="7A7889"/>
                          </a:solidFill>
                          <a:latin typeface="Jost"/>
                        </a:defRPr>
                      </a:pPr>
                      <a:r>
                        <a:t>↓ -31.2%</a:t>
                      </a:r>
                    </a:p>
                  </a:txBody>
                  <a:tcPr marT="25400" marB="25400">
                    <a:solidFill>
                      <a:srgbClr val="F7F5F0"/>
                    </a:solidFill>
                  </a:tcPr>
                </a:tc>
              </a:tr>
              <a:tr h="164592">
                <a:tc>
                  <a:txBody>
                    <a:bodyPr/>
                    <a:lstStyle/>
                    <a:p>
                      <a:pPr>
                        <a:defRPr sz="800">
                          <a:solidFill>
                            <a:srgbClr val="0E0E12"/>
                          </a:solidFill>
                          <a:latin typeface="Jost"/>
                        </a:defRPr>
                      </a:pPr>
                      <a:r>
                        <a:t>Impressions</a:t>
                      </a:r>
                    </a:p>
                  </a:txBody>
                  <a:tcPr marT="25400" marB="25400">
                    <a:solidFill>
                      <a:srgbClr val="FFFFFF"/>
                    </a:solidFill>
                  </a:tcPr>
                </a:tc>
                <a:tc>
                  <a:txBody>
                    <a:bodyPr/>
                    <a:lstStyle/>
                    <a:p>
                      <a:pPr>
                        <a:defRPr sz="800">
                          <a:solidFill>
                            <a:srgbClr val="0E0E12"/>
                          </a:solidFill>
                          <a:latin typeface="Jost"/>
                        </a:defRPr>
                      </a:pPr>
                      <a:r>
                        <a:t>26.0K</a:t>
                      </a:r>
                    </a:p>
                  </a:txBody>
                  <a:tcPr marT="25400" marB="25400">
                    <a:solidFill>
                      <a:srgbClr val="FFFFFF"/>
                    </a:solidFill>
                  </a:tcPr>
                </a:tc>
                <a:tc>
                  <a:txBody>
                    <a:bodyPr/>
                    <a:lstStyle/>
                    <a:p>
                      <a:pPr>
                        <a:defRPr sz="800">
                          <a:solidFill>
                            <a:srgbClr val="0E0E12"/>
                          </a:solidFill>
                          <a:latin typeface="Jost"/>
                        </a:defRPr>
                      </a:pPr>
                      <a:r>
                        <a:t>60.2K</a:t>
                      </a:r>
                    </a:p>
                  </a:txBody>
                  <a:tcPr marT="25400" marB="25400">
                    <a:solidFill>
                      <a:srgbClr val="FFFFFF"/>
                    </a:solidFill>
                  </a:tcPr>
                </a:tc>
                <a:tc>
                  <a:txBody>
                    <a:bodyPr/>
                    <a:lstStyle/>
                    <a:p>
                      <a:pPr>
                        <a:defRPr sz="800">
                          <a:solidFill>
                            <a:srgbClr val="7A7889"/>
                          </a:solidFill>
                          <a:latin typeface="Jost"/>
                        </a:defRPr>
                      </a:pPr>
                      <a:r>
                        <a:t>↓ -56.9%</a:t>
                      </a:r>
                    </a:p>
                  </a:txBody>
                  <a:tcPr marT="25400" marB="25400">
                    <a:solidFill>
                      <a:srgbClr val="FFFFFF"/>
                    </a:solidFill>
                  </a:tcPr>
                </a:tc>
              </a:tr>
              <a:tr h="164592">
                <a:tc>
                  <a:txBody>
                    <a:bodyPr/>
                    <a:lstStyle/>
                    <a:p>
                      <a:pPr>
                        <a:defRPr sz="800">
                          <a:solidFill>
                            <a:srgbClr val="0E0E12"/>
                          </a:solidFill>
                          <a:latin typeface="Jost"/>
                        </a:defRPr>
                      </a:pPr>
                      <a:r>
                        <a:t>Reactions</a:t>
                      </a:r>
                    </a:p>
                  </a:txBody>
                  <a:tcPr marT="25400" marB="25400">
                    <a:solidFill>
                      <a:srgbClr val="F7F5F0"/>
                    </a:solidFill>
                  </a:tcPr>
                </a:tc>
                <a:tc>
                  <a:txBody>
                    <a:bodyPr/>
                    <a:lstStyle/>
                    <a:p>
                      <a:pPr>
                        <a:defRPr sz="800">
                          <a:solidFill>
                            <a:srgbClr val="0E0E12"/>
                          </a:solidFill>
                          <a:latin typeface="Jost"/>
                        </a:defRPr>
                      </a:pPr>
                      <a:r>
                        <a:t>313</a:t>
                      </a:r>
                    </a:p>
                  </a:txBody>
                  <a:tcPr marT="25400" marB="25400">
                    <a:solidFill>
                      <a:srgbClr val="F7F5F0"/>
                    </a:solidFill>
                  </a:tcPr>
                </a:tc>
                <a:tc>
                  <a:txBody>
                    <a:bodyPr/>
                    <a:lstStyle/>
                    <a:p>
                      <a:pPr>
                        <a:defRPr sz="800">
                          <a:solidFill>
                            <a:srgbClr val="0E0E12"/>
                          </a:solidFill>
                          <a:latin typeface="Jost"/>
                        </a:defRPr>
                      </a:pPr>
                      <a:r>
                        <a:t>660</a:t>
                      </a:r>
                    </a:p>
                  </a:txBody>
                  <a:tcPr marT="25400" marB="25400">
                    <a:solidFill>
                      <a:srgbClr val="F7F5F0"/>
                    </a:solidFill>
                  </a:tcPr>
                </a:tc>
                <a:tc>
                  <a:txBody>
                    <a:bodyPr/>
                    <a:lstStyle/>
                    <a:p>
                      <a:pPr>
                        <a:defRPr sz="800">
                          <a:solidFill>
                            <a:srgbClr val="7A7889"/>
                          </a:solidFill>
                          <a:latin typeface="Jost"/>
                        </a:defRPr>
                      </a:pPr>
                      <a:r>
                        <a:t>↓ -52.6%</a:t>
                      </a:r>
                    </a:p>
                  </a:txBody>
                  <a:tcPr marT="25400" marB="25400">
                    <a:solidFill>
                      <a:srgbClr val="F7F5F0"/>
                    </a:solidFill>
                  </a:tcPr>
                </a:tc>
              </a:tr>
              <a:tr h="164592">
                <a:tc>
                  <a:txBody>
                    <a:bodyPr/>
                    <a:lstStyle/>
                    <a:p>
                      <a:pPr>
                        <a:defRPr sz="800">
                          <a:solidFill>
                            <a:srgbClr val="0E0E12"/>
                          </a:solidFill>
                          <a:latin typeface="Jost"/>
                        </a:defRPr>
                      </a:pPr>
                      <a:r>
                        <a:t>Comments</a:t>
                      </a:r>
                    </a:p>
                  </a:txBody>
                  <a:tcPr marT="25400" marB="25400">
                    <a:solidFill>
                      <a:srgbClr val="FFFFFF"/>
                    </a:solidFill>
                  </a:tcPr>
                </a:tc>
                <a:tc>
                  <a:txBody>
                    <a:bodyPr/>
                    <a:lstStyle/>
                    <a:p>
                      <a:pPr>
                        <a:defRPr sz="800">
                          <a:solidFill>
                            <a:srgbClr val="0E0E12"/>
                          </a:solidFill>
                          <a:latin typeface="Jost"/>
                        </a:defRPr>
                      </a:pPr>
                      <a:r>
                        <a:t>23</a:t>
                      </a:r>
                    </a:p>
                  </a:txBody>
                  <a:tcPr marT="25400" marB="25400">
                    <a:solidFill>
                      <a:srgbClr val="FFFFFF"/>
                    </a:solidFill>
                  </a:tcPr>
                </a:tc>
                <a:tc>
                  <a:txBody>
                    <a:bodyPr/>
                    <a:lstStyle/>
                    <a:p>
                      <a:pPr>
                        <a:defRPr sz="800">
                          <a:solidFill>
                            <a:srgbClr val="0E0E12"/>
                          </a:solidFill>
                          <a:latin typeface="Jost"/>
                        </a:defRPr>
                      </a:pPr>
                      <a:r>
                        <a:t>83</a:t>
                      </a:r>
                    </a:p>
                  </a:txBody>
                  <a:tcPr marT="25400" marB="25400">
                    <a:solidFill>
                      <a:srgbClr val="FFFFFF"/>
                    </a:solidFill>
                  </a:tcPr>
                </a:tc>
                <a:tc>
                  <a:txBody>
                    <a:bodyPr/>
                    <a:lstStyle/>
                    <a:p>
                      <a:pPr>
                        <a:defRPr sz="800">
                          <a:solidFill>
                            <a:srgbClr val="7A7889"/>
                          </a:solidFill>
                          <a:latin typeface="Jost"/>
                        </a:defRPr>
                      </a:pPr>
                      <a:r>
                        <a:t>↓ -72.3%</a:t>
                      </a:r>
                    </a:p>
                  </a:txBody>
                  <a:tcPr marT="25400" marB="25400">
                    <a:solidFill>
                      <a:srgbClr val="FFFFFF"/>
                    </a:solidFill>
                  </a:tcPr>
                </a:tc>
              </a:tr>
              <a:tr h="164592">
                <a:tc>
                  <a:txBody>
                    <a:bodyPr/>
                    <a:lstStyle/>
                    <a:p>
                      <a:pPr>
                        <a:defRPr sz="800">
                          <a:solidFill>
                            <a:srgbClr val="0E0E12"/>
                          </a:solidFill>
                          <a:latin typeface="Jost"/>
                        </a:defRPr>
                      </a:pPr>
                      <a:r>
                        <a:t>Shares</a:t>
                      </a:r>
                    </a:p>
                  </a:txBody>
                  <a:tcPr marT="25400" marB="25400">
                    <a:solidFill>
                      <a:srgbClr val="F7F5F0"/>
                    </a:solidFill>
                  </a:tcPr>
                </a:tc>
                <a:tc>
                  <a:txBody>
                    <a:bodyPr/>
                    <a:lstStyle/>
                    <a:p>
                      <a:pPr>
                        <a:defRPr sz="800">
                          <a:solidFill>
                            <a:srgbClr val="0E0E12"/>
                          </a:solidFill>
                          <a:latin typeface="Jost"/>
                        </a:defRPr>
                      </a:pPr>
                      <a:r>
                        <a:t>19</a:t>
                      </a:r>
                    </a:p>
                  </a:txBody>
                  <a:tcPr marT="25400" marB="25400">
                    <a:solidFill>
                      <a:srgbClr val="F7F5F0"/>
                    </a:solidFill>
                  </a:tcPr>
                </a:tc>
                <a:tc>
                  <a:txBody>
                    <a:bodyPr/>
                    <a:lstStyle/>
                    <a:p>
                      <a:pPr>
                        <a:defRPr sz="800">
                          <a:solidFill>
                            <a:srgbClr val="0E0E12"/>
                          </a:solidFill>
                          <a:latin typeface="Jost"/>
                        </a:defRPr>
                      </a:pPr>
                      <a:r>
                        <a:t>29</a:t>
                      </a:r>
                    </a:p>
                  </a:txBody>
                  <a:tcPr marT="25400" marB="25400">
                    <a:solidFill>
                      <a:srgbClr val="F7F5F0"/>
                    </a:solidFill>
                  </a:tcPr>
                </a:tc>
                <a:tc>
                  <a:txBody>
                    <a:bodyPr/>
                    <a:lstStyle/>
                    <a:p>
                      <a:pPr>
                        <a:defRPr sz="800">
                          <a:solidFill>
                            <a:srgbClr val="7A7889"/>
                          </a:solidFill>
                          <a:latin typeface="Jost"/>
                        </a:defRPr>
                      </a:pPr>
                      <a:r>
                        <a:t>↓ -34.5%</a:t>
                      </a:r>
                    </a:p>
                  </a:txBody>
                  <a:tcPr marT="25400" marB="25400">
                    <a:solidFill>
                      <a:srgbClr val="F7F5F0"/>
                    </a:solidFill>
                  </a:tcPr>
                </a:tc>
              </a:tr>
              <a:tr h="164592">
                <a:tc>
                  <a:txBody>
                    <a:bodyPr/>
                    <a:lstStyle/>
                    <a:p>
                      <a:pPr>
                        <a:defRPr sz="800">
                          <a:solidFill>
                            <a:srgbClr val="0E0E12"/>
                          </a:solidFill>
                          <a:latin typeface="Jost"/>
                        </a:defRPr>
                      </a:pPr>
                      <a:r>
                        <a:t>Clicks</a:t>
                      </a:r>
                    </a:p>
                  </a:txBody>
                  <a:tcPr marT="25400" marB="25400">
                    <a:solidFill>
                      <a:srgbClr val="FFFFFF"/>
                    </a:solidFill>
                  </a:tcPr>
                </a:tc>
                <a:tc>
                  <a:txBody>
                    <a:bodyPr/>
                    <a:lstStyle/>
                    <a:p>
                      <a:pPr>
                        <a:defRPr sz="800">
                          <a:solidFill>
                            <a:srgbClr val="0E0E12"/>
                          </a:solidFill>
                          <a:latin typeface="Jost"/>
                        </a:defRPr>
                      </a:pPr>
                      <a:r>
                        <a:t>1.4K</a:t>
                      </a:r>
                    </a:p>
                  </a:txBody>
                  <a:tcPr marT="25400" marB="25400">
                    <a:solidFill>
                      <a:srgbClr val="FFFFFF"/>
                    </a:solidFill>
                  </a:tcPr>
                </a:tc>
                <a:tc>
                  <a:txBody>
                    <a:bodyPr/>
                    <a:lstStyle/>
                    <a:p>
                      <a:pPr>
                        <a:defRPr sz="800">
                          <a:solidFill>
                            <a:srgbClr val="0E0E12"/>
                          </a:solidFill>
                          <a:latin typeface="Jost"/>
                        </a:defRPr>
                      </a:pPr>
                      <a:r>
                        <a:t>3.1K</a:t>
                      </a:r>
                    </a:p>
                  </a:txBody>
                  <a:tcPr marT="25400" marB="25400">
                    <a:solidFill>
                      <a:srgbClr val="FFFFFF"/>
                    </a:solidFill>
                  </a:tcPr>
                </a:tc>
                <a:tc>
                  <a:txBody>
                    <a:bodyPr/>
                    <a:lstStyle/>
                    <a:p>
                      <a:pPr>
                        <a:defRPr sz="800">
                          <a:solidFill>
                            <a:srgbClr val="7A7889"/>
                          </a:solidFill>
                          <a:latin typeface="Jost"/>
                        </a:defRPr>
                      </a:pPr>
                      <a:r>
                        <a:t>↓ -53.3%</a:t>
                      </a:r>
                    </a:p>
                  </a:txBody>
                  <a:tcPr marT="25400" marB="25400">
                    <a:solidFill>
                      <a:srgbClr val="FFFFFF"/>
                    </a:solidFill>
                  </a:tcPr>
                </a:tc>
              </a:tr>
              <a:tr h="164592">
                <a:tc>
                  <a:txBody>
                    <a:bodyPr/>
                    <a:lstStyle/>
                    <a:p>
                      <a:pPr>
                        <a:defRPr sz="800">
                          <a:solidFill>
                            <a:srgbClr val="0E0E12"/>
                          </a:solidFill>
                          <a:latin typeface="Jost"/>
                        </a:defRPr>
                      </a:pPr>
                      <a:r>
                        <a:t>Weighted Eng. Rate (impressions)</a:t>
                      </a:r>
                    </a:p>
                  </a:txBody>
                  <a:tcPr marT="25400" marB="25400">
                    <a:solidFill>
                      <a:srgbClr val="F7F5F0"/>
                    </a:solidFill>
                  </a:tcPr>
                </a:tc>
                <a:tc>
                  <a:txBody>
                    <a:bodyPr/>
                    <a:lstStyle/>
                    <a:p>
                      <a:pPr>
                        <a:defRPr sz="800">
                          <a:solidFill>
                            <a:srgbClr val="0E0E12"/>
                          </a:solidFill>
                          <a:latin typeface="Jost"/>
                        </a:defRPr>
                      </a:pPr>
                      <a:r>
                        <a:t>1.37%</a:t>
                      </a:r>
                    </a:p>
                  </a:txBody>
                  <a:tcPr marT="25400" marB="25400">
                    <a:solidFill>
                      <a:srgbClr val="F7F5F0"/>
                    </a:solidFill>
                  </a:tcPr>
                </a:tc>
                <a:tc>
                  <a:txBody>
                    <a:bodyPr/>
                    <a:lstStyle/>
                    <a:p>
                      <a:pPr>
                        <a:defRPr sz="800">
                          <a:solidFill>
                            <a:srgbClr val="0E0E12"/>
                          </a:solidFill>
                          <a:latin typeface="Jost"/>
                        </a:defRPr>
                      </a:pPr>
                      <a:r>
                        <a:t>1.28%</a:t>
                      </a:r>
                    </a:p>
                  </a:txBody>
                  <a:tcPr marT="25400" marB="25400">
                    <a:solidFill>
                      <a:srgbClr val="F7F5F0"/>
                    </a:solidFill>
                  </a:tcPr>
                </a:tc>
                <a:tc>
                  <a:txBody>
                    <a:bodyPr/>
                    <a:lstStyle/>
                    <a:p>
                      <a:pPr>
                        <a:defRPr sz="800">
                          <a:solidFill>
                            <a:srgbClr val="2D55C9"/>
                          </a:solidFill>
                          <a:latin typeface="Jost"/>
                        </a:defRPr>
                      </a:pPr>
                      <a:r>
                        <a:t>↑ +6.6%</a:t>
                      </a:r>
                    </a:p>
                  </a:txBody>
                  <a:tcPr marT="25400" marB="25400">
                    <a:solidFill>
                      <a:srgbClr val="F7F5F0"/>
                    </a:solidFill>
                  </a:tcPr>
                </a:tc>
              </a:tr>
            </a:tbl>
          </a:graphicData>
        </a:graphic>
      </p:graphicFrame>
      <p:sp>
        <p:nvSpPr>
          <p:cNvPr id="8" name="TextBox 7"/>
          <p:cNvSpPr txBox="1"/>
          <p:nvPr/>
        </p:nvSpPr>
        <p:spPr>
          <a:xfrm>
            <a:off x="512064" y="3145536"/>
            <a:ext cx="8119872" cy="182880"/>
          </a:xfrm>
          <a:prstGeom prst="rect">
            <a:avLst/>
          </a:prstGeom>
          <a:noFill/>
        </p:spPr>
        <p:txBody>
          <a:bodyPr wrap="square">
            <a:spAutoFit/>
          </a:bodyPr>
          <a:lstStyle/>
          <a:p>
            <a:r>
              <a:rPr sz="1000" i="1">
                <a:solidFill>
                  <a:srgbClr val="7A7889"/>
                </a:solidFill>
                <a:latin typeface="Jost"/>
              </a:rPr>
              <a:t>Most metrics are down this period alongside a 31% drop in posting frequency (22 vs. 32 posts).</a:t>
            </a:r>
          </a:p>
        </p:txBody>
      </p:sp>
      <p:sp>
        <p:nvSpPr>
          <p:cNvPr id="9" name="TextBox 8"/>
          <p:cNvSpPr txBox="1"/>
          <p:nvPr/>
        </p:nvSpPr>
        <p:spPr>
          <a:xfrm>
            <a:off x="512064" y="3355848"/>
            <a:ext cx="8119872" cy="219456"/>
          </a:xfrm>
          <a:prstGeom prst="rect">
            <a:avLst/>
          </a:prstGeom>
          <a:noFill/>
        </p:spPr>
        <p:txBody>
          <a:bodyPr wrap="none">
            <a:spAutoFit/>
          </a:bodyPr>
          <a:lstStyle/>
          <a:p>
            <a:r>
              <a:rPr sz="1200" b="1">
                <a:solidFill>
                  <a:srgbClr val="3A3845"/>
                </a:solidFill>
                <a:latin typeface="Jost"/>
              </a:rPr>
              <a:t>Daily Impressions — Current vs. Prior Period</a:t>
            </a:r>
          </a:p>
        </p:txBody>
      </p:sp>
      <p:graphicFrame>
        <p:nvGraphicFramePr>
          <p:cNvPr id="10" name="Chart 9"/>
          <p:cNvGraphicFramePr>
            <a:graphicFrameLocks noGrp="1"/>
          </p:cNvGraphicFramePr>
          <p:nvPr/>
        </p:nvGraphicFramePr>
        <p:xfrm>
          <a:off x="512064" y="3575304"/>
          <a:ext cx="8119872" cy="1316736"/>
        </p:xfrm>
        <a:graphic>
          <a:graphicData uri="http://schemas.openxmlformats.org/drawingml/2006/chart">
            <c:chart xmlns:c="http://schemas.openxmlformats.org/drawingml/2006/chart" r:id="rId2"/>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Facebook — Top Posts This Period</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548640"/>
          </a:xfrm>
          <a:prstGeom prst="rect">
            <a:avLst/>
          </a:prstGeom>
          <a:noFill/>
        </p:spPr>
        <p:txBody>
          <a:bodyPr wrap="square">
            <a:spAutoFit/>
          </a:bodyPr>
          <a:lstStyle/>
          <a:p>
            <a:r>
              <a:rPr sz="1400" b="0">
                <a:solidFill>
                  <a:srgbClr val="0E0E12"/>
                </a:solidFill>
                <a:latin typeface="Jost"/>
              </a:rPr>
              <a:t>“King &amp; Co. is back on the deck this Sunday f…” drove </a:t>
            </a:r>
            <a:r>
              <a:rPr sz="1400" b="1">
                <a:solidFill>
                  <a:srgbClr val="C8A84B"/>
                </a:solidFill>
                <a:latin typeface="Jost"/>
              </a:rPr>
              <a:t>36%</a:t>
            </a:r>
            <a:r>
              <a:rPr sz="1400" b="0">
                <a:solidFill>
                  <a:srgbClr val="0E0E12"/>
                </a:solidFill>
                <a:latin typeface="Jost"/>
              </a:rPr>
              <a:t> of this period's total impressions.</a:t>
            </a:r>
          </a:p>
        </p:txBody>
      </p:sp>
      <p:graphicFrame>
        <p:nvGraphicFramePr>
          <p:cNvPr id="5" name="Table 4"/>
          <p:cNvGraphicFramePr>
            <a:graphicFrameLocks noGrp="1"/>
          </p:cNvGraphicFramePr>
          <p:nvPr/>
        </p:nvGraphicFramePr>
        <p:xfrm>
          <a:off x="512064" y="1709928"/>
          <a:ext cx="8119872" cy="3017520"/>
        </p:xfrm>
        <a:graphic>
          <a:graphicData uri="http://schemas.openxmlformats.org/drawingml/2006/table">
            <a:tbl>
              <a:tblPr firstRow="1" bandRow="1">
                <a:tableStyleId>{5C22544A-7EE6-4342-B048-85BDC9FD1C3A}</a:tableStyleId>
              </a:tblPr>
              <a:tblGrid>
                <a:gridCol w="4507992"/>
                <a:gridCol w="640080"/>
                <a:gridCol w="685800"/>
                <a:gridCol w="777240"/>
                <a:gridCol w="777240"/>
                <a:gridCol w="731520"/>
              </a:tblGrid>
              <a:tr h="502920">
                <a:tc>
                  <a:txBody>
                    <a:bodyPr/>
                    <a:lstStyle/>
                    <a:p>
                      <a:pPr>
                        <a:defRPr sz="900" b="1">
                          <a:solidFill>
                            <a:srgbClr val="FFFFFF"/>
                          </a:solidFill>
                          <a:latin typeface="Jost"/>
                        </a:defRPr>
                      </a:pPr>
                      <a:r>
                        <a:t>Post</a:t>
                      </a:r>
                    </a:p>
                  </a:txBody>
                  <a:tcPr marT="25400" marB="25400">
                    <a:solidFill>
                      <a:srgbClr val="1A3A8F"/>
                    </a:solidFill>
                  </a:tcPr>
                </a:tc>
                <a:tc>
                  <a:txBody>
                    <a:bodyPr/>
                    <a:lstStyle/>
                    <a:p>
                      <a:pPr>
                        <a:defRPr sz="900" b="1">
                          <a:solidFill>
                            <a:srgbClr val="FFFFFF"/>
                          </a:solidFill>
                          <a:latin typeface="Jost"/>
                        </a:defRPr>
                      </a:pPr>
                      <a:r>
                        <a:t>Date</a:t>
                      </a:r>
                    </a:p>
                  </a:txBody>
                  <a:tcPr marT="25400" marB="25400">
                    <a:solidFill>
                      <a:srgbClr val="1A3A8F"/>
                    </a:solidFill>
                  </a:tcPr>
                </a:tc>
                <a:tc>
                  <a:txBody>
                    <a:bodyPr/>
                    <a:lstStyle/>
                    <a:p>
                      <a:pPr>
                        <a:defRPr sz="900" b="1">
                          <a:solidFill>
                            <a:srgbClr val="FFFFFF"/>
                          </a:solidFill>
                          <a:latin typeface="Jost"/>
                        </a:defRPr>
                      </a:pPr>
                      <a:r>
                        <a:t>Impressions</a:t>
                      </a:r>
                    </a:p>
                  </a:txBody>
                  <a:tcPr marT="25400" marB="25400">
                    <a:solidFill>
                      <a:srgbClr val="1A3A8F"/>
                    </a:solidFill>
                  </a:tcPr>
                </a:tc>
                <a:tc>
                  <a:txBody>
                    <a:bodyPr/>
                    <a:lstStyle/>
                    <a:p>
                      <a:pPr>
                        <a:defRPr sz="900" b="1">
                          <a:solidFill>
                            <a:srgbClr val="FFFFFF"/>
                          </a:solidFill>
                          <a:latin typeface="Jost"/>
                        </a:defRPr>
                      </a:pPr>
                      <a:r>
                        <a:t>Reactions</a:t>
                      </a:r>
                    </a:p>
                  </a:txBody>
                  <a:tcPr marT="25400" marB="25400">
                    <a:solidFill>
                      <a:srgbClr val="1A3A8F"/>
                    </a:solidFill>
                  </a:tcPr>
                </a:tc>
                <a:tc>
                  <a:txBody>
                    <a:bodyPr/>
                    <a:lstStyle/>
                    <a:p>
                      <a:pPr>
                        <a:defRPr sz="900" b="1">
                          <a:solidFill>
                            <a:srgbClr val="FFFFFF"/>
                          </a:solidFill>
                          <a:latin typeface="Jost"/>
                        </a:defRPr>
                      </a:pPr>
                      <a:r>
                        <a:t>Comments</a:t>
                      </a:r>
                    </a:p>
                  </a:txBody>
                  <a:tcPr marT="25400" marB="25400">
                    <a:solidFill>
                      <a:srgbClr val="1A3A8F"/>
                    </a:solidFill>
                  </a:tcPr>
                </a:tc>
                <a:tc>
                  <a:txBody>
                    <a:bodyPr/>
                    <a:lstStyle/>
                    <a:p>
                      <a:pPr>
                        <a:defRPr sz="900" b="1">
                          <a:solidFill>
                            <a:srgbClr val="FFFFFF"/>
                          </a:solidFill>
                          <a:latin typeface="Jost"/>
                        </a:defRPr>
                      </a:pPr>
                      <a:r>
                        <a:t>Shares</a:t>
                      </a:r>
                    </a:p>
                  </a:txBody>
                  <a:tcPr marT="25400" marB="25400">
                    <a:solidFill>
                      <a:srgbClr val="1A3A8F"/>
                    </a:solidFill>
                  </a:tcPr>
                </a:tc>
              </a:tr>
              <a:tr h="502920">
                <a:tc>
                  <a:txBody>
                    <a:bodyPr/>
                    <a:lstStyle/>
                    <a:p>
                      <a:pPr>
                        <a:defRPr sz="900">
                          <a:solidFill>
                            <a:srgbClr val="0E0E12"/>
                          </a:solidFill>
                          <a:latin typeface="Jost"/>
                        </a:defRPr>
                      </a:pPr>
                      <a:r>
                        <a:t>King &amp; Co. is back on the deck this Sunday from 6-9pm. If you were here last time, you know what that means: great tunes, a packed crowd, and a whole lot of dancing under the stri…</a:t>
                      </a:r>
                    </a:p>
                  </a:txBody>
                  <a:tcPr marT="25400" marB="25400">
                    <a:solidFill>
                      <a:srgbClr val="F7F5F0"/>
                    </a:solidFill>
                  </a:tcPr>
                </a:tc>
                <a:tc>
                  <a:txBody>
                    <a:bodyPr/>
                    <a:lstStyle/>
                    <a:p>
                      <a:pPr>
                        <a:defRPr sz="900">
                          <a:solidFill>
                            <a:srgbClr val="0E0E12"/>
                          </a:solidFill>
                          <a:latin typeface="Jost"/>
                        </a:defRPr>
                      </a:pPr>
                      <a:r>
                        <a:t>Sep 09</a:t>
                      </a:r>
                    </a:p>
                  </a:txBody>
                  <a:tcPr marT="25400" marB="25400">
                    <a:solidFill>
                      <a:srgbClr val="F7F5F0"/>
                    </a:solidFill>
                  </a:tcPr>
                </a:tc>
                <a:tc>
                  <a:txBody>
                    <a:bodyPr/>
                    <a:lstStyle/>
                    <a:p>
                      <a:pPr>
                        <a:defRPr sz="900">
                          <a:solidFill>
                            <a:srgbClr val="0E0E12"/>
                          </a:solidFill>
                          <a:latin typeface="Jost"/>
                        </a:defRPr>
                      </a:pPr>
                      <a:r>
                        <a:t>9.3K</a:t>
                      </a:r>
                    </a:p>
                  </a:txBody>
                  <a:tcPr marT="25400" marB="25400">
                    <a:solidFill>
                      <a:srgbClr val="F7F5F0"/>
                    </a:solidFill>
                  </a:tcPr>
                </a:tc>
                <a:tc>
                  <a:txBody>
                    <a:bodyPr/>
                    <a:lstStyle/>
                    <a:p>
                      <a:pPr>
                        <a:defRPr sz="900">
                          <a:solidFill>
                            <a:srgbClr val="0E0E12"/>
                          </a:solidFill>
                          <a:latin typeface="Jost"/>
                        </a:defRPr>
                      </a:pPr>
                      <a:r>
                        <a:t>32</a:t>
                      </a:r>
                    </a:p>
                  </a:txBody>
                  <a:tcPr marT="25400" marB="25400">
                    <a:solidFill>
                      <a:srgbClr val="F7F5F0"/>
                    </a:solidFill>
                  </a:tcPr>
                </a:tc>
                <a:tc>
                  <a:txBody>
                    <a:bodyPr/>
                    <a:lstStyle/>
                    <a:p>
                      <a:pPr>
                        <a:defRPr sz="900">
                          <a:solidFill>
                            <a:srgbClr val="0E0E12"/>
                          </a:solidFill>
                          <a:latin typeface="Jost"/>
                        </a:defRPr>
                      </a:pPr>
                      <a:r>
                        <a:t>1</a:t>
                      </a:r>
                    </a:p>
                  </a:txBody>
                  <a:tcPr marT="25400" marB="25400">
                    <a:solidFill>
                      <a:srgbClr val="F7F5F0"/>
                    </a:solidFill>
                  </a:tcPr>
                </a:tc>
                <a:tc>
                  <a:txBody>
                    <a:bodyPr/>
                    <a:lstStyle/>
                    <a:p>
                      <a:pPr>
                        <a:defRPr sz="900">
                          <a:solidFill>
                            <a:srgbClr val="0E0E12"/>
                          </a:solidFill>
                          <a:latin typeface="Jost"/>
                        </a:defRPr>
                      </a:pPr>
                      <a:r>
                        <a:t>5</a:t>
                      </a:r>
                    </a:p>
                  </a:txBody>
                  <a:tcPr marT="25400" marB="25400">
                    <a:solidFill>
                      <a:srgbClr val="F7F5F0"/>
                    </a:solidFill>
                  </a:tcPr>
                </a:tc>
              </a:tr>
              <a:tr h="502920">
                <a:tc>
                  <a:txBody>
                    <a:bodyPr/>
                    <a:lstStyle/>
                    <a:p>
                      <a:pPr>
                        <a:defRPr sz="900">
                          <a:solidFill>
                            <a:srgbClr val="0E0E12"/>
                          </a:solidFill>
                          <a:latin typeface="Jost"/>
                        </a:defRPr>
                      </a:pPr>
                      <a:r>
                        <a:t>Summer on the pier, gone as fast as it came. As we head into Labor Day Weekend, we're so thankful for everyone who made memories with us this season, from sunrise casts and full d…</a:t>
                      </a:r>
                    </a:p>
                  </a:txBody>
                  <a:tcPr marT="25400" marB="25400">
                    <a:solidFill>
                      <a:srgbClr val="FFFFFF"/>
                    </a:solidFill>
                  </a:tcPr>
                </a:tc>
                <a:tc>
                  <a:txBody>
                    <a:bodyPr/>
                    <a:lstStyle/>
                    <a:p>
                      <a:pPr>
                        <a:defRPr sz="900">
                          <a:solidFill>
                            <a:srgbClr val="0E0E12"/>
                          </a:solidFill>
                          <a:latin typeface="Jost"/>
                        </a:defRPr>
                      </a:pPr>
                      <a:r>
                        <a:t>Sep 04</a:t>
                      </a:r>
                    </a:p>
                  </a:txBody>
                  <a:tcPr marT="25400" marB="25400">
                    <a:solidFill>
                      <a:srgbClr val="FFFFFF"/>
                    </a:solidFill>
                  </a:tcPr>
                </a:tc>
                <a:tc>
                  <a:txBody>
                    <a:bodyPr/>
                    <a:lstStyle/>
                    <a:p>
                      <a:pPr>
                        <a:defRPr sz="900">
                          <a:solidFill>
                            <a:srgbClr val="0E0E12"/>
                          </a:solidFill>
                          <a:latin typeface="Jost"/>
                        </a:defRPr>
                      </a:pPr>
                      <a:r>
                        <a:t>7.3K</a:t>
                      </a:r>
                    </a:p>
                  </a:txBody>
                  <a:tcPr marT="25400" marB="25400">
                    <a:solidFill>
                      <a:srgbClr val="FFFFFF"/>
                    </a:solidFill>
                  </a:tcPr>
                </a:tc>
                <a:tc>
                  <a:txBody>
                    <a:bodyPr/>
                    <a:lstStyle/>
                    <a:p>
                      <a:pPr>
                        <a:defRPr sz="900">
                          <a:solidFill>
                            <a:srgbClr val="0E0E12"/>
                          </a:solidFill>
                          <a:latin typeface="Jost"/>
                        </a:defRPr>
                      </a:pPr>
                      <a:r>
                        <a:t>135</a:t>
                      </a:r>
                    </a:p>
                  </a:txBody>
                  <a:tcPr marT="25400" marB="25400">
                    <a:solidFill>
                      <a:srgbClr val="FFFFFF"/>
                    </a:solidFill>
                  </a:tcPr>
                </a:tc>
                <a:tc>
                  <a:txBody>
                    <a:bodyPr/>
                    <a:lstStyle/>
                    <a:p>
                      <a:pPr>
                        <a:defRPr sz="900">
                          <a:solidFill>
                            <a:srgbClr val="0E0E12"/>
                          </a:solidFill>
                          <a:latin typeface="Jost"/>
                        </a:defRPr>
                      </a:pPr>
                      <a:r>
                        <a:t>14</a:t>
                      </a:r>
                    </a:p>
                  </a:txBody>
                  <a:tcPr marT="25400" marB="25400">
                    <a:solidFill>
                      <a:srgbClr val="FFFFFF"/>
                    </a:solidFill>
                  </a:tcPr>
                </a:tc>
                <a:tc>
                  <a:txBody>
                    <a:bodyPr/>
                    <a:lstStyle/>
                    <a:p>
                      <a:pPr>
                        <a:defRPr sz="900">
                          <a:solidFill>
                            <a:srgbClr val="0E0E12"/>
                          </a:solidFill>
                          <a:latin typeface="Jost"/>
                        </a:defRPr>
                      </a:pPr>
                      <a:r>
                        <a:t>2</a:t>
                      </a:r>
                    </a:p>
                  </a:txBody>
                  <a:tcPr marT="25400" marB="25400">
                    <a:solidFill>
                      <a:srgbClr val="FFFFFF"/>
                    </a:solidFill>
                  </a:tcPr>
                </a:tc>
              </a:tr>
              <a:tr h="502920">
                <a:tc>
                  <a:txBody>
                    <a:bodyPr/>
                    <a:lstStyle/>
                    <a:p>
                      <a:pPr>
                        <a:defRPr sz="900">
                          <a:solidFill>
                            <a:srgbClr val="0E0E12"/>
                          </a:solidFill>
                          <a:latin typeface="Jost"/>
                        </a:defRPr>
                      </a:pPr>
                      <a:r>
                        <a:t>Photo post (no caption)</a:t>
                      </a:r>
                    </a:p>
                  </a:txBody>
                  <a:tcPr marT="25400" marB="25400">
                    <a:solidFill>
                      <a:srgbClr val="F7F5F0"/>
                    </a:solidFill>
                  </a:tcPr>
                </a:tc>
                <a:tc>
                  <a:txBody>
                    <a:bodyPr/>
                    <a:lstStyle/>
                    <a:p>
                      <a:pPr>
                        <a:defRPr sz="900">
                          <a:solidFill>
                            <a:srgbClr val="0E0E12"/>
                          </a:solidFill>
                          <a:latin typeface="Jost"/>
                        </a:defRPr>
                      </a:pPr>
                      <a:r>
                        <a:t>Sep 04</a:t>
                      </a:r>
                    </a:p>
                  </a:txBody>
                  <a:tcPr marT="25400" marB="25400">
                    <a:solidFill>
                      <a:srgbClr val="F7F5F0"/>
                    </a:solidFill>
                  </a:tcPr>
                </a:tc>
                <a:tc>
                  <a:txBody>
                    <a:bodyPr/>
                    <a:lstStyle/>
                    <a:p>
                      <a:pPr>
                        <a:defRPr sz="900">
                          <a:solidFill>
                            <a:srgbClr val="0E0E12"/>
                          </a:solidFill>
                          <a:latin typeface="Jost"/>
                        </a:defRPr>
                      </a:pPr>
                      <a:r>
                        <a:t>3.1K</a:t>
                      </a:r>
                    </a:p>
                  </a:txBody>
                  <a:tcPr marT="25400" marB="25400">
                    <a:solidFill>
                      <a:srgbClr val="F7F5F0"/>
                    </a:solidFill>
                  </a:tcPr>
                </a:tc>
                <a:tc>
                  <a:txBody>
                    <a:bodyPr/>
                    <a:lstStyle/>
                    <a:p>
                      <a:pPr>
                        <a:defRPr sz="900">
                          <a:solidFill>
                            <a:srgbClr val="0E0E12"/>
                          </a:solidFill>
                          <a:latin typeface="Jost"/>
                        </a:defRPr>
                      </a:pPr>
                      <a:r>
                        <a:t>24</a:t>
                      </a:r>
                    </a:p>
                  </a:txBody>
                  <a:tcPr marT="25400" marB="25400">
                    <a:solidFill>
                      <a:srgbClr val="F7F5F0"/>
                    </a:solidFill>
                  </a:tcPr>
                </a:tc>
                <a:tc>
                  <a:txBody>
                    <a:bodyPr/>
                    <a:lstStyle/>
                    <a:p>
                      <a:pPr>
                        <a:defRPr sz="900">
                          <a:solidFill>
                            <a:srgbClr val="0E0E12"/>
                          </a:solidFill>
                          <a:latin typeface="Jost"/>
                        </a:defRPr>
                      </a:pPr>
                      <a:r>
                        <a:t>0</a:t>
                      </a:r>
                    </a:p>
                  </a:txBody>
                  <a:tcPr marT="25400" marB="25400">
                    <a:solidFill>
                      <a:srgbClr val="F7F5F0"/>
                    </a:solidFill>
                  </a:tcPr>
                </a:tc>
                <a:tc>
                  <a:txBody>
                    <a:bodyPr/>
                    <a:lstStyle/>
                    <a:p>
                      <a:pPr>
                        <a:defRPr sz="900">
                          <a:solidFill>
                            <a:srgbClr val="0E0E12"/>
                          </a:solidFill>
                          <a:latin typeface="Jost"/>
                        </a:defRPr>
                      </a:pPr>
                      <a:r>
                        <a:t>3</a:t>
                      </a:r>
                    </a:p>
                  </a:txBody>
                  <a:tcPr marT="25400" marB="25400">
                    <a:solidFill>
                      <a:srgbClr val="F7F5F0"/>
                    </a:solidFill>
                  </a:tcPr>
                </a:tc>
              </a:tr>
              <a:tr h="502920">
                <a:tc>
                  <a:txBody>
                    <a:bodyPr/>
                    <a:lstStyle/>
                    <a:p>
                      <a:pPr>
                        <a:defRPr sz="900">
                          <a:solidFill>
                            <a:srgbClr val="0E0E12"/>
                          </a:solidFill>
                          <a:latin typeface="Jost"/>
                        </a:defRPr>
                      </a:pPr>
                      <a:r>
                        <a:t>Photo post (no caption)</a:t>
                      </a:r>
                    </a:p>
                  </a:txBody>
                  <a:tcPr marT="25400" marB="25400">
                    <a:solidFill>
                      <a:srgbClr val="FFFFFF"/>
                    </a:solidFill>
                  </a:tcPr>
                </a:tc>
                <a:tc>
                  <a:txBody>
                    <a:bodyPr/>
                    <a:lstStyle/>
                    <a:p>
                      <a:pPr>
                        <a:defRPr sz="900">
                          <a:solidFill>
                            <a:srgbClr val="0E0E12"/>
                          </a:solidFill>
                          <a:latin typeface="Jost"/>
                        </a:defRPr>
                      </a:pPr>
                      <a:r>
                        <a:t>Sep 01</a:t>
                      </a:r>
                    </a:p>
                  </a:txBody>
                  <a:tcPr marT="25400" marB="25400">
                    <a:solidFill>
                      <a:srgbClr val="FFFFFF"/>
                    </a:solidFill>
                  </a:tcPr>
                </a:tc>
                <a:tc>
                  <a:txBody>
                    <a:bodyPr/>
                    <a:lstStyle/>
                    <a:p>
                      <a:pPr>
                        <a:defRPr sz="900">
                          <a:solidFill>
                            <a:srgbClr val="0E0E12"/>
                          </a:solidFill>
                          <a:latin typeface="Jost"/>
                        </a:defRPr>
                      </a:pPr>
                      <a:r>
                        <a:t>2.5K</a:t>
                      </a:r>
                    </a:p>
                  </a:txBody>
                  <a:tcPr marT="25400" marB="25400">
                    <a:solidFill>
                      <a:srgbClr val="FFFFFF"/>
                    </a:solidFill>
                  </a:tcPr>
                </a:tc>
                <a:tc>
                  <a:txBody>
                    <a:bodyPr/>
                    <a:lstStyle/>
                    <a:p>
                      <a:pPr>
                        <a:defRPr sz="900">
                          <a:solidFill>
                            <a:srgbClr val="0E0E12"/>
                          </a:solidFill>
                          <a:latin typeface="Jost"/>
                        </a:defRPr>
                      </a:pPr>
                      <a:r>
                        <a:t>34</a:t>
                      </a:r>
                    </a:p>
                  </a:txBody>
                  <a:tcPr marT="25400" marB="25400">
                    <a:solidFill>
                      <a:srgbClr val="FFFFFF"/>
                    </a:solidFill>
                  </a:tcPr>
                </a:tc>
                <a:tc>
                  <a:txBody>
                    <a:bodyPr/>
                    <a:lstStyle/>
                    <a:p>
                      <a:pPr>
                        <a:defRPr sz="900">
                          <a:solidFill>
                            <a:srgbClr val="0E0E12"/>
                          </a:solidFill>
                          <a:latin typeface="Jost"/>
                        </a:defRPr>
                      </a:pPr>
                      <a:r>
                        <a:t>6</a:t>
                      </a:r>
                    </a:p>
                  </a:txBody>
                  <a:tcPr marT="25400" marB="25400">
                    <a:solidFill>
                      <a:srgbClr val="FFFFFF"/>
                    </a:solidFill>
                  </a:tcPr>
                </a:tc>
                <a:tc>
                  <a:txBody>
                    <a:bodyPr/>
                    <a:lstStyle/>
                    <a:p>
                      <a:pPr>
                        <a:defRPr sz="900">
                          <a:solidFill>
                            <a:srgbClr val="0E0E12"/>
                          </a:solidFill>
                          <a:latin typeface="Jost"/>
                        </a:defRPr>
                      </a:pPr>
                      <a:r>
                        <a:t>0</a:t>
                      </a:r>
                    </a:p>
                  </a:txBody>
                  <a:tcPr marT="25400" marB="25400">
                    <a:solidFill>
                      <a:srgbClr val="FFFFFF"/>
                    </a:solidFill>
                  </a:tcPr>
                </a:tc>
              </a:tr>
              <a:tr h="502920">
                <a:tc>
                  <a:txBody>
                    <a:bodyPr/>
                    <a:lstStyle/>
                    <a:p>
                      <a:pPr>
                        <a:defRPr sz="900">
                          <a:solidFill>
                            <a:srgbClr val="0E0E12"/>
                          </a:solidFill>
                          <a:latin typeface="Jost"/>
                        </a:defRPr>
                      </a:pPr>
                      <a:r>
                        <a:t>This Tiki Bar Lime Lager from Tarboro Brewing is REALLY tasty! Our friends on the beach liked it, you probably will too. Grab one at The Seahorse #SeahorseBar #TarboroBrewing #Oak…</a:t>
                      </a:r>
                    </a:p>
                  </a:txBody>
                  <a:tcPr marT="25400" marB="25400">
                    <a:solidFill>
                      <a:srgbClr val="F7F5F0"/>
                    </a:solidFill>
                  </a:tcPr>
                </a:tc>
                <a:tc>
                  <a:txBody>
                    <a:bodyPr/>
                    <a:lstStyle/>
                    <a:p>
                      <a:pPr>
                        <a:defRPr sz="900">
                          <a:solidFill>
                            <a:srgbClr val="0E0E12"/>
                          </a:solidFill>
                          <a:latin typeface="Jost"/>
                        </a:defRPr>
                      </a:pPr>
                      <a:r>
                        <a:t>Sep 02</a:t>
                      </a:r>
                    </a:p>
                  </a:txBody>
                  <a:tcPr marT="25400" marB="25400">
                    <a:solidFill>
                      <a:srgbClr val="F7F5F0"/>
                    </a:solidFill>
                  </a:tcPr>
                </a:tc>
                <a:tc>
                  <a:txBody>
                    <a:bodyPr/>
                    <a:lstStyle/>
                    <a:p>
                      <a:pPr>
                        <a:defRPr sz="900">
                          <a:solidFill>
                            <a:srgbClr val="0E0E12"/>
                          </a:solidFill>
                          <a:latin typeface="Jost"/>
                        </a:defRPr>
                      </a:pPr>
                      <a:r>
                        <a:t>2.1K</a:t>
                      </a:r>
                    </a:p>
                  </a:txBody>
                  <a:tcPr marT="25400" marB="25400">
                    <a:solidFill>
                      <a:srgbClr val="F7F5F0"/>
                    </a:solidFill>
                  </a:tcPr>
                </a:tc>
                <a:tc>
                  <a:txBody>
                    <a:bodyPr/>
                    <a:lstStyle/>
                    <a:p>
                      <a:pPr>
                        <a:defRPr sz="900">
                          <a:solidFill>
                            <a:srgbClr val="0E0E12"/>
                          </a:solidFill>
                          <a:latin typeface="Jost"/>
                        </a:defRPr>
                      </a:pPr>
                      <a:r>
                        <a:t>22</a:t>
                      </a:r>
                    </a:p>
                  </a:txBody>
                  <a:tcPr marT="25400" marB="25400">
                    <a:solidFill>
                      <a:srgbClr val="F7F5F0"/>
                    </a:solidFill>
                  </a:tcPr>
                </a:tc>
                <a:tc>
                  <a:txBody>
                    <a:bodyPr/>
                    <a:lstStyle/>
                    <a:p>
                      <a:pPr>
                        <a:defRPr sz="900">
                          <a:solidFill>
                            <a:srgbClr val="0E0E12"/>
                          </a:solidFill>
                          <a:latin typeface="Jost"/>
                        </a:defRPr>
                      </a:pPr>
                      <a:r>
                        <a:t>2</a:t>
                      </a:r>
                    </a:p>
                  </a:txBody>
                  <a:tcPr marT="25400" marB="25400">
                    <a:solidFill>
                      <a:srgbClr val="F7F5F0"/>
                    </a:solidFill>
                  </a:tcPr>
                </a:tc>
                <a:tc>
                  <a:txBody>
                    <a:bodyPr/>
                    <a:lstStyle/>
                    <a:p>
                      <a:pPr>
                        <a:defRPr sz="900">
                          <a:solidFill>
                            <a:srgbClr val="0E0E12"/>
                          </a:solidFill>
                          <a:latin typeface="Jost"/>
                        </a:defRPr>
                      </a:pPr>
                      <a:r>
                        <a:t>8</a:t>
                      </a:r>
                    </a:p>
                  </a:txBody>
                  <a:tcPr marT="25400" marB="25400">
                    <a:solidFill>
                      <a:srgbClr val="F7F5F0"/>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TikTok Insights</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512064" y="1133856"/>
            <a:ext cx="1961388"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Views</a:t>
            </a:r>
          </a:p>
          <a:p>
            <a:pPr algn="ctr"/>
            <a:r>
              <a:rPr sz="2200" b="1">
                <a:solidFill>
                  <a:srgbClr val="C8A84B"/>
                </a:solidFill>
                <a:latin typeface="Jost"/>
              </a:rPr>
              <a:t>5.2K</a:t>
            </a:r>
          </a:p>
          <a:p>
            <a:pPr algn="ctr"/>
            <a:r>
              <a:rPr sz="900" b="1">
                <a:solidFill>
                  <a:srgbClr val="2D55C9"/>
                </a:solidFill>
                <a:latin typeface="Jost"/>
              </a:rPr>
              <a:t>↑ +47.5%</a:t>
            </a:r>
          </a:p>
        </p:txBody>
      </p:sp>
      <p:sp>
        <p:nvSpPr>
          <p:cNvPr id="5" name="Rounded Rectangle 4"/>
          <p:cNvSpPr/>
          <p:nvPr/>
        </p:nvSpPr>
        <p:spPr>
          <a:xfrm>
            <a:off x="2564892" y="1133856"/>
            <a:ext cx="1961388"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Reach</a:t>
            </a:r>
          </a:p>
          <a:p>
            <a:pPr algn="ctr"/>
            <a:r>
              <a:rPr sz="2200" b="1">
                <a:solidFill>
                  <a:srgbClr val="1A3A8F"/>
                </a:solidFill>
                <a:latin typeface="Jost"/>
              </a:rPr>
              <a:t>3.8K</a:t>
            </a:r>
          </a:p>
          <a:p>
            <a:pPr algn="ctr"/>
            <a:r>
              <a:rPr sz="900" b="1">
                <a:solidFill>
                  <a:srgbClr val="2D55C9"/>
                </a:solidFill>
                <a:latin typeface="Jost"/>
              </a:rPr>
              <a:t>↑ +27.8%</a:t>
            </a:r>
          </a:p>
        </p:txBody>
      </p:sp>
      <p:sp>
        <p:nvSpPr>
          <p:cNvPr id="6" name="Rounded Rectangle 5"/>
          <p:cNvSpPr/>
          <p:nvPr/>
        </p:nvSpPr>
        <p:spPr>
          <a:xfrm>
            <a:off x="4617720" y="1133856"/>
            <a:ext cx="1961388"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Weighted Eng. Rate</a:t>
            </a:r>
          </a:p>
          <a:p>
            <a:pPr algn="ctr"/>
            <a:r>
              <a:rPr sz="2200" b="1">
                <a:solidFill>
                  <a:srgbClr val="1A3A8F"/>
                </a:solidFill>
                <a:latin typeface="Jost"/>
              </a:rPr>
              <a:t>7.40%</a:t>
            </a:r>
          </a:p>
          <a:p>
            <a:pPr algn="ctr"/>
            <a:r>
              <a:rPr sz="900" b="1">
                <a:solidFill>
                  <a:srgbClr val="2D55C9"/>
                </a:solidFill>
                <a:latin typeface="Jost"/>
              </a:rPr>
              <a:t>↑ +28.4%</a:t>
            </a:r>
          </a:p>
        </p:txBody>
      </p:sp>
      <p:sp>
        <p:nvSpPr>
          <p:cNvPr id="7" name="Rounded Rectangle 6"/>
          <p:cNvSpPr/>
          <p:nvPr/>
        </p:nvSpPr>
        <p:spPr>
          <a:xfrm>
            <a:off x="6670548" y="1133856"/>
            <a:ext cx="1961388"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Current Followers</a:t>
            </a:r>
          </a:p>
          <a:p>
            <a:pPr algn="ctr"/>
            <a:r>
              <a:rPr sz="2200" b="1">
                <a:solidFill>
                  <a:srgbClr val="1A3A8F"/>
                </a:solidFill>
                <a:latin typeface="Jost"/>
              </a:rPr>
              <a:t>[Count]</a:t>
            </a:r>
          </a:p>
          <a:p>
            <a:pPr algn="ctr"/>
            <a:r>
              <a:rPr sz="900" b="1">
                <a:solidFill>
                  <a:srgbClr val="3A3845"/>
                </a:solidFill>
                <a:latin typeface="Jost"/>
              </a:rPr>
              <a:t>Manual entry</a:t>
            </a:r>
          </a:p>
        </p:txBody>
      </p:sp>
      <p:graphicFrame>
        <p:nvGraphicFramePr>
          <p:cNvPr id="8" name="Table 7"/>
          <p:cNvGraphicFramePr>
            <a:graphicFrameLocks noGrp="1"/>
          </p:cNvGraphicFramePr>
          <p:nvPr/>
        </p:nvGraphicFramePr>
        <p:xfrm>
          <a:off x="512064" y="1801368"/>
          <a:ext cx="8119872" cy="1316736"/>
        </p:xfrm>
        <a:graphic>
          <a:graphicData uri="http://schemas.openxmlformats.org/drawingml/2006/table">
            <a:tbl>
              <a:tblPr firstRow="1" bandRow="1">
                <a:tableStyleId>{5C22544A-7EE6-4342-B048-85BDC9FD1C3A}</a:tableStyleId>
              </a:tblPr>
              <a:tblGrid>
                <a:gridCol w="2377440"/>
                <a:gridCol w="1554480"/>
                <a:gridCol w="1554480"/>
                <a:gridCol w="2633472"/>
              </a:tblGrid>
              <a:tr h="164592">
                <a:tc>
                  <a:txBody>
                    <a:bodyPr/>
                    <a:lstStyle/>
                    <a:p>
                      <a:pPr>
                        <a:defRPr sz="800" b="1">
                          <a:solidFill>
                            <a:srgbClr val="FFFFFF"/>
                          </a:solidFill>
                          <a:latin typeface="Jost"/>
                        </a:defRPr>
                      </a:pPr>
                      <a:r>
                        <a:t>Metric</a:t>
                      </a:r>
                    </a:p>
                  </a:txBody>
                  <a:tcPr marT="25400" marB="25400">
                    <a:solidFill>
                      <a:srgbClr val="1A3A8F"/>
                    </a:solidFill>
                  </a:tcPr>
                </a:tc>
                <a:tc>
                  <a:txBody>
                    <a:bodyPr/>
                    <a:lstStyle/>
                    <a:p>
                      <a:pPr>
                        <a:defRPr sz="800" b="1">
                          <a:solidFill>
                            <a:srgbClr val="FFFFFF"/>
                          </a:solidFill>
                          <a:latin typeface="Jost"/>
                        </a:defRPr>
                      </a:pPr>
                      <a:r>
                        <a:t>Current</a:t>
                      </a:r>
                    </a:p>
                  </a:txBody>
                  <a:tcPr marT="25400" marB="25400">
                    <a:solidFill>
                      <a:srgbClr val="1A3A8F"/>
                    </a:solidFill>
                  </a:tcPr>
                </a:tc>
                <a:tc>
                  <a:txBody>
                    <a:bodyPr/>
                    <a:lstStyle/>
                    <a:p>
                      <a:pPr>
                        <a:defRPr sz="800" b="1">
                          <a:solidFill>
                            <a:srgbClr val="FFFFFF"/>
                          </a:solidFill>
                          <a:latin typeface="Jost"/>
                        </a:defRPr>
                      </a:pPr>
                      <a:r>
                        <a:t>Prior</a:t>
                      </a:r>
                    </a:p>
                  </a:txBody>
                  <a:tcPr marT="25400" marB="25400">
                    <a:solidFill>
                      <a:srgbClr val="1A3A8F"/>
                    </a:solidFill>
                  </a:tcPr>
                </a:tc>
                <a:tc>
                  <a:txBody>
                    <a:bodyPr/>
                    <a:lstStyle/>
                    <a:p>
                      <a:pPr>
                        <a:defRPr sz="800" b="1">
                          <a:solidFill>
                            <a:srgbClr val="FFFFFF"/>
                          </a:solidFill>
                          <a:latin typeface="Jost"/>
                        </a:defRPr>
                      </a:pPr>
                      <a:r>
                        <a:t>Change</a:t>
                      </a:r>
                    </a:p>
                  </a:txBody>
                  <a:tcPr marT="25400" marB="25400">
                    <a:solidFill>
                      <a:srgbClr val="1A3A8F"/>
                    </a:solidFill>
                  </a:tcPr>
                </a:tc>
              </a:tr>
              <a:tr h="164592">
                <a:tc>
                  <a:txBody>
                    <a:bodyPr/>
                    <a:lstStyle/>
                    <a:p>
                      <a:pPr>
                        <a:defRPr sz="800">
                          <a:solidFill>
                            <a:srgbClr val="0E0E12"/>
                          </a:solidFill>
                          <a:latin typeface="Jost"/>
                        </a:defRPr>
                      </a:pPr>
                      <a:r>
                        <a:t>Posts</a:t>
                      </a:r>
                    </a:p>
                  </a:txBody>
                  <a:tcPr marT="25400" marB="25400">
                    <a:solidFill>
                      <a:srgbClr val="F7F5F0"/>
                    </a:solidFill>
                  </a:tcPr>
                </a:tc>
                <a:tc>
                  <a:txBody>
                    <a:bodyPr/>
                    <a:lstStyle/>
                    <a:p>
                      <a:pPr>
                        <a:defRPr sz="800">
                          <a:solidFill>
                            <a:srgbClr val="0E0E12"/>
                          </a:solidFill>
                          <a:latin typeface="Jost"/>
                        </a:defRPr>
                      </a:pPr>
                      <a:r>
                        <a:t>4</a:t>
                      </a:r>
                    </a:p>
                  </a:txBody>
                  <a:tcPr marT="25400" marB="25400">
                    <a:solidFill>
                      <a:srgbClr val="F7F5F0"/>
                    </a:solidFill>
                  </a:tcPr>
                </a:tc>
                <a:tc>
                  <a:txBody>
                    <a:bodyPr/>
                    <a:lstStyle/>
                    <a:p>
                      <a:pPr>
                        <a:defRPr sz="800">
                          <a:solidFill>
                            <a:srgbClr val="0E0E12"/>
                          </a:solidFill>
                          <a:latin typeface="Jost"/>
                        </a:defRPr>
                      </a:pPr>
                      <a:r>
                        <a:t>6</a:t>
                      </a:r>
                    </a:p>
                  </a:txBody>
                  <a:tcPr marT="25400" marB="25400">
                    <a:solidFill>
                      <a:srgbClr val="F7F5F0"/>
                    </a:solidFill>
                  </a:tcPr>
                </a:tc>
                <a:tc>
                  <a:txBody>
                    <a:bodyPr/>
                    <a:lstStyle/>
                    <a:p>
                      <a:pPr>
                        <a:defRPr sz="800">
                          <a:solidFill>
                            <a:srgbClr val="7A7889"/>
                          </a:solidFill>
                          <a:latin typeface="Jost"/>
                        </a:defRPr>
                      </a:pPr>
                      <a:r>
                        <a:t>↓ -33.3%</a:t>
                      </a:r>
                    </a:p>
                  </a:txBody>
                  <a:tcPr marT="25400" marB="25400">
                    <a:solidFill>
                      <a:srgbClr val="F7F5F0"/>
                    </a:solidFill>
                  </a:tcPr>
                </a:tc>
              </a:tr>
              <a:tr h="164592">
                <a:tc>
                  <a:txBody>
                    <a:bodyPr/>
                    <a:lstStyle/>
                    <a:p>
                      <a:pPr>
                        <a:defRPr sz="800">
                          <a:solidFill>
                            <a:srgbClr val="0E0E12"/>
                          </a:solidFill>
                          <a:latin typeface="Jost"/>
                        </a:defRPr>
                      </a:pPr>
                      <a:r>
                        <a:t>Views</a:t>
                      </a:r>
                    </a:p>
                  </a:txBody>
                  <a:tcPr marT="25400" marB="25400">
                    <a:solidFill>
                      <a:srgbClr val="FFFFFF"/>
                    </a:solidFill>
                  </a:tcPr>
                </a:tc>
                <a:tc>
                  <a:txBody>
                    <a:bodyPr/>
                    <a:lstStyle/>
                    <a:p>
                      <a:pPr>
                        <a:defRPr sz="800">
                          <a:solidFill>
                            <a:srgbClr val="0E0E12"/>
                          </a:solidFill>
                          <a:latin typeface="Jost"/>
                        </a:defRPr>
                      </a:pPr>
                      <a:r>
                        <a:t>5.2K</a:t>
                      </a:r>
                    </a:p>
                  </a:txBody>
                  <a:tcPr marT="25400" marB="25400">
                    <a:solidFill>
                      <a:srgbClr val="FFFFFF"/>
                    </a:solidFill>
                  </a:tcPr>
                </a:tc>
                <a:tc>
                  <a:txBody>
                    <a:bodyPr/>
                    <a:lstStyle/>
                    <a:p>
                      <a:pPr>
                        <a:defRPr sz="800">
                          <a:solidFill>
                            <a:srgbClr val="0E0E12"/>
                          </a:solidFill>
                          <a:latin typeface="Jost"/>
                        </a:defRPr>
                      </a:pPr>
                      <a:r>
                        <a:t>3.6K</a:t>
                      </a:r>
                    </a:p>
                  </a:txBody>
                  <a:tcPr marT="25400" marB="25400">
                    <a:solidFill>
                      <a:srgbClr val="FFFFFF"/>
                    </a:solidFill>
                  </a:tcPr>
                </a:tc>
                <a:tc>
                  <a:txBody>
                    <a:bodyPr/>
                    <a:lstStyle/>
                    <a:p>
                      <a:pPr>
                        <a:defRPr sz="800">
                          <a:solidFill>
                            <a:srgbClr val="2D55C9"/>
                          </a:solidFill>
                          <a:latin typeface="Jost"/>
                        </a:defRPr>
                      </a:pPr>
                      <a:r>
                        <a:t>↑ +47.5%</a:t>
                      </a:r>
                    </a:p>
                  </a:txBody>
                  <a:tcPr marT="25400" marB="25400">
                    <a:solidFill>
                      <a:srgbClr val="FFFFFF"/>
                    </a:solidFill>
                  </a:tcPr>
                </a:tc>
              </a:tr>
              <a:tr h="164592">
                <a:tc>
                  <a:txBody>
                    <a:bodyPr/>
                    <a:lstStyle/>
                    <a:p>
                      <a:pPr>
                        <a:defRPr sz="800">
                          <a:solidFill>
                            <a:srgbClr val="0E0E12"/>
                          </a:solidFill>
                          <a:latin typeface="Jost"/>
                        </a:defRPr>
                      </a:pPr>
                      <a:r>
                        <a:t>Reach</a:t>
                      </a:r>
                    </a:p>
                  </a:txBody>
                  <a:tcPr marT="25400" marB="25400">
                    <a:solidFill>
                      <a:srgbClr val="F7F5F0"/>
                    </a:solidFill>
                  </a:tcPr>
                </a:tc>
                <a:tc>
                  <a:txBody>
                    <a:bodyPr/>
                    <a:lstStyle/>
                    <a:p>
                      <a:pPr>
                        <a:defRPr sz="800">
                          <a:solidFill>
                            <a:srgbClr val="0E0E12"/>
                          </a:solidFill>
                          <a:latin typeface="Jost"/>
                        </a:defRPr>
                      </a:pPr>
                      <a:r>
                        <a:t>3.8K</a:t>
                      </a:r>
                    </a:p>
                  </a:txBody>
                  <a:tcPr marT="25400" marB="25400">
                    <a:solidFill>
                      <a:srgbClr val="F7F5F0"/>
                    </a:solidFill>
                  </a:tcPr>
                </a:tc>
                <a:tc>
                  <a:txBody>
                    <a:bodyPr/>
                    <a:lstStyle/>
                    <a:p>
                      <a:pPr>
                        <a:defRPr sz="800">
                          <a:solidFill>
                            <a:srgbClr val="0E0E12"/>
                          </a:solidFill>
                          <a:latin typeface="Jost"/>
                        </a:defRPr>
                      </a:pPr>
                      <a:r>
                        <a:t>3.0K</a:t>
                      </a:r>
                    </a:p>
                  </a:txBody>
                  <a:tcPr marT="25400" marB="25400">
                    <a:solidFill>
                      <a:srgbClr val="F7F5F0"/>
                    </a:solidFill>
                  </a:tcPr>
                </a:tc>
                <a:tc>
                  <a:txBody>
                    <a:bodyPr/>
                    <a:lstStyle/>
                    <a:p>
                      <a:pPr>
                        <a:defRPr sz="800">
                          <a:solidFill>
                            <a:srgbClr val="2D55C9"/>
                          </a:solidFill>
                          <a:latin typeface="Jost"/>
                        </a:defRPr>
                      </a:pPr>
                      <a:r>
                        <a:t>↑ +27.8%</a:t>
                      </a:r>
                    </a:p>
                  </a:txBody>
                  <a:tcPr marT="25400" marB="25400">
                    <a:solidFill>
                      <a:srgbClr val="F7F5F0"/>
                    </a:solidFill>
                  </a:tcPr>
                </a:tc>
              </a:tr>
              <a:tr h="164592">
                <a:tc>
                  <a:txBody>
                    <a:bodyPr/>
                    <a:lstStyle/>
                    <a:p>
                      <a:pPr>
                        <a:defRPr sz="800">
                          <a:solidFill>
                            <a:srgbClr val="0E0E12"/>
                          </a:solidFill>
                          <a:latin typeface="Jost"/>
                        </a:defRPr>
                      </a:pPr>
                      <a:r>
                        <a:t>Reactions</a:t>
                      </a:r>
                    </a:p>
                  </a:txBody>
                  <a:tcPr marT="25400" marB="25400">
                    <a:solidFill>
                      <a:srgbClr val="FFFFFF"/>
                    </a:solidFill>
                  </a:tcPr>
                </a:tc>
                <a:tc>
                  <a:txBody>
                    <a:bodyPr/>
                    <a:lstStyle/>
                    <a:p>
                      <a:pPr>
                        <a:defRPr sz="800">
                          <a:solidFill>
                            <a:srgbClr val="0E0E12"/>
                          </a:solidFill>
                          <a:latin typeface="Jost"/>
                        </a:defRPr>
                      </a:pPr>
                      <a:r>
                        <a:t>259</a:t>
                      </a:r>
                    </a:p>
                  </a:txBody>
                  <a:tcPr marT="25400" marB="25400">
                    <a:solidFill>
                      <a:srgbClr val="FFFFFF"/>
                    </a:solidFill>
                  </a:tcPr>
                </a:tc>
                <a:tc>
                  <a:txBody>
                    <a:bodyPr/>
                    <a:lstStyle/>
                    <a:p>
                      <a:pPr>
                        <a:defRPr sz="800">
                          <a:solidFill>
                            <a:srgbClr val="0E0E12"/>
                          </a:solidFill>
                          <a:latin typeface="Jost"/>
                        </a:defRPr>
                      </a:pPr>
                      <a:r>
                        <a:t>141</a:t>
                      </a:r>
                    </a:p>
                  </a:txBody>
                  <a:tcPr marT="25400" marB="25400">
                    <a:solidFill>
                      <a:srgbClr val="FFFFFF"/>
                    </a:solidFill>
                  </a:tcPr>
                </a:tc>
                <a:tc>
                  <a:txBody>
                    <a:bodyPr/>
                    <a:lstStyle/>
                    <a:p>
                      <a:pPr>
                        <a:defRPr sz="800">
                          <a:solidFill>
                            <a:srgbClr val="2D55C9"/>
                          </a:solidFill>
                          <a:latin typeface="Jost"/>
                        </a:defRPr>
                      </a:pPr>
                      <a:r>
                        <a:t>↑ +83.7%</a:t>
                      </a:r>
                    </a:p>
                  </a:txBody>
                  <a:tcPr marT="25400" marB="25400">
                    <a:solidFill>
                      <a:srgbClr val="FFFFFF"/>
                    </a:solidFill>
                  </a:tcPr>
                </a:tc>
              </a:tr>
              <a:tr h="164592">
                <a:tc>
                  <a:txBody>
                    <a:bodyPr/>
                    <a:lstStyle/>
                    <a:p>
                      <a:pPr>
                        <a:defRPr sz="800">
                          <a:solidFill>
                            <a:srgbClr val="0E0E12"/>
                          </a:solidFill>
                          <a:latin typeface="Jost"/>
                        </a:defRPr>
                      </a:pPr>
                      <a:r>
                        <a:t>Comments</a:t>
                      </a:r>
                    </a:p>
                  </a:txBody>
                  <a:tcPr marT="25400" marB="25400">
                    <a:solidFill>
                      <a:srgbClr val="F7F5F0"/>
                    </a:solidFill>
                  </a:tcPr>
                </a:tc>
                <a:tc>
                  <a:txBody>
                    <a:bodyPr/>
                    <a:lstStyle/>
                    <a:p>
                      <a:pPr>
                        <a:defRPr sz="800">
                          <a:solidFill>
                            <a:srgbClr val="0E0E12"/>
                          </a:solidFill>
                          <a:latin typeface="Jost"/>
                        </a:defRPr>
                      </a:pPr>
                      <a:r>
                        <a:t>8</a:t>
                      </a:r>
                    </a:p>
                  </a:txBody>
                  <a:tcPr marT="25400" marB="25400">
                    <a:solidFill>
                      <a:srgbClr val="F7F5F0"/>
                    </a:solidFill>
                  </a:tcPr>
                </a:tc>
                <a:tc>
                  <a:txBody>
                    <a:bodyPr/>
                    <a:lstStyle/>
                    <a:p>
                      <a:pPr>
                        <a:defRPr sz="800">
                          <a:solidFill>
                            <a:srgbClr val="0E0E12"/>
                          </a:solidFill>
                          <a:latin typeface="Jost"/>
                        </a:defRPr>
                      </a:pPr>
                      <a:r>
                        <a:t>19</a:t>
                      </a:r>
                    </a:p>
                  </a:txBody>
                  <a:tcPr marT="25400" marB="25400">
                    <a:solidFill>
                      <a:srgbClr val="F7F5F0"/>
                    </a:solidFill>
                  </a:tcPr>
                </a:tc>
                <a:tc>
                  <a:txBody>
                    <a:bodyPr/>
                    <a:lstStyle/>
                    <a:p>
                      <a:pPr>
                        <a:defRPr sz="800">
                          <a:solidFill>
                            <a:srgbClr val="7A7889"/>
                          </a:solidFill>
                          <a:latin typeface="Jost"/>
                        </a:defRPr>
                      </a:pPr>
                      <a:r>
                        <a:t>↓ -57.9%</a:t>
                      </a:r>
                    </a:p>
                  </a:txBody>
                  <a:tcPr marT="25400" marB="25400">
                    <a:solidFill>
                      <a:srgbClr val="F7F5F0"/>
                    </a:solidFill>
                  </a:tcPr>
                </a:tc>
              </a:tr>
              <a:tr h="164592">
                <a:tc>
                  <a:txBody>
                    <a:bodyPr/>
                    <a:lstStyle/>
                    <a:p>
                      <a:pPr>
                        <a:defRPr sz="800">
                          <a:solidFill>
                            <a:srgbClr val="0E0E12"/>
                          </a:solidFill>
                          <a:latin typeface="Jost"/>
                        </a:defRPr>
                      </a:pPr>
                      <a:r>
                        <a:t>Shares</a:t>
                      </a:r>
                    </a:p>
                  </a:txBody>
                  <a:tcPr marT="25400" marB="25400">
                    <a:solidFill>
                      <a:srgbClr val="FFFFFF"/>
                    </a:solidFill>
                  </a:tcPr>
                </a:tc>
                <a:tc>
                  <a:txBody>
                    <a:bodyPr/>
                    <a:lstStyle/>
                    <a:p>
                      <a:pPr>
                        <a:defRPr sz="800">
                          <a:solidFill>
                            <a:srgbClr val="0E0E12"/>
                          </a:solidFill>
                          <a:latin typeface="Jost"/>
                        </a:defRPr>
                      </a:pPr>
                      <a:r>
                        <a:t>17</a:t>
                      </a:r>
                    </a:p>
                  </a:txBody>
                  <a:tcPr marT="25400" marB="25400">
                    <a:solidFill>
                      <a:srgbClr val="FFFFFF"/>
                    </a:solidFill>
                  </a:tcPr>
                </a:tc>
                <a:tc>
                  <a:txBody>
                    <a:bodyPr/>
                    <a:lstStyle/>
                    <a:p>
                      <a:pPr>
                        <a:defRPr sz="800">
                          <a:solidFill>
                            <a:srgbClr val="0E0E12"/>
                          </a:solidFill>
                          <a:latin typeface="Jost"/>
                        </a:defRPr>
                      </a:pPr>
                      <a:r>
                        <a:t>13</a:t>
                      </a:r>
                    </a:p>
                  </a:txBody>
                  <a:tcPr marT="25400" marB="25400">
                    <a:solidFill>
                      <a:srgbClr val="FFFFFF"/>
                    </a:solidFill>
                  </a:tcPr>
                </a:tc>
                <a:tc>
                  <a:txBody>
                    <a:bodyPr/>
                    <a:lstStyle/>
                    <a:p>
                      <a:pPr>
                        <a:defRPr sz="800">
                          <a:solidFill>
                            <a:srgbClr val="2D55C9"/>
                          </a:solidFill>
                          <a:latin typeface="Jost"/>
                        </a:defRPr>
                      </a:pPr>
                      <a:r>
                        <a:t>↑ +30.8%</a:t>
                      </a:r>
                    </a:p>
                  </a:txBody>
                  <a:tcPr marT="25400" marB="25400">
                    <a:solidFill>
                      <a:srgbClr val="FFFFFF"/>
                    </a:solidFill>
                  </a:tcPr>
                </a:tc>
              </a:tr>
              <a:tr h="164592">
                <a:tc>
                  <a:txBody>
                    <a:bodyPr/>
                    <a:lstStyle/>
                    <a:p>
                      <a:pPr>
                        <a:defRPr sz="800">
                          <a:solidFill>
                            <a:srgbClr val="0E0E12"/>
                          </a:solidFill>
                          <a:latin typeface="Jost"/>
                        </a:defRPr>
                      </a:pPr>
                      <a:r>
                        <a:t>Weighted Eng. Rate (reach)</a:t>
                      </a:r>
                    </a:p>
                  </a:txBody>
                  <a:tcPr marT="25400" marB="25400">
                    <a:solidFill>
                      <a:srgbClr val="F7F5F0"/>
                    </a:solidFill>
                  </a:tcPr>
                </a:tc>
                <a:tc>
                  <a:txBody>
                    <a:bodyPr/>
                    <a:lstStyle/>
                    <a:p>
                      <a:pPr>
                        <a:defRPr sz="800">
                          <a:solidFill>
                            <a:srgbClr val="0E0E12"/>
                          </a:solidFill>
                          <a:latin typeface="Jost"/>
                        </a:defRPr>
                      </a:pPr>
                      <a:r>
                        <a:t>7.40%</a:t>
                      </a:r>
                    </a:p>
                  </a:txBody>
                  <a:tcPr marT="25400" marB="25400">
                    <a:solidFill>
                      <a:srgbClr val="F7F5F0"/>
                    </a:solidFill>
                  </a:tcPr>
                </a:tc>
                <a:tc>
                  <a:txBody>
                    <a:bodyPr/>
                    <a:lstStyle/>
                    <a:p>
                      <a:pPr>
                        <a:defRPr sz="800">
                          <a:solidFill>
                            <a:srgbClr val="0E0E12"/>
                          </a:solidFill>
                          <a:latin typeface="Jost"/>
                        </a:defRPr>
                      </a:pPr>
                      <a:r>
                        <a:t>5.76%</a:t>
                      </a:r>
                    </a:p>
                  </a:txBody>
                  <a:tcPr marT="25400" marB="25400">
                    <a:solidFill>
                      <a:srgbClr val="F7F5F0"/>
                    </a:solidFill>
                  </a:tcPr>
                </a:tc>
                <a:tc>
                  <a:txBody>
                    <a:bodyPr/>
                    <a:lstStyle/>
                    <a:p>
                      <a:pPr>
                        <a:defRPr sz="800">
                          <a:solidFill>
                            <a:srgbClr val="2D55C9"/>
                          </a:solidFill>
                          <a:latin typeface="Jost"/>
                        </a:defRPr>
                      </a:pPr>
                      <a:r>
                        <a:t>↑ +28.4%</a:t>
                      </a:r>
                    </a:p>
                  </a:txBody>
                  <a:tcPr marT="25400" marB="25400">
                    <a:solidFill>
                      <a:srgbClr val="F7F5F0"/>
                    </a:solidFill>
                  </a:tcPr>
                </a:tc>
              </a:tr>
            </a:tbl>
          </a:graphicData>
        </a:graphic>
      </p:graphicFrame>
      <p:sp>
        <p:nvSpPr>
          <p:cNvPr id="9" name="TextBox 8"/>
          <p:cNvSpPr txBox="1"/>
          <p:nvPr/>
        </p:nvSpPr>
        <p:spPr>
          <a:xfrm>
            <a:off x="512064" y="3145536"/>
            <a:ext cx="8119872" cy="182880"/>
          </a:xfrm>
          <a:prstGeom prst="rect">
            <a:avLst/>
          </a:prstGeom>
          <a:noFill/>
        </p:spPr>
        <p:txBody>
          <a:bodyPr wrap="square">
            <a:spAutoFit/>
          </a:bodyPr>
          <a:lstStyle/>
          <a:p>
            <a:r>
              <a:rPr sz="1000" i="1">
                <a:solidFill>
                  <a:srgbClr val="7A7889"/>
                </a:solidFill>
                <a:latin typeface="Jost"/>
              </a:rPr>
              <a:t>Comments declined versus the prior period.</a:t>
            </a:r>
          </a:p>
        </p:txBody>
      </p:sp>
      <p:sp>
        <p:nvSpPr>
          <p:cNvPr id="10" name="TextBox 9"/>
          <p:cNvSpPr txBox="1"/>
          <p:nvPr/>
        </p:nvSpPr>
        <p:spPr>
          <a:xfrm>
            <a:off x="512064" y="3355848"/>
            <a:ext cx="8119872" cy="219456"/>
          </a:xfrm>
          <a:prstGeom prst="rect">
            <a:avLst/>
          </a:prstGeom>
          <a:noFill/>
        </p:spPr>
        <p:txBody>
          <a:bodyPr wrap="none">
            <a:spAutoFit/>
          </a:bodyPr>
          <a:lstStyle/>
          <a:p>
            <a:r>
              <a:rPr sz="1200" b="1">
                <a:solidFill>
                  <a:srgbClr val="3A3845"/>
                </a:solidFill>
                <a:latin typeface="Jost"/>
              </a:rPr>
              <a:t>Daily Views — Current vs. Prior Period</a:t>
            </a:r>
          </a:p>
        </p:txBody>
      </p:sp>
      <p:graphicFrame>
        <p:nvGraphicFramePr>
          <p:cNvPr id="11" name="Chart 10"/>
          <p:cNvGraphicFramePr>
            <a:graphicFrameLocks noGrp="1"/>
          </p:cNvGraphicFramePr>
          <p:nvPr/>
        </p:nvGraphicFramePr>
        <p:xfrm>
          <a:off x="512064" y="3575304"/>
          <a:ext cx="8119872" cy="1316736"/>
        </p:xfrm>
        <a:graphic>
          <a:graphicData uri="http://schemas.openxmlformats.org/drawingml/2006/chart">
            <c:chart xmlns:c="http://schemas.openxmlformats.org/drawingml/2006/chart" r:id="rId2"/>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TikTok — Top Posts This Period</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548640"/>
          </a:xfrm>
          <a:prstGeom prst="rect">
            <a:avLst/>
          </a:prstGeom>
          <a:noFill/>
        </p:spPr>
        <p:txBody>
          <a:bodyPr wrap="square">
            <a:spAutoFit/>
          </a:bodyPr>
          <a:lstStyle/>
          <a:p>
            <a:r>
              <a:rPr sz="1400" b="0">
                <a:solidFill>
                  <a:srgbClr val="0E0E12"/>
                </a:solidFill>
                <a:latin typeface="Jost"/>
              </a:rPr>
              <a:t>“Oceanfront, live music tonight, and the door…” drove </a:t>
            </a:r>
            <a:r>
              <a:rPr sz="1400" b="1">
                <a:solidFill>
                  <a:srgbClr val="C8A84B"/>
                </a:solidFill>
                <a:latin typeface="Jost"/>
              </a:rPr>
              <a:t>75%</a:t>
            </a:r>
            <a:r>
              <a:rPr sz="1400" b="0">
                <a:solidFill>
                  <a:srgbClr val="0E0E12"/>
                </a:solidFill>
                <a:latin typeface="Jost"/>
              </a:rPr>
              <a:t> of this period's total views.</a:t>
            </a:r>
          </a:p>
        </p:txBody>
      </p:sp>
      <p:graphicFrame>
        <p:nvGraphicFramePr>
          <p:cNvPr id="5" name="Table 4"/>
          <p:cNvGraphicFramePr>
            <a:graphicFrameLocks noGrp="1"/>
          </p:cNvGraphicFramePr>
          <p:nvPr/>
        </p:nvGraphicFramePr>
        <p:xfrm>
          <a:off x="512064" y="1709928"/>
          <a:ext cx="8119872" cy="2514600"/>
        </p:xfrm>
        <a:graphic>
          <a:graphicData uri="http://schemas.openxmlformats.org/drawingml/2006/table">
            <a:tbl>
              <a:tblPr firstRow="1" bandRow="1">
                <a:tableStyleId>{5C22544A-7EE6-4342-B048-85BDC9FD1C3A}</a:tableStyleId>
              </a:tblPr>
              <a:tblGrid>
                <a:gridCol w="4507992"/>
                <a:gridCol w="640080"/>
                <a:gridCol w="685800"/>
                <a:gridCol w="777240"/>
                <a:gridCol w="777240"/>
                <a:gridCol w="731520"/>
              </a:tblGrid>
              <a:tr h="502920">
                <a:tc>
                  <a:txBody>
                    <a:bodyPr/>
                    <a:lstStyle/>
                    <a:p>
                      <a:pPr>
                        <a:defRPr sz="900" b="1">
                          <a:solidFill>
                            <a:srgbClr val="FFFFFF"/>
                          </a:solidFill>
                          <a:latin typeface="Jost"/>
                        </a:defRPr>
                      </a:pPr>
                      <a:r>
                        <a:t>Post</a:t>
                      </a:r>
                    </a:p>
                  </a:txBody>
                  <a:tcPr marT="25400" marB="25400">
                    <a:solidFill>
                      <a:srgbClr val="1A3A8F"/>
                    </a:solidFill>
                  </a:tcPr>
                </a:tc>
                <a:tc>
                  <a:txBody>
                    <a:bodyPr/>
                    <a:lstStyle/>
                    <a:p>
                      <a:pPr>
                        <a:defRPr sz="900" b="1">
                          <a:solidFill>
                            <a:srgbClr val="FFFFFF"/>
                          </a:solidFill>
                          <a:latin typeface="Jost"/>
                        </a:defRPr>
                      </a:pPr>
                      <a:r>
                        <a:t>Date</a:t>
                      </a:r>
                    </a:p>
                  </a:txBody>
                  <a:tcPr marT="25400" marB="25400">
                    <a:solidFill>
                      <a:srgbClr val="1A3A8F"/>
                    </a:solidFill>
                  </a:tcPr>
                </a:tc>
                <a:tc>
                  <a:txBody>
                    <a:bodyPr/>
                    <a:lstStyle/>
                    <a:p>
                      <a:pPr>
                        <a:defRPr sz="900" b="1">
                          <a:solidFill>
                            <a:srgbClr val="FFFFFF"/>
                          </a:solidFill>
                          <a:latin typeface="Jost"/>
                        </a:defRPr>
                      </a:pPr>
                      <a:r>
                        <a:t>Views</a:t>
                      </a:r>
                    </a:p>
                  </a:txBody>
                  <a:tcPr marT="25400" marB="25400">
                    <a:solidFill>
                      <a:srgbClr val="1A3A8F"/>
                    </a:solidFill>
                  </a:tcPr>
                </a:tc>
                <a:tc>
                  <a:txBody>
                    <a:bodyPr/>
                    <a:lstStyle/>
                    <a:p>
                      <a:pPr>
                        <a:defRPr sz="900" b="1">
                          <a:solidFill>
                            <a:srgbClr val="FFFFFF"/>
                          </a:solidFill>
                          <a:latin typeface="Jost"/>
                        </a:defRPr>
                      </a:pPr>
                      <a:r>
                        <a:t>Reactions</a:t>
                      </a:r>
                    </a:p>
                  </a:txBody>
                  <a:tcPr marT="25400" marB="25400">
                    <a:solidFill>
                      <a:srgbClr val="1A3A8F"/>
                    </a:solidFill>
                  </a:tcPr>
                </a:tc>
                <a:tc>
                  <a:txBody>
                    <a:bodyPr/>
                    <a:lstStyle/>
                    <a:p>
                      <a:pPr>
                        <a:defRPr sz="900" b="1">
                          <a:solidFill>
                            <a:srgbClr val="FFFFFF"/>
                          </a:solidFill>
                          <a:latin typeface="Jost"/>
                        </a:defRPr>
                      </a:pPr>
                      <a:r>
                        <a:t>Comments</a:t>
                      </a:r>
                    </a:p>
                  </a:txBody>
                  <a:tcPr marT="25400" marB="25400">
                    <a:solidFill>
                      <a:srgbClr val="1A3A8F"/>
                    </a:solidFill>
                  </a:tcPr>
                </a:tc>
                <a:tc>
                  <a:txBody>
                    <a:bodyPr/>
                    <a:lstStyle/>
                    <a:p>
                      <a:pPr>
                        <a:defRPr sz="900" b="1">
                          <a:solidFill>
                            <a:srgbClr val="FFFFFF"/>
                          </a:solidFill>
                          <a:latin typeface="Jost"/>
                        </a:defRPr>
                      </a:pPr>
                      <a:r>
                        <a:t>Shares</a:t>
                      </a:r>
                    </a:p>
                  </a:txBody>
                  <a:tcPr marT="25400" marB="25400">
                    <a:solidFill>
                      <a:srgbClr val="1A3A8F"/>
                    </a:solidFill>
                  </a:tcPr>
                </a:tc>
              </a:tr>
              <a:tr h="502920">
                <a:tc>
                  <a:txBody>
                    <a:bodyPr/>
                    <a:lstStyle/>
                    <a:p>
                      <a:pPr>
                        <a:defRPr sz="900">
                          <a:solidFill>
                            <a:srgbClr val="0E0E12"/>
                          </a:solidFill>
                          <a:latin typeface="Jost"/>
                        </a:defRPr>
                      </a:pPr>
                      <a:r>
                        <a:t>Oceanfront, live music tonight, and the door's wide open. Come on in 🎣🌅 #OakIslandNC #LiveMusicNC #PierFishing #SeahorseBar #BeachLife</a:t>
                      </a:r>
                    </a:p>
                  </a:txBody>
                  <a:tcPr marT="25400" marB="25400">
                    <a:solidFill>
                      <a:srgbClr val="F7F5F0"/>
                    </a:solidFill>
                  </a:tcPr>
                </a:tc>
                <a:tc>
                  <a:txBody>
                    <a:bodyPr/>
                    <a:lstStyle/>
                    <a:p>
                      <a:pPr>
                        <a:defRPr sz="900">
                          <a:solidFill>
                            <a:srgbClr val="0E0E12"/>
                          </a:solidFill>
                          <a:latin typeface="Jost"/>
                        </a:defRPr>
                      </a:pPr>
                      <a:r>
                        <a:t>Sep 16</a:t>
                      </a:r>
                    </a:p>
                  </a:txBody>
                  <a:tcPr marT="25400" marB="25400">
                    <a:solidFill>
                      <a:srgbClr val="F7F5F0"/>
                    </a:solidFill>
                  </a:tcPr>
                </a:tc>
                <a:tc>
                  <a:txBody>
                    <a:bodyPr/>
                    <a:lstStyle/>
                    <a:p>
                      <a:pPr>
                        <a:defRPr sz="900">
                          <a:solidFill>
                            <a:srgbClr val="0E0E12"/>
                          </a:solidFill>
                          <a:latin typeface="Jost"/>
                        </a:defRPr>
                      </a:pPr>
                      <a:r>
                        <a:t>3.9K</a:t>
                      </a:r>
                    </a:p>
                  </a:txBody>
                  <a:tcPr marT="25400" marB="25400">
                    <a:solidFill>
                      <a:srgbClr val="F7F5F0"/>
                    </a:solidFill>
                  </a:tcPr>
                </a:tc>
                <a:tc>
                  <a:txBody>
                    <a:bodyPr/>
                    <a:lstStyle/>
                    <a:p>
                      <a:pPr>
                        <a:defRPr sz="900">
                          <a:solidFill>
                            <a:srgbClr val="0E0E12"/>
                          </a:solidFill>
                          <a:latin typeface="Jost"/>
                        </a:defRPr>
                      </a:pPr>
                      <a:r>
                        <a:t>198</a:t>
                      </a:r>
                    </a:p>
                  </a:txBody>
                  <a:tcPr marT="25400" marB="25400">
                    <a:solidFill>
                      <a:srgbClr val="F7F5F0"/>
                    </a:solidFill>
                  </a:tcPr>
                </a:tc>
                <a:tc>
                  <a:txBody>
                    <a:bodyPr/>
                    <a:lstStyle/>
                    <a:p>
                      <a:pPr>
                        <a:defRPr sz="900">
                          <a:solidFill>
                            <a:srgbClr val="0E0E12"/>
                          </a:solidFill>
                          <a:latin typeface="Jost"/>
                        </a:defRPr>
                      </a:pPr>
                      <a:r>
                        <a:t>6</a:t>
                      </a:r>
                    </a:p>
                  </a:txBody>
                  <a:tcPr marT="25400" marB="25400">
                    <a:solidFill>
                      <a:srgbClr val="F7F5F0"/>
                    </a:solidFill>
                  </a:tcPr>
                </a:tc>
                <a:tc>
                  <a:txBody>
                    <a:bodyPr/>
                    <a:lstStyle/>
                    <a:p>
                      <a:pPr>
                        <a:defRPr sz="900">
                          <a:solidFill>
                            <a:srgbClr val="0E0E12"/>
                          </a:solidFill>
                          <a:latin typeface="Jost"/>
                        </a:defRPr>
                      </a:pPr>
                      <a:r>
                        <a:t>17</a:t>
                      </a:r>
                    </a:p>
                  </a:txBody>
                  <a:tcPr marT="25400" marB="25400">
                    <a:solidFill>
                      <a:srgbClr val="F7F5F0"/>
                    </a:solidFill>
                  </a:tcPr>
                </a:tc>
              </a:tr>
              <a:tr h="502920">
                <a:tc>
                  <a:txBody>
                    <a:bodyPr/>
                    <a:lstStyle/>
                    <a:p>
                      <a:pPr>
                        <a:defRPr sz="900">
                          <a:solidFill>
                            <a:srgbClr val="0E0E12"/>
                          </a:solidFill>
                          <a:latin typeface="Jost"/>
                        </a:defRPr>
                      </a:pPr>
                      <a:r>
                        <a:t>This Tiki Bar Lime Lager from Tarboro Brewing is REALLY tasty! Our friends on the beach liked it, you probably will too. Grab one at The Seahorse #SeahorseBar #TarboroBrewing #Oak…</a:t>
                      </a:r>
                    </a:p>
                  </a:txBody>
                  <a:tcPr marT="25400" marB="25400">
                    <a:solidFill>
                      <a:srgbClr val="FFFFFF"/>
                    </a:solidFill>
                  </a:tcPr>
                </a:tc>
                <a:tc>
                  <a:txBody>
                    <a:bodyPr/>
                    <a:lstStyle/>
                    <a:p>
                      <a:pPr>
                        <a:defRPr sz="900">
                          <a:solidFill>
                            <a:srgbClr val="0E0E12"/>
                          </a:solidFill>
                          <a:latin typeface="Jost"/>
                        </a:defRPr>
                      </a:pPr>
                      <a:r>
                        <a:t>Sep 02</a:t>
                      </a:r>
                    </a:p>
                  </a:txBody>
                  <a:tcPr marT="25400" marB="25400">
                    <a:solidFill>
                      <a:srgbClr val="FFFFFF"/>
                    </a:solidFill>
                  </a:tcPr>
                </a:tc>
                <a:tc>
                  <a:txBody>
                    <a:bodyPr/>
                    <a:lstStyle/>
                    <a:p>
                      <a:pPr>
                        <a:defRPr sz="900">
                          <a:solidFill>
                            <a:srgbClr val="0E0E12"/>
                          </a:solidFill>
                          <a:latin typeface="Jost"/>
                        </a:defRPr>
                      </a:pPr>
                      <a:r>
                        <a:t>544</a:t>
                      </a:r>
                    </a:p>
                  </a:txBody>
                  <a:tcPr marT="25400" marB="25400">
                    <a:solidFill>
                      <a:srgbClr val="FFFFFF"/>
                    </a:solidFill>
                  </a:tcPr>
                </a:tc>
                <a:tc>
                  <a:txBody>
                    <a:bodyPr/>
                    <a:lstStyle/>
                    <a:p>
                      <a:pPr>
                        <a:defRPr sz="900">
                          <a:solidFill>
                            <a:srgbClr val="0E0E12"/>
                          </a:solidFill>
                          <a:latin typeface="Jost"/>
                        </a:defRPr>
                      </a:pPr>
                      <a:r>
                        <a:t>24</a:t>
                      </a:r>
                    </a:p>
                  </a:txBody>
                  <a:tcPr marT="25400" marB="25400">
                    <a:solidFill>
                      <a:srgbClr val="FFFFFF"/>
                    </a:solidFill>
                  </a:tcPr>
                </a:tc>
                <a:tc>
                  <a:txBody>
                    <a:bodyPr/>
                    <a:lstStyle/>
                    <a:p>
                      <a:pPr>
                        <a:defRPr sz="900">
                          <a:solidFill>
                            <a:srgbClr val="0E0E12"/>
                          </a:solidFill>
                          <a:latin typeface="Jost"/>
                        </a:defRPr>
                      </a:pPr>
                      <a:r>
                        <a:t>1</a:t>
                      </a:r>
                    </a:p>
                  </a:txBody>
                  <a:tcPr marT="25400" marB="25400">
                    <a:solidFill>
                      <a:srgbClr val="FFFFFF"/>
                    </a:solidFill>
                  </a:tcPr>
                </a:tc>
                <a:tc>
                  <a:txBody>
                    <a:bodyPr/>
                    <a:lstStyle/>
                    <a:p>
                      <a:pPr>
                        <a:defRPr sz="900">
                          <a:solidFill>
                            <a:srgbClr val="0E0E12"/>
                          </a:solidFill>
                          <a:latin typeface="Jost"/>
                        </a:defRPr>
                      </a:pPr>
                      <a:r>
                        <a:t>0</a:t>
                      </a:r>
                    </a:p>
                  </a:txBody>
                  <a:tcPr marT="25400" marB="25400">
                    <a:solidFill>
                      <a:srgbClr val="FFFFFF"/>
                    </a:solidFill>
                  </a:tcPr>
                </a:tc>
              </a:tr>
              <a:tr h="502920">
                <a:tc>
                  <a:txBody>
                    <a:bodyPr/>
                    <a:lstStyle/>
                    <a:p>
                      <a:pPr>
                        <a:defRPr sz="900">
                          <a:solidFill>
                            <a:srgbClr val="0E0E12"/>
                          </a:solidFill>
                          <a:latin typeface="Jost"/>
                        </a:defRPr>
                      </a:pPr>
                      <a:r>
                        <a:t>Asked him what he's catching off the pier. He said rays. Solid answer honestly - two rays were caught right after! #OakIslandNC #SeahorseBar #BeachLife #PierLife #NCcoast</a:t>
                      </a:r>
                    </a:p>
                  </a:txBody>
                  <a:tcPr marT="25400" marB="25400">
                    <a:solidFill>
                      <a:srgbClr val="F7F5F0"/>
                    </a:solidFill>
                  </a:tcPr>
                </a:tc>
                <a:tc>
                  <a:txBody>
                    <a:bodyPr/>
                    <a:lstStyle/>
                    <a:p>
                      <a:pPr>
                        <a:defRPr sz="900">
                          <a:solidFill>
                            <a:srgbClr val="0E0E12"/>
                          </a:solidFill>
                          <a:latin typeface="Jost"/>
                        </a:defRPr>
                      </a:pPr>
                      <a:r>
                        <a:t>Sep 23</a:t>
                      </a:r>
                    </a:p>
                  </a:txBody>
                  <a:tcPr marT="25400" marB="25400">
                    <a:solidFill>
                      <a:srgbClr val="F7F5F0"/>
                    </a:solidFill>
                  </a:tcPr>
                </a:tc>
                <a:tc>
                  <a:txBody>
                    <a:bodyPr/>
                    <a:lstStyle/>
                    <a:p>
                      <a:pPr>
                        <a:defRPr sz="900">
                          <a:solidFill>
                            <a:srgbClr val="0E0E12"/>
                          </a:solidFill>
                          <a:latin typeface="Jost"/>
                        </a:defRPr>
                      </a:pPr>
                      <a:r>
                        <a:t>491</a:t>
                      </a:r>
                    </a:p>
                  </a:txBody>
                  <a:tcPr marT="25400" marB="25400">
                    <a:solidFill>
                      <a:srgbClr val="F7F5F0"/>
                    </a:solidFill>
                  </a:tcPr>
                </a:tc>
                <a:tc>
                  <a:txBody>
                    <a:bodyPr/>
                    <a:lstStyle/>
                    <a:p>
                      <a:pPr>
                        <a:defRPr sz="900">
                          <a:solidFill>
                            <a:srgbClr val="0E0E12"/>
                          </a:solidFill>
                          <a:latin typeface="Jost"/>
                        </a:defRPr>
                      </a:pPr>
                      <a:r>
                        <a:t>23</a:t>
                      </a:r>
                    </a:p>
                  </a:txBody>
                  <a:tcPr marT="25400" marB="25400">
                    <a:solidFill>
                      <a:srgbClr val="F7F5F0"/>
                    </a:solidFill>
                  </a:tcPr>
                </a:tc>
                <a:tc>
                  <a:txBody>
                    <a:bodyPr/>
                    <a:lstStyle/>
                    <a:p>
                      <a:pPr>
                        <a:defRPr sz="900">
                          <a:solidFill>
                            <a:srgbClr val="0E0E12"/>
                          </a:solidFill>
                          <a:latin typeface="Jost"/>
                        </a:defRPr>
                      </a:pPr>
                      <a:r>
                        <a:t>1</a:t>
                      </a:r>
                    </a:p>
                  </a:txBody>
                  <a:tcPr marT="25400" marB="25400">
                    <a:solidFill>
                      <a:srgbClr val="F7F5F0"/>
                    </a:solidFill>
                  </a:tcPr>
                </a:tc>
                <a:tc>
                  <a:txBody>
                    <a:bodyPr/>
                    <a:lstStyle/>
                    <a:p>
                      <a:pPr>
                        <a:defRPr sz="900">
                          <a:solidFill>
                            <a:srgbClr val="0E0E12"/>
                          </a:solidFill>
                          <a:latin typeface="Jost"/>
                        </a:defRPr>
                      </a:pPr>
                      <a:r>
                        <a:t>0</a:t>
                      </a:r>
                    </a:p>
                  </a:txBody>
                  <a:tcPr marT="25400" marB="25400">
                    <a:solidFill>
                      <a:srgbClr val="F7F5F0"/>
                    </a:solidFill>
                  </a:tcPr>
                </a:tc>
              </a:tr>
              <a:tr h="502920">
                <a:tc>
                  <a:txBody>
                    <a:bodyPr/>
                    <a:lstStyle/>
                    <a:p>
                      <a:pPr>
                        <a:defRPr sz="900">
                          <a:solidFill>
                            <a:srgbClr val="0E0E12"/>
                          </a:solidFill>
                          <a:latin typeface="Jost"/>
                        </a:defRPr>
                      </a:pPr>
                      <a:r>
                        <a:t>POV: your favorite band is a family and they're coming back to the pier 🎶 King &amp; Co. and daughter Harmony return to the Seahorse Bar Sunday, Nov 22. Come dance. #OakIslandNC #Live…</a:t>
                      </a:r>
                    </a:p>
                  </a:txBody>
                  <a:tcPr marT="25400" marB="25400">
                    <a:solidFill>
                      <a:srgbClr val="FFFFFF"/>
                    </a:solidFill>
                  </a:tcPr>
                </a:tc>
                <a:tc>
                  <a:txBody>
                    <a:bodyPr/>
                    <a:lstStyle/>
                    <a:p>
                      <a:pPr>
                        <a:defRPr sz="900">
                          <a:solidFill>
                            <a:srgbClr val="0E0E12"/>
                          </a:solidFill>
                          <a:latin typeface="Jost"/>
                        </a:defRPr>
                      </a:pPr>
                      <a:r>
                        <a:t>Sep 30</a:t>
                      </a:r>
                    </a:p>
                  </a:txBody>
                  <a:tcPr marT="25400" marB="25400">
                    <a:solidFill>
                      <a:srgbClr val="FFFFFF"/>
                    </a:solidFill>
                  </a:tcPr>
                </a:tc>
                <a:tc>
                  <a:txBody>
                    <a:bodyPr/>
                    <a:lstStyle/>
                    <a:p>
                      <a:pPr>
                        <a:defRPr sz="900">
                          <a:solidFill>
                            <a:srgbClr val="0E0E12"/>
                          </a:solidFill>
                          <a:latin typeface="Jost"/>
                        </a:defRPr>
                      </a:pPr>
                      <a:r>
                        <a:t>298</a:t>
                      </a:r>
                    </a:p>
                  </a:txBody>
                  <a:tcPr marT="25400" marB="25400">
                    <a:solidFill>
                      <a:srgbClr val="FFFFFF"/>
                    </a:solidFill>
                  </a:tcPr>
                </a:tc>
                <a:tc>
                  <a:txBody>
                    <a:bodyPr/>
                    <a:lstStyle/>
                    <a:p>
                      <a:pPr>
                        <a:defRPr sz="900">
                          <a:solidFill>
                            <a:srgbClr val="0E0E12"/>
                          </a:solidFill>
                          <a:latin typeface="Jost"/>
                        </a:defRPr>
                      </a:pPr>
                      <a:r>
                        <a:t>14</a:t>
                      </a:r>
                    </a:p>
                  </a:txBody>
                  <a:tcPr marT="25400" marB="25400">
                    <a:solidFill>
                      <a:srgbClr val="FFFFFF"/>
                    </a:solidFill>
                  </a:tcPr>
                </a:tc>
                <a:tc>
                  <a:txBody>
                    <a:bodyPr/>
                    <a:lstStyle/>
                    <a:p>
                      <a:pPr>
                        <a:defRPr sz="900">
                          <a:solidFill>
                            <a:srgbClr val="0E0E12"/>
                          </a:solidFill>
                          <a:latin typeface="Jost"/>
                        </a:defRPr>
                      </a:pPr>
                      <a:r>
                        <a:t>0</a:t>
                      </a:r>
                    </a:p>
                  </a:txBody>
                  <a:tcPr marT="25400" marB="25400">
                    <a:solidFill>
                      <a:srgbClr val="FFFFFF"/>
                    </a:solidFill>
                  </a:tcPr>
                </a:tc>
                <a:tc>
                  <a:txBody>
                    <a:bodyPr/>
                    <a:lstStyle/>
                    <a:p>
                      <a:pPr>
                        <a:defRPr sz="900">
                          <a:solidFill>
                            <a:srgbClr val="0E0E12"/>
                          </a:solidFill>
                          <a:latin typeface="Jost"/>
                        </a:defRPr>
                      </a:pPr>
                      <a:r>
                        <a:t>0</a:t>
                      </a:r>
                    </a:p>
                  </a:txBody>
                  <a:tcPr marT="25400" marB="25400">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Miscellaneous Marketing Items</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3566160"/>
          </a:xfrm>
          <a:prstGeom prst="rect">
            <a:avLst/>
          </a:prstGeom>
          <a:noFill/>
        </p:spPr>
        <p:txBody>
          <a:bodyPr wrap="square">
            <a:spAutoFit/>
          </a:bodyPr>
          <a:lstStyle/>
          <a:p>
            <a:pPr algn="l" marL="228600" indent="-228600">
              <a:spcAft>
                <a:spcPts val="800"/>
              </a:spcAft>
              <a:buFont typeface="Arial"/>
              <a:buChar char="●"/>
            </a:pPr>
            <a:r>
              <a:rPr sz="1400" b="0">
                <a:solidFill>
                  <a:srgbClr val="0E0E12"/>
                </a:solidFill>
                <a:latin typeface="Jost"/>
              </a:rPr>
              <a:t>[Add item]</a:t>
            </a:r>
          </a:p>
          <a:p>
            <a:pPr algn="l" marL="228600" indent="-228600">
              <a:spcAft>
                <a:spcPts val="800"/>
              </a:spcAft>
              <a:buFont typeface="Arial"/>
              <a:buChar char="●"/>
            </a:pPr>
            <a:r>
              <a:rPr sz="1400" b="0">
                <a:solidFill>
                  <a:srgbClr val="0E0E12"/>
                </a:solidFill>
                <a:latin typeface="Jost"/>
              </a:rPr>
              <a:t>[Add item]</a:t>
            </a:r>
          </a:p>
          <a:p>
            <a:pPr algn="l" marL="228600" indent="-228600">
              <a:spcAft>
                <a:spcPts val="800"/>
              </a:spcAft>
              <a:buFont typeface="Arial"/>
              <a:buChar char="●"/>
            </a:pPr>
            <a:r>
              <a:rPr sz="1400" b="0">
                <a:solidFill>
                  <a:srgbClr val="0E0E12"/>
                </a:solidFill>
                <a:latin typeface="Jost"/>
              </a:rPr>
              <a:t>[Add item]</a:t>
            </a:r>
          </a:p>
          <a:p>
            <a:pPr algn="l" marL="228600" indent="-228600">
              <a:spcAft>
                <a:spcPts val="800"/>
              </a:spcAft>
              <a:buFont typeface="Arial"/>
              <a:buChar char="●"/>
            </a:pPr>
            <a:r>
              <a:rPr sz="1400" b="0">
                <a:solidFill>
                  <a:srgbClr val="0E0E12"/>
                </a:solidFill>
                <a:latin typeface="Jost"/>
              </a:rPr>
              <a:t>[Add item]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Marketing WINS</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3566160"/>
          </a:xfrm>
          <a:prstGeom prst="rect">
            <a:avLst/>
          </a:prstGeom>
          <a:noFill/>
        </p:spPr>
        <p:txBody>
          <a:bodyPr wrap="square">
            <a:spAutoFit/>
          </a:bodyPr>
          <a:lstStyle/>
          <a:p>
            <a:pPr algn="l" marL="228600" indent="-228600">
              <a:spcAft>
                <a:spcPts val="800"/>
              </a:spcAft>
              <a:buFont typeface="Arial"/>
              <a:buChar char="●"/>
            </a:pPr>
            <a:r>
              <a:rPr sz="1400" b="0">
                <a:solidFill>
                  <a:srgbClr val="0E0E12"/>
                </a:solidFill>
                <a:latin typeface="Jost"/>
              </a:rPr>
              <a:t>[Add item]</a:t>
            </a:r>
          </a:p>
          <a:p>
            <a:pPr algn="l" marL="228600" indent="-228600">
              <a:spcAft>
                <a:spcPts val="800"/>
              </a:spcAft>
              <a:buFont typeface="Arial"/>
              <a:buChar char="●"/>
            </a:pPr>
            <a:r>
              <a:rPr sz="1400" b="0">
                <a:solidFill>
                  <a:srgbClr val="0E0E12"/>
                </a:solidFill>
                <a:latin typeface="Jost"/>
              </a:rPr>
              <a:t>[Add item]</a:t>
            </a:r>
          </a:p>
          <a:p>
            <a:pPr algn="l" marL="228600" indent="-228600">
              <a:spcAft>
                <a:spcPts val="800"/>
              </a:spcAft>
              <a:buFont typeface="Arial"/>
              <a:buChar char="●"/>
            </a:pPr>
            <a:r>
              <a:rPr sz="1400" b="0">
                <a:solidFill>
                  <a:srgbClr val="0E0E12"/>
                </a:solidFill>
                <a:latin typeface="Jost"/>
              </a:rPr>
              <a:t>[Add item]</a:t>
            </a:r>
          </a:p>
          <a:p>
            <a:pPr algn="l" marL="228600" indent="-228600">
              <a:spcAft>
                <a:spcPts val="800"/>
              </a:spcAft>
              <a:buFont typeface="Arial"/>
              <a:buChar char="●"/>
            </a:pPr>
            <a:r>
              <a:rPr sz="1400" b="0">
                <a:solidFill>
                  <a:srgbClr val="0E0E12"/>
                </a:solidFill>
                <a:latin typeface="Jost"/>
              </a:rPr>
              <a:t>[Add item]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Last Month - Goals for August</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3566160"/>
          </a:xfrm>
          <a:prstGeom prst="rect">
            <a:avLst/>
          </a:prstGeom>
          <a:noFill/>
        </p:spPr>
        <p:txBody>
          <a:bodyPr wrap="square">
            <a:spAutoFit/>
          </a:bodyPr>
          <a:lstStyle/>
          <a:p>
            <a:pPr algn="l" marL="228600" indent="-228600">
              <a:spcAft>
                <a:spcPts val="800"/>
              </a:spcAft>
              <a:buFont typeface="Arial"/>
              <a:buChar char="●"/>
            </a:pPr>
            <a:r>
              <a:rPr sz="1400" b="0">
                <a:solidFill>
                  <a:srgbClr val="0E0E12"/>
                </a:solidFill>
                <a:latin typeface="Jost"/>
              </a:rPr>
              <a:t>[Add goal - mark ✅ if complete]</a:t>
            </a:r>
          </a:p>
          <a:p>
            <a:pPr algn="l" marL="228600" indent="-228600">
              <a:spcAft>
                <a:spcPts val="800"/>
              </a:spcAft>
              <a:buFont typeface="Arial"/>
              <a:buChar char="●"/>
            </a:pPr>
            <a:r>
              <a:rPr sz="1400" b="0">
                <a:solidFill>
                  <a:srgbClr val="0E0E12"/>
                </a:solidFill>
                <a:latin typeface="Jost"/>
              </a:rPr>
              <a:t>[Add goal - mark ✅ if complete]</a:t>
            </a:r>
          </a:p>
          <a:p>
            <a:pPr algn="l" marL="228600" indent="-228600">
              <a:spcAft>
                <a:spcPts val="800"/>
              </a:spcAft>
              <a:buFont typeface="Arial"/>
              <a:buChar char="●"/>
            </a:pPr>
            <a:r>
              <a:rPr sz="1400" b="0">
                <a:solidFill>
                  <a:srgbClr val="0E0E12"/>
                </a:solidFill>
                <a:latin typeface="Jost"/>
              </a:rPr>
              <a:t>[Add goal - mark ✅ if complete]</a:t>
            </a:r>
          </a:p>
          <a:p>
            <a:pPr algn="l" marL="228600" indent="-228600">
              <a:spcAft>
                <a:spcPts val="800"/>
              </a:spcAft>
              <a:buFont typeface="Arial"/>
              <a:buChar char="●"/>
            </a:pPr>
            <a:r>
              <a:rPr sz="1400" b="0">
                <a:solidFill>
                  <a:srgbClr val="0E0E12"/>
                </a:solidFill>
                <a:latin typeface="Jost"/>
              </a:rPr>
              <a:t>[Add goal - mark ✅ if complete]</a:t>
            </a:r>
          </a:p>
        </p:txBody>
      </p:sp>
      <p:sp>
        <p:nvSpPr>
          <p:cNvPr id="5" name="TextBox 4"/>
          <p:cNvSpPr txBox="1"/>
          <p:nvPr/>
        </p:nvSpPr>
        <p:spPr>
          <a:xfrm>
            <a:off x="5376672" y="2587752"/>
            <a:ext cx="3108960" cy="502920"/>
          </a:xfrm>
          <a:prstGeom prst="rect">
            <a:avLst/>
          </a:prstGeom>
          <a:noFill/>
        </p:spPr>
        <p:txBody>
          <a:bodyPr wrap="square">
            <a:spAutoFit/>
          </a:bodyPr>
          <a:lstStyle/>
          <a:p>
            <a:r>
              <a:rPr sz="1100" i="1">
                <a:solidFill>
                  <a:srgbClr val="3A3845"/>
                </a:solidFill>
                <a:latin typeface="Jost"/>
              </a:rPr>
              <a:t>What else? Goals for Month? Questions?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Next Month - Goals for October</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3566160"/>
          </a:xfrm>
          <a:prstGeom prst="rect">
            <a:avLst/>
          </a:prstGeom>
          <a:noFill/>
        </p:spPr>
        <p:txBody>
          <a:bodyPr wrap="square">
            <a:spAutoFit/>
          </a:bodyPr>
          <a:lstStyle/>
          <a:p>
            <a:pPr algn="l" marL="228600" indent="-228600">
              <a:spcAft>
                <a:spcPts val="800"/>
              </a:spcAft>
              <a:buFont typeface="Arial"/>
              <a:buChar char="●"/>
            </a:pPr>
            <a:r>
              <a:rPr sz="1400" b="0">
                <a:solidFill>
                  <a:srgbClr val="0E0E12"/>
                </a:solidFill>
                <a:latin typeface="Jost"/>
              </a:rPr>
              <a:t>Restore Instagram posting cadence — down 37% this period (17 vs. 27 posts). Aim for 27+ posts next period.</a:t>
            </a:r>
          </a:p>
          <a:p>
            <a:pPr algn="l" marL="228600" indent="-228600">
              <a:spcAft>
                <a:spcPts val="800"/>
              </a:spcAft>
              <a:buFont typeface="Arial"/>
              <a:buChar char="●"/>
            </a:pPr>
            <a:r>
              <a:rPr sz="1400" b="0">
                <a:solidFill>
                  <a:srgbClr val="0E0E12"/>
                </a:solidFill>
                <a:latin typeface="Jost"/>
              </a:rPr>
              <a:t>Restore TikTok posting cadence — down 33% this period (4 vs. 6 posts). Aim for 6+ posts next period.</a:t>
            </a:r>
          </a:p>
          <a:p>
            <a:pPr algn="l" marL="228600" indent="-228600">
              <a:spcAft>
                <a:spcPts val="800"/>
              </a:spcAft>
              <a:buFont typeface="Arial"/>
              <a:buChar char="●"/>
            </a:pPr>
            <a:r>
              <a:rPr sz="1400" b="0">
                <a:solidFill>
                  <a:srgbClr val="0E0E12"/>
                </a:solidFill>
                <a:latin typeface="Jost"/>
              </a:rPr>
              <a:t>Restore Facebook posting cadence — down 31% this period (22 vs. 32 posts). Aim for 32+ posts next period.</a:t>
            </a:r>
          </a:p>
          <a:p>
            <a:pPr algn="l" marL="228600" indent="-228600">
              <a:spcAft>
                <a:spcPts val="800"/>
              </a:spcAft>
              <a:buFont typeface="Arial"/>
              <a:buChar char="●"/>
            </a:pPr>
            <a:r>
              <a:rPr sz="1400" b="0">
                <a:solidFill>
                  <a:srgbClr val="0E0E12"/>
                </a:solidFill>
                <a:latin typeface="Jost"/>
              </a:rPr>
              <a:t>Close the engagement gap on Facebook — trailing TikTok by 6.0 points (1.37% vs. 7.40%). Borrow whatever content approach is working on TikTok.</a:t>
            </a:r>
          </a:p>
        </p:txBody>
      </p:sp>
      <p:sp>
        <p:nvSpPr>
          <p:cNvPr id="5" name="TextBox 4"/>
          <p:cNvSpPr txBox="1"/>
          <p:nvPr/>
        </p:nvSpPr>
        <p:spPr>
          <a:xfrm>
            <a:off x="5376672" y="2587752"/>
            <a:ext cx="3108960" cy="502920"/>
          </a:xfrm>
          <a:prstGeom prst="rect">
            <a:avLst/>
          </a:prstGeom>
          <a:noFill/>
        </p:spPr>
        <p:txBody>
          <a:bodyPr wrap="square">
            <a:spAutoFit/>
          </a:bodyPr>
          <a:lstStyle/>
          <a:p>
            <a:r>
              <a:rPr sz="1100" i="1">
                <a:solidFill>
                  <a:srgbClr val="3A3845"/>
                </a:solidFill>
                <a:latin typeface="Jost"/>
              </a:rPr>
              <a:t>What else? Goals for Month?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